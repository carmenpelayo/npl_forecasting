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Lato Light"/>
      <p:regular r:id="rId56"/>
      <p:bold r:id="rId57"/>
      <p:italic r:id="rId58"/>
      <p:boldItalic r:id="rId59"/>
    </p:embeddedFont>
    <p:embeddedFont>
      <p:font typeface="Source Serif 4 Medium"/>
      <p:regular r:id="rId60"/>
      <p:bold r:id="rId61"/>
      <p:italic r:id="rId62"/>
      <p:boldItalic r:id="rId63"/>
    </p:embeddedFont>
    <p:embeddedFont>
      <p:font typeface="Source Serif 4"/>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69F133-5441-4E84-8760-2D4338416851}">
  <a:tblStyle styleId="{A069F133-5441-4E84-8760-2D433841685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429C5A6-34CE-4F2D-87BC-80535832215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SourceSerif4Medium-italic.fntdata"/><Relationship Id="rId61" Type="http://schemas.openxmlformats.org/officeDocument/2006/relationships/font" Target="fonts/SourceSerif4Medium-bold.fntdata"/><Relationship Id="rId20" Type="http://schemas.openxmlformats.org/officeDocument/2006/relationships/slide" Target="slides/slide14.xml"/><Relationship Id="rId64" Type="http://schemas.openxmlformats.org/officeDocument/2006/relationships/font" Target="fonts/SourceSerif4-regular.fntdata"/><Relationship Id="rId63" Type="http://schemas.openxmlformats.org/officeDocument/2006/relationships/font" Target="fonts/SourceSerif4Medium-boldItalic.fntdata"/><Relationship Id="rId22" Type="http://schemas.openxmlformats.org/officeDocument/2006/relationships/slide" Target="slides/slide16.xml"/><Relationship Id="rId66" Type="http://schemas.openxmlformats.org/officeDocument/2006/relationships/font" Target="fonts/SourceSerif4-italic.fntdata"/><Relationship Id="rId21" Type="http://schemas.openxmlformats.org/officeDocument/2006/relationships/slide" Target="slides/slide15.xml"/><Relationship Id="rId65" Type="http://schemas.openxmlformats.org/officeDocument/2006/relationships/font" Target="fonts/SourceSerif4-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SourceSerif4-boldItalic.fntdata"/><Relationship Id="rId60" Type="http://schemas.openxmlformats.org/officeDocument/2006/relationships/font" Target="fonts/SourceSerif4Medium-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LatoLight-bold.fntdata"/><Relationship Id="rId12" Type="http://schemas.openxmlformats.org/officeDocument/2006/relationships/slide" Target="slides/slide6.xml"/><Relationship Id="rId56" Type="http://schemas.openxmlformats.org/officeDocument/2006/relationships/font" Target="fonts/LatoLight-regular.fntdata"/><Relationship Id="rId15" Type="http://schemas.openxmlformats.org/officeDocument/2006/relationships/slide" Target="slides/slide9.xml"/><Relationship Id="rId59" Type="http://schemas.openxmlformats.org/officeDocument/2006/relationships/font" Target="fonts/LatoLight-boldItalic.fntdata"/><Relationship Id="rId14" Type="http://schemas.openxmlformats.org/officeDocument/2006/relationships/slide" Target="slides/slide8.xml"/><Relationship Id="rId58" Type="http://schemas.openxmlformats.org/officeDocument/2006/relationships/font" Target="fonts/LatoLight-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380625" y="4343400"/>
            <a:ext cx="609675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e2efe7d1f_0_2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g39e2efe7d1f_0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e2efe7d1f_0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39e2efe7d1f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0ce4fd5d7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3d0ce4fd5d7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c958490b9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38c958490b9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cc1933571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6cc1933571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acdada8d3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8acdada8d3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acdada8d3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8acdada8d3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acdada8d3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8acdada8d3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ada6c26a8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8ada6c26a8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ada6c26a8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8ada6c26a8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8f802f924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68f802f924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6cc1933571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6cc1933571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6ccc88838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36ccc88838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6ccc888388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6ccc88838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6ccc888388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6ccc888388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ccc888388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6ccc888388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ccc888388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6ccc888388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6ccc888388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6ccc888388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6ccc888388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36ccc888388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6ccc888388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6ccc888388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6ccc888388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6ccc888388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6ccc888388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36ccc888388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rgbClr val="001391"/>
                </a:solidFill>
                <a:latin typeface="Source Serif 4 Medium"/>
                <a:ea typeface="Source Serif 4 Medium"/>
                <a:cs typeface="Source Serif 4 Medium"/>
                <a:sym typeface="Source Serif 4 Medium"/>
              </a:rPr>
              <a:t>(OLD)</a:t>
            </a:r>
            <a:endParaRPr>
              <a:solidFill>
                <a:srgbClr val="001391"/>
              </a:solidFill>
              <a:latin typeface="Source Serif 4 Medium"/>
              <a:ea typeface="Source Serif 4 Medium"/>
              <a:cs typeface="Source Serif 4 Medium"/>
              <a:sym typeface="Source Serif 4 Medium"/>
            </a:endParaRPr>
          </a:p>
          <a:p>
            <a:pPr indent="0" lvl="0" marL="0" rtl="0" algn="l">
              <a:lnSpc>
                <a:spcPct val="100000"/>
              </a:lnSpc>
              <a:spcBef>
                <a:spcPts val="0"/>
              </a:spcBef>
              <a:spcAft>
                <a:spcPts val="0"/>
              </a:spcAft>
              <a:buClr>
                <a:schemeClr val="dk1"/>
              </a:buClr>
              <a:buSzPts val="1100"/>
              <a:buFont typeface="Arial"/>
              <a:buNone/>
            </a:pPr>
            <a:r>
              <a:rPr lang="es">
                <a:solidFill>
                  <a:srgbClr val="001391"/>
                </a:solidFill>
                <a:latin typeface="Source Serif 4 Medium"/>
                <a:ea typeface="Source Serif 4 Medium"/>
                <a:cs typeface="Source Serif 4 Medium"/>
                <a:sym typeface="Source Serif 4 Medium"/>
              </a:rPr>
              <a:t>Avanzar genera ilusión</a:t>
            </a:r>
            <a:endParaRPr>
              <a:solidFill>
                <a:srgbClr val="001391"/>
              </a:solidFill>
              <a:latin typeface="Source Serif 4 Medium"/>
              <a:ea typeface="Source Serif 4 Medium"/>
              <a:cs typeface="Source Serif 4 Medium"/>
              <a:sym typeface="Source Serif 4 Medium"/>
            </a:endParaRPr>
          </a:p>
          <a:p>
            <a:pPr indent="0" lvl="0" marL="0" rtl="0" algn="l">
              <a:lnSpc>
                <a:spcPct val="100000"/>
              </a:lnSpc>
              <a:spcBef>
                <a:spcPts val="0"/>
              </a:spcBef>
              <a:spcAft>
                <a:spcPts val="0"/>
              </a:spcAft>
              <a:buClr>
                <a:schemeClr val="dk1"/>
              </a:buClr>
              <a:buSzPts val="1100"/>
              <a:buFont typeface="Arial"/>
              <a:buNone/>
            </a:pPr>
            <a:r>
              <a:rPr lang="es">
                <a:solidFill>
                  <a:srgbClr val="001391"/>
                </a:solidFill>
                <a:latin typeface="Lato Light"/>
                <a:ea typeface="Lato Light"/>
                <a:cs typeface="Lato Light"/>
                <a:sym typeface="Lato Light"/>
              </a:rPr>
              <a:t>Pero el avance no siempre es lineal, ni individual y es multiproyecto.</a:t>
            </a:r>
            <a:endParaRPr>
              <a:solidFill>
                <a:srgbClr val="001391"/>
              </a:solidFill>
              <a:latin typeface="Lato Light"/>
              <a:ea typeface="Lato Light"/>
              <a:cs typeface="Lato Light"/>
              <a:sym typeface="Lato Light"/>
            </a:endParaRPr>
          </a:p>
          <a:p>
            <a:pPr indent="0" lvl="0" marL="0" rtl="0" algn="l">
              <a:lnSpc>
                <a:spcPct val="100000"/>
              </a:lnSpc>
              <a:spcBef>
                <a:spcPts val="0"/>
              </a:spcBef>
              <a:spcAft>
                <a:spcPts val="0"/>
              </a:spcAft>
              <a:buClr>
                <a:schemeClr val="dk1"/>
              </a:buClr>
              <a:buSzPts val="1100"/>
              <a:buFont typeface="Arial"/>
              <a:buNone/>
            </a:pPr>
            <a:r>
              <a:t/>
            </a:r>
            <a:endParaRPr>
              <a:solidFill>
                <a:srgbClr val="001391"/>
              </a:solidFill>
              <a:latin typeface="Lato Light"/>
              <a:ea typeface="Lato Light"/>
              <a:cs typeface="Lato Light"/>
              <a:sym typeface="Lato Light"/>
            </a:endParaRPr>
          </a:p>
          <a:p>
            <a:pPr indent="0" lvl="0" marL="0" rtl="0" algn="l">
              <a:lnSpc>
                <a:spcPct val="100000"/>
              </a:lnSpc>
              <a:spcBef>
                <a:spcPts val="0"/>
              </a:spcBef>
              <a:spcAft>
                <a:spcPts val="0"/>
              </a:spcAft>
              <a:buClr>
                <a:schemeClr val="dk1"/>
              </a:buClr>
              <a:buSzPts val="1100"/>
              <a:buFont typeface="Arial"/>
              <a:buNone/>
            </a:pPr>
            <a:r>
              <a:rPr lang="es" sz="1200">
                <a:solidFill>
                  <a:srgbClr val="001391"/>
                </a:solidFill>
                <a:latin typeface="Source Serif 4 Medium"/>
                <a:ea typeface="Source Serif 4 Medium"/>
                <a:cs typeface="Source Serif 4 Medium"/>
                <a:sym typeface="Source Serif 4 Medium"/>
              </a:rPr>
              <a:t>(OLD)</a:t>
            </a:r>
            <a:endParaRPr sz="1200">
              <a:solidFill>
                <a:srgbClr val="001391"/>
              </a:solidFill>
              <a:latin typeface="Source Serif 4 Medium"/>
              <a:ea typeface="Source Serif 4 Medium"/>
              <a:cs typeface="Source Serif 4 Medium"/>
              <a:sym typeface="Source Serif 4 Medium"/>
            </a:endParaRPr>
          </a:p>
          <a:p>
            <a:pPr indent="0" lvl="0" marL="0" rtl="0" algn="l">
              <a:lnSpc>
                <a:spcPct val="100000"/>
              </a:lnSpc>
              <a:spcBef>
                <a:spcPts val="0"/>
              </a:spcBef>
              <a:spcAft>
                <a:spcPts val="0"/>
              </a:spcAft>
              <a:buClr>
                <a:schemeClr val="dk1"/>
              </a:buClr>
              <a:buSzPts val="1100"/>
              <a:buFont typeface="Arial"/>
              <a:buNone/>
            </a:pPr>
            <a:r>
              <a:rPr lang="es" sz="1200">
                <a:solidFill>
                  <a:srgbClr val="001391"/>
                </a:solidFill>
                <a:latin typeface="Source Serif 4 Medium"/>
                <a:ea typeface="Source Serif 4 Medium"/>
                <a:cs typeface="Source Serif 4 Medium"/>
                <a:sym typeface="Source Serif 4 Medium"/>
              </a:rPr>
              <a:t>Es más emocional…</a:t>
            </a:r>
            <a:endParaRPr sz="1200">
              <a:solidFill>
                <a:srgbClr val="001391"/>
              </a:solidFill>
              <a:latin typeface="Source Serif 4 Medium"/>
              <a:ea typeface="Source Serif 4 Medium"/>
              <a:cs typeface="Source Serif 4 Medium"/>
              <a:sym typeface="Source Serif 4 Medium"/>
            </a:endParaRPr>
          </a:p>
          <a:p>
            <a:pPr indent="0" lvl="0" marL="0" rtl="0" algn="l">
              <a:lnSpc>
                <a:spcPct val="100000"/>
              </a:lnSpc>
              <a:spcBef>
                <a:spcPts val="0"/>
              </a:spcBef>
              <a:spcAft>
                <a:spcPts val="0"/>
              </a:spcAft>
              <a:buClr>
                <a:schemeClr val="dk1"/>
              </a:buClr>
              <a:buSzPts val="1100"/>
              <a:buFont typeface="Arial"/>
              <a:buNone/>
            </a:pPr>
            <a:r>
              <a:rPr lang="es">
                <a:solidFill>
                  <a:srgbClr val="001391"/>
                </a:solidFill>
                <a:latin typeface="Lato Light"/>
                <a:ea typeface="Lato Light"/>
                <a:cs typeface="Lato Light"/>
                <a:sym typeface="Lato Light"/>
              </a:rPr>
              <a:t>hablar más de los proyectos de las personas que de los productos. Iniciar la relación desde la necesidad.</a:t>
            </a:r>
            <a:br>
              <a:rPr lang="es">
                <a:solidFill>
                  <a:srgbClr val="001391"/>
                </a:solidFill>
                <a:latin typeface="Lato Light"/>
                <a:ea typeface="Lato Light"/>
                <a:cs typeface="Lato Light"/>
                <a:sym typeface="Lato Light"/>
              </a:rPr>
            </a:br>
            <a:endParaRPr>
              <a:solidFill>
                <a:srgbClr val="001391"/>
              </a:solidFill>
              <a:latin typeface="Lato Light"/>
              <a:ea typeface="Lato Light"/>
              <a:cs typeface="Lato Light"/>
              <a:sym typeface="Lato Ligh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9e2efe7d1f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39e2efe7d1f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0dca9fe4f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d0dca9fe4f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0dca9fe4f_2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d0dca9fe4f_2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09a7ce6ee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d09a7ce6ee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6ccc888388_0_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36ccc888388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05a53f39e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g3d05a53f39e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09a7ce6ee_0_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g3d09a7ce6ee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05a53f39e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g3d05a53f39e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d060e3dbe3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g3d060e3dbe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d060e3dbe3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3d060e3dbe3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6ccc888388_0_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36ccc888388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9e428d8b7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g39e428d8b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cf97d187b0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g3cf97d187b0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cf97d187b0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g3cf97d187b0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cf97d187b0_0_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g3cf97d187b0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cf97d187b0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g3cf97d187b0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cf97d187b0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g3cf97d187b0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cf97d187b0_0_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g3cf97d187b0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t/>
            </a:r>
            <a:endParaRPr sz="16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cf97d187b0_0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g3cf97d187b0_0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d08bd9c3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d08bd9c3a1_0_0:notes"/>
          <p:cNvSpPr txBox="1"/>
          <p:nvPr>
            <p:ph idx="1" type="body"/>
          </p:nvPr>
        </p:nvSpPr>
        <p:spPr>
          <a:xfrm>
            <a:off x="380625" y="4343400"/>
            <a:ext cx="60969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d08bd9c3a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d08bd9c3a1_0_17:notes"/>
          <p:cNvSpPr txBox="1"/>
          <p:nvPr>
            <p:ph idx="1" type="body"/>
          </p:nvPr>
        </p:nvSpPr>
        <p:spPr>
          <a:xfrm>
            <a:off x="380625" y="4343400"/>
            <a:ext cx="60969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6ccc888388_0_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g36ccc888388_0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9e2efe7d1f_0_2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g39e2efe7d1f_0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d0dca9fe4f_2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6" name="Google Shape;636;g3d0dca9fe4f_2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9e2efe7d1f_0_301:notes"/>
          <p:cNvSpPr txBox="1"/>
          <p:nvPr>
            <p:ph idx="1" type="body"/>
          </p:nvPr>
        </p:nvSpPr>
        <p:spPr>
          <a:xfrm>
            <a:off x="380625" y="4343400"/>
            <a:ext cx="60969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9e2efe7d1f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9e2efe7d1f_0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g39e2efe7d1f_0_306:notes"/>
          <p:cNvSpPr txBox="1"/>
          <p:nvPr>
            <p:ph idx="1" type="body"/>
          </p:nvPr>
        </p:nvSpPr>
        <p:spPr>
          <a:xfrm>
            <a:off x="685797" y="4343391"/>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logo y mosca">
  <p:cSld name="con logo y y título bajo">
    <p:bg>
      <p:bgPr>
        <a:solidFill>
          <a:schemeClr val="lt2"/>
        </a:solidFill>
      </p:bgPr>
    </p:bg>
    <p:spTree>
      <p:nvGrpSpPr>
        <p:cNvPr id="6" name="Shape 6"/>
        <p:cNvGrpSpPr/>
        <p:nvPr/>
      </p:nvGrpSpPr>
      <p:grpSpPr>
        <a:xfrm>
          <a:off x="0" y="0"/>
          <a:ext cx="0" cy="0"/>
          <a:chOff x="0" y="0"/>
          <a:chExt cx="0" cy="0"/>
        </a:xfrm>
      </p:grpSpPr>
      <p:sp>
        <p:nvSpPr>
          <p:cNvPr id="7" name="Google Shape;7;p2"/>
          <p:cNvSpPr txBox="1"/>
          <p:nvPr>
            <p:ph type="title"/>
          </p:nvPr>
        </p:nvSpPr>
        <p:spPr>
          <a:xfrm>
            <a:off x="341150" y="833162"/>
            <a:ext cx="8467888" cy="384300"/>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rtl="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
        <p:nvSpPr>
          <p:cNvPr id="8" name="Google Shape;8;p2"/>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9" name="Google Shape;9;p2" title="Research_RGB.png"/>
          <p:cNvPicPr preferRelativeResize="0"/>
          <p:nvPr/>
        </p:nvPicPr>
        <p:blipFill rotWithShape="1">
          <a:blip r:embed="rId2">
            <a:alphaModFix/>
          </a:blip>
          <a:srcRect b="0" l="0" r="0" t="0"/>
          <a:stretch/>
        </p:blipFill>
        <p:spPr>
          <a:xfrm>
            <a:off x="8268464" y="344875"/>
            <a:ext cx="540574" cy="225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1">
  <p:cSld name="Portadilla 1">
    <p:bg>
      <p:bgPr>
        <a:solidFill>
          <a:schemeClr val="accent1"/>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325396" y="3646046"/>
            <a:ext cx="7977000" cy="1318500"/>
          </a:xfrm>
          <a:prstGeom prst="rect">
            <a:avLst/>
          </a:prstGeom>
          <a:noFill/>
          <a:ln>
            <a:noFill/>
          </a:ln>
        </p:spPr>
        <p:txBody>
          <a:bodyPr anchorCtr="0" anchor="b" bIns="0" lIns="0" spcFirstLastPara="1" rIns="0" wrap="square" tIns="0">
            <a:noAutofit/>
          </a:bodyPr>
          <a:lstStyle>
            <a:lvl1pPr lvl="0" marR="0" rtl="0" algn="l">
              <a:lnSpc>
                <a:spcPct val="85000"/>
              </a:lnSpc>
              <a:spcBef>
                <a:spcPts val="0"/>
              </a:spcBef>
              <a:spcAft>
                <a:spcPts val="0"/>
              </a:spcAft>
              <a:buClr>
                <a:schemeClr val="dk1"/>
              </a:buClr>
              <a:buSzPts val="5000"/>
              <a:buFont typeface="Source Serif 4"/>
              <a:buNone/>
              <a:defRPr b="1" i="0" sz="50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2pPr>
            <a:lvl3pPr lvl="2"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3pPr>
            <a:lvl4pPr lvl="3"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4pPr>
            <a:lvl5pPr lvl="4"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5pPr>
            <a:lvl6pPr lvl="5"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6pPr>
            <a:lvl7pPr lvl="6"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7pPr>
            <a:lvl8pPr lvl="7"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8pPr>
            <a:lvl9pPr lvl="8" marR="0" rtl="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9pPr>
          </a:lstStyle>
          <a:p/>
        </p:txBody>
      </p:sp>
      <p:pic>
        <p:nvPicPr>
          <p:cNvPr id="12" name="Google Shape;12;p3" title="Research_RGB.png"/>
          <p:cNvPicPr preferRelativeResize="0"/>
          <p:nvPr/>
        </p:nvPicPr>
        <p:blipFill rotWithShape="1">
          <a:blip r:embed="rId2">
            <a:alphaModFix/>
          </a:blip>
          <a:srcRect b="0" l="0" r="0" t="0"/>
          <a:stretch/>
        </p:blipFill>
        <p:spPr>
          <a:xfrm>
            <a:off x="361149" y="344874"/>
            <a:ext cx="880949" cy="36813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 logo y con mosca">
  <p:cSld name="sin logo y título bajo">
    <p:bg>
      <p:bgPr>
        <a:solidFill>
          <a:schemeClr val="lt2"/>
        </a:solidFill>
      </p:bgPr>
    </p:bg>
    <p:spTree>
      <p:nvGrpSpPr>
        <p:cNvPr id="13" name="Shape 13"/>
        <p:cNvGrpSpPr/>
        <p:nvPr/>
      </p:nvGrpSpPr>
      <p:grpSpPr>
        <a:xfrm>
          <a:off x="0" y="0"/>
          <a:ext cx="0" cy="0"/>
          <a:chOff x="0" y="0"/>
          <a:chExt cx="0" cy="0"/>
        </a:xfrm>
      </p:grpSpPr>
      <p:sp>
        <p:nvSpPr>
          <p:cNvPr id="14" name="Google Shape;14;p4"/>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5" name="Google Shape;15;p4"/>
          <p:cNvSpPr txBox="1"/>
          <p:nvPr>
            <p:ph type="title"/>
          </p:nvPr>
        </p:nvSpPr>
        <p:spPr>
          <a:xfrm>
            <a:off x="342000" y="833162"/>
            <a:ext cx="8467038" cy="385200"/>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rtl="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 logo y sin mosca">
  <p:cSld name="sin logo y titulo alto">
    <p:bg>
      <p:bgPr>
        <a:solidFill>
          <a:schemeClr val="lt2"/>
        </a:solidFill>
      </p:bgPr>
    </p:bg>
    <p:spTree>
      <p:nvGrpSpPr>
        <p:cNvPr id="16" name="Shape 16"/>
        <p:cNvGrpSpPr/>
        <p:nvPr/>
      </p:nvGrpSpPr>
      <p:grpSpPr>
        <a:xfrm>
          <a:off x="0" y="0"/>
          <a:ext cx="0" cy="0"/>
          <a:chOff x="0" y="0"/>
          <a:chExt cx="0" cy="0"/>
        </a:xfrm>
      </p:grpSpPr>
      <p:sp>
        <p:nvSpPr>
          <p:cNvPr id="17" name="Google Shape;17;p5"/>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8" name="Google Shape;18;p5"/>
          <p:cNvSpPr txBox="1"/>
          <p:nvPr>
            <p:ph type="title"/>
          </p:nvPr>
        </p:nvSpPr>
        <p:spPr>
          <a:xfrm>
            <a:off x="341999" y="259820"/>
            <a:ext cx="8467039" cy="385200"/>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logo y sin mosca">
  <p:cSld name="con logo y título alto">
    <p:bg>
      <p:bgPr>
        <a:solidFill>
          <a:schemeClr val="lt2"/>
        </a:solidFill>
      </p:bgPr>
    </p:bg>
    <p:spTree>
      <p:nvGrpSpPr>
        <p:cNvPr id="19" name="Shape 19"/>
        <p:cNvGrpSpPr/>
        <p:nvPr/>
      </p:nvGrpSpPr>
      <p:grpSpPr>
        <a:xfrm>
          <a:off x="0" y="0"/>
          <a:ext cx="0" cy="0"/>
          <a:chOff x="0" y="0"/>
          <a:chExt cx="0" cy="0"/>
        </a:xfrm>
      </p:grpSpPr>
      <p:sp>
        <p:nvSpPr>
          <p:cNvPr id="20" name="Google Shape;20;p6"/>
          <p:cNvSpPr txBox="1"/>
          <p:nvPr>
            <p:ph type="title"/>
          </p:nvPr>
        </p:nvSpPr>
        <p:spPr>
          <a:xfrm>
            <a:off x="341150" y="259670"/>
            <a:ext cx="6703800" cy="385200"/>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rtl="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
        <p:nvSpPr>
          <p:cNvPr id="21" name="Google Shape;21;p6"/>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2" name="Google Shape;22;p6" title="Research_RGB.png"/>
          <p:cNvPicPr preferRelativeResize="0"/>
          <p:nvPr/>
        </p:nvPicPr>
        <p:blipFill rotWithShape="1">
          <a:blip r:embed="rId2">
            <a:alphaModFix/>
          </a:blip>
          <a:srcRect b="0" l="0" r="0" t="0"/>
          <a:stretch/>
        </p:blipFill>
        <p:spPr>
          <a:xfrm>
            <a:off x="8268464" y="344875"/>
            <a:ext cx="540574" cy="225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imagen">
  <p:cSld name="Diapositiva de imagen">
    <p:bg>
      <p:bgPr>
        <a:solidFill>
          <a:schemeClr val="lt1"/>
        </a:solidFill>
      </p:bgPr>
    </p:bg>
    <p:spTree>
      <p:nvGrpSpPr>
        <p:cNvPr id="23" name="Shape 23"/>
        <p:cNvGrpSpPr/>
        <p:nvPr/>
      </p:nvGrpSpPr>
      <p:grpSpPr>
        <a:xfrm>
          <a:off x="0" y="0"/>
          <a:ext cx="0" cy="0"/>
          <a:chOff x="0" y="0"/>
          <a:chExt cx="0" cy="0"/>
        </a:xfrm>
      </p:grpSpPr>
      <p:sp>
        <p:nvSpPr>
          <p:cNvPr id="24" name="Google Shape;24;p7"/>
          <p:cNvSpPr/>
          <p:nvPr>
            <p:ph idx="2" type="pic"/>
          </p:nvPr>
        </p:nvSpPr>
        <p:spPr>
          <a:xfrm>
            <a:off x="75" y="-50"/>
            <a:ext cx="9144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ue  con micro">
  <p:cSld name="Portada Blue con micro">
    <p:bg>
      <p:bgPr>
        <a:solidFill>
          <a:schemeClr val="dk1"/>
        </a:solidFill>
      </p:bgPr>
    </p:bg>
    <p:spTree>
      <p:nvGrpSpPr>
        <p:cNvPr id="25" name="Shape 25"/>
        <p:cNvGrpSpPr/>
        <p:nvPr/>
      </p:nvGrpSpPr>
      <p:grpSpPr>
        <a:xfrm>
          <a:off x="0" y="0"/>
          <a:ext cx="0" cy="0"/>
          <a:chOff x="0" y="0"/>
          <a:chExt cx="0" cy="0"/>
        </a:xfrm>
      </p:grpSpPr>
      <p:sp>
        <p:nvSpPr>
          <p:cNvPr id="26" name="Google Shape;26;p8"/>
          <p:cNvSpPr txBox="1"/>
          <p:nvPr>
            <p:ph type="title"/>
          </p:nvPr>
        </p:nvSpPr>
        <p:spPr>
          <a:xfrm>
            <a:off x="334525" y="2139598"/>
            <a:ext cx="5681100" cy="13959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7200"/>
              <a:buFont typeface="Source Serif 4"/>
              <a:buNone/>
              <a:defRPr b="1" i="0" sz="7200" u="none" cap="none" strike="noStrike">
                <a:solidFill>
                  <a:schemeClr val="lt1"/>
                </a:solidFill>
                <a:latin typeface="Georgia"/>
                <a:ea typeface="Georgia"/>
                <a:cs typeface="Georgia"/>
                <a:sym typeface="Georgia"/>
              </a:defRPr>
            </a:lvl1pPr>
            <a:lvl2pPr lvl="1"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2pPr>
            <a:lvl3pPr lvl="2"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3pPr>
            <a:lvl4pPr lvl="3"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4pPr>
            <a:lvl5pPr lvl="4"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5pPr>
            <a:lvl6pPr lvl="5"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6pPr>
            <a:lvl7pPr lvl="6"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7pPr>
            <a:lvl8pPr lvl="7"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8pPr>
            <a:lvl9pPr lvl="8" marR="0" rtl="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9pPr>
          </a:lstStyle>
          <a:p/>
        </p:txBody>
      </p:sp>
      <p:sp>
        <p:nvSpPr>
          <p:cNvPr id="27" name="Google Shape;27;p8"/>
          <p:cNvSpPr txBox="1"/>
          <p:nvPr>
            <p:ph idx="1" type="subTitle"/>
          </p:nvPr>
        </p:nvSpPr>
        <p:spPr>
          <a:xfrm>
            <a:off x="348425" y="1798700"/>
            <a:ext cx="4421700" cy="271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lt1"/>
              </a:buClr>
              <a:buSzPts val="1400"/>
              <a:buFont typeface="Lato"/>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28" name="Google Shape;28;p8" title="Research_RGB_white.png"/>
          <p:cNvPicPr preferRelativeResize="0"/>
          <p:nvPr/>
        </p:nvPicPr>
        <p:blipFill rotWithShape="1">
          <a:blip r:embed="rId2">
            <a:alphaModFix/>
          </a:blip>
          <a:srcRect b="0" l="0" r="0" t="0"/>
          <a:stretch/>
        </p:blipFill>
        <p:spPr>
          <a:xfrm>
            <a:off x="344875" y="344875"/>
            <a:ext cx="883250" cy="3691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erre">
  <p:cSld name="Cierre">
    <p:bg>
      <p:bgPr>
        <a:solidFill>
          <a:schemeClr val="dk1"/>
        </a:solidFill>
      </p:bgPr>
    </p:bg>
    <p:spTree>
      <p:nvGrpSpPr>
        <p:cNvPr id="29" name="Shape 29"/>
        <p:cNvGrpSpPr/>
        <p:nvPr/>
      </p:nvGrpSpPr>
      <p:grpSpPr>
        <a:xfrm>
          <a:off x="0" y="0"/>
          <a:ext cx="0" cy="0"/>
          <a:chOff x="0" y="0"/>
          <a:chExt cx="0" cy="0"/>
        </a:xfrm>
      </p:grpSpPr>
      <p:sp>
        <p:nvSpPr>
          <p:cNvPr id="30" name="Google Shape;30;p9"/>
          <p:cNvSpPr txBox="1"/>
          <p:nvPr>
            <p:ph type="title"/>
          </p:nvPr>
        </p:nvSpPr>
        <p:spPr>
          <a:xfrm>
            <a:off x="1391478" y="2317200"/>
            <a:ext cx="6361044" cy="5091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Georgia"/>
                <a:ea typeface="Georgia"/>
                <a:cs typeface="Georgia"/>
                <a:sym typeface="Georgia"/>
              </a:defRPr>
            </a:lvl1pPr>
            <a:lvl2pPr lvl="1"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2pPr>
            <a:lvl3pPr lvl="2"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3pPr>
            <a:lvl4pPr lvl="3"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4pPr>
            <a:lvl5pPr lvl="4"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5pPr>
            <a:lvl6pPr lvl="5"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6pPr>
            <a:lvl7pPr lvl="6"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7pPr>
            <a:lvl8pPr lvl="7"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8pPr>
            <a:lvl9pPr lvl="8" marR="0" rtl="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logo y mosca">
  <p:cSld name="con logo y y título bajo">
    <p:bg>
      <p:bgPr>
        <a:solidFill>
          <a:schemeClr val="lt2"/>
        </a:solidFill>
      </p:bgPr>
    </p:bg>
    <p:spTree>
      <p:nvGrpSpPr>
        <p:cNvPr id="32" name="Shape 32"/>
        <p:cNvGrpSpPr/>
        <p:nvPr/>
      </p:nvGrpSpPr>
      <p:grpSpPr>
        <a:xfrm>
          <a:off x="0" y="0"/>
          <a:ext cx="0" cy="0"/>
          <a:chOff x="0" y="0"/>
          <a:chExt cx="0" cy="0"/>
        </a:xfrm>
      </p:grpSpPr>
      <p:sp>
        <p:nvSpPr>
          <p:cNvPr id="33" name="Google Shape;33;p11"/>
          <p:cNvSpPr txBox="1"/>
          <p:nvPr>
            <p:ph type="title"/>
          </p:nvPr>
        </p:nvSpPr>
        <p:spPr>
          <a:xfrm>
            <a:off x="341150" y="833162"/>
            <a:ext cx="8467800" cy="384300"/>
          </a:xfrm>
          <a:prstGeom prst="rect">
            <a:avLst/>
          </a:prstGeom>
          <a:noFill/>
          <a:ln>
            <a:noFill/>
          </a:ln>
        </p:spPr>
        <p:txBody>
          <a:bodyPr anchorCtr="0" anchor="t" bIns="0" lIns="0" spcFirstLastPara="1" rIns="0" wrap="square" tIns="0">
            <a:noAutofit/>
          </a:bodyPr>
          <a:lstStyle>
            <a:lvl1pPr lvl="0" marR="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algn="l">
              <a:lnSpc>
                <a:spcPct val="85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
        <p:nvSpPr>
          <p:cNvPr id="34" name="Google Shape;34;p11"/>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35" name="Google Shape;35;p11" title="Research_RGB.png"/>
          <p:cNvPicPr preferRelativeResize="0"/>
          <p:nvPr/>
        </p:nvPicPr>
        <p:blipFill rotWithShape="1">
          <a:blip r:embed="rId2">
            <a:alphaModFix/>
          </a:blip>
          <a:srcRect b="0" l="0" r="0" t="0"/>
          <a:stretch/>
        </p:blipFill>
        <p:spPr>
          <a:xfrm>
            <a:off x="8268464" y="344875"/>
            <a:ext cx="540574" cy="225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1">
  <p:cSld name="Portadilla 1">
    <p:bg>
      <p:bgPr>
        <a:solidFill>
          <a:schemeClr val="accent1"/>
        </a:solidFill>
      </p:bgPr>
    </p:bg>
    <p:spTree>
      <p:nvGrpSpPr>
        <p:cNvPr id="36" name="Shape 36"/>
        <p:cNvGrpSpPr/>
        <p:nvPr/>
      </p:nvGrpSpPr>
      <p:grpSpPr>
        <a:xfrm>
          <a:off x="0" y="0"/>
          <a:ext cx="0" cy="0"/>
          <a:chOff x="0" y="0"/>
          <a:chExt cx="0" cy="0"/>
        </a:xfrm>
      </p:grpSpPr>
      <p:sp>
        <p:nvSpPr>
          <p:cNvPr id="37" name="Google Shape;37;p12"/>
          <p:cNvSpPr txBox="1"/>
          <p:nvPr>
            <p:ph type="title"/>
          </p:nvPr>
        </p:nvSpPr>
        <p:spPr>
          <a:xfrm>
            <a:off x="325396" y="3646046"/>
            <a:ext cx="7977000" cy="1318500"/>
          </a:xfrm>
          <a:prstGeom prst="rect">
            <a:avLst/>
          </a:prstGeom>
          <a:noFill/>
          <a:ln>
            <a:noFill/>
          </a:ln>
        </p:spPr>
        <p:txBody>
          <a:bodyPr anchorCtr="0" anchor="b" bIns="0" lIns="0" spcFirstLastPara="1" rIns="0" wrap="square" tIns="0">
            <a:noAutofit/>
          </a:bodyPr>
          <a:lstStyle>
            <a:lvl1pPr lvl="0" marR="0" algn="l">
              <a:lnSpc>
                <a:spcPct val="85000"/>
              </a:lnSpc>
              <a:spcBef>
                <a:spcPts val="0"/>
              </a:spcBef>
              <a:spcAft>
                <a:spcPts val="0"/>
              </a:spcAft>
              <a:buClr>
                <a:schemeClr val="dk1"/>
              </a:buClr>
              <a:buSzPts val="5000"/>
              <a:buFont typeface="Source Serif 4"/>
              <a:buNone/>
              <a:defRPr b="1" i="0" sz="5000" u="none" cap="none" strike="noStrike">
                <a:solidFill>
                  <a:schemeClr val="dk1"/>
                </a:solidFill>
                <a:latin typeface="Georgia"/>
                <a:ea typeface="Georgia"/>
                <a:cs typeface="Georgia"/>
                <a:sym typeface="Georgia"/>
              </a:defRPr>
            </a:lvl1pPr>
            <a:lvl2pPr lvl="1"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2pPr>
            <a:lvl3pPr lvl="2"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3pPr>
            <a:lvl4pPr lvl="3"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4pPr>
            <a:lvl5pPr lvl="4"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5pPr>
            <a:lvl6pPr lvl="5"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6pPr>
            <a:lvl7pPr lvl="6"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7pPr>
            <a:lvl8pPr lvl="7"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8pPr>
            <a:lvl9pPr lvl="8" marR="0" algn="l">
              <a:lnSpc>
                <a:spcPct val="100000"/>
              </a:lnSpc>
              <a:spcBef>
                <a:spcPts val="0"/>
              </a:spcBef>
              <a:spcAft>
                <a:spcPts val="0"/>
              </a:spcAft>
              <a:buClr>
                <a:schemeClr val="dk1"/>
              </a:buClr>
              <a:buSzPts val="5000"/>
              <a:buFont typeface="Source Serif 4"/>
              <a:buNone/>
              <a:defRPr b="1" i="0" sz="5000" u="none" cap="none" strike="noStrike">
                <a:solidFill>
                  <a:schemeClr val="dk1"/>
                </a:solidFill>
                <a:latin typeface="Source Serif 4"/>
                <a:ea typeface="Source Serif 4"/>
                <a:cs typeface="Source Serif 4"/>
                <a:sym typeface="Source Serif 4"/>
              </a:defRPr>
            </a:lvl9pPr>
          </a:lstStyle>
          <a:p/>
        </p:txBody>
      </p:sp>
      <p:pic>
        <p:nvPicPr>
          <p:cNvPr id="38" name="Google Shape;38;p12" title="Research_RGB.png"/>
          <p:cNvPicPr preferRelativeResize="0"/>
          <p:nvPr/>
        </p:nvPicPr>
        <p:blipFill rotWithShape="1">
          <a:blip r:embed="rId2">
            <a:alphaModFix/>
          </a:blip>
          <a:srcRect b="0" l="0" r="0" t="0"/>
          <a:stretch/>
        </p:blipFill>
        <p:spPr>
          <a:xfrm>
            <a:off x="361149" y="344874"/>
            <a:ext cx="880948" cy="36813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 logo y con mosca">
  <p:cSld name="sin logo y título bajo">
    <p:bg>
      <p:bgPr>
        <a:solidFill>
          <a:schemeClr val="lt2"/>
        </a:solidFill>
      </p:bgPr>
    </p:bg>
    <p:spTree>
      <p:nvGrpSpPr>
        <p:cNvPr id="39" name="Shape 39"/>
        <p:cNvGrpSpPr/>
        <p:nvPr/>
      </p:nvGrpSpPr>
      <p:grpSpPr>
        <a:xfrm>
          <a:off x="0" y="0"/>
          <a:ext cx="0" cy="0"/>
          <a:chOff x="0" y="0"/>
          <a:chExt cx="0" cy="0"/>
        </a:xfrm>
      </p:grpSpPr>
      <p:sp>
        <p:nvSpPr>
          <p:cNvPr id="40" name="Google Shape;40;p13"/>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41" name="Google Shape;41;p13"/>
          <p:cNvSpPr txBox="1"/>
          <p:nvPr>
            <p:ph type="title"/>
          </p:nvPr>
        </p:nvSpPr>
        <p:spPr>
          <a:xfrm>
            <a:off x="342000" y="833162"/>
            <a:ext cx="8466900" cy="385200"/>
          </a:xfrm>
          <a:prstGeom prst="rect">
            <a:avLst/>
          </a:prstGeom>
          <a:noFill/>
          <a:ln>
            <a:noFill/>
          </a:ln>
        </p:spPr>
        <p:txBody>
          <a:bodyPr anchorCtr="0" anchor="t" bIns="0" lIns="0" spcFirstLastPara="1" rIns="0" wrap="square" tIns="0">
            <a:noAutofit/>
          </a:bodyPr>
          <a:lstStyle>
            <a:lvl1pPr lvl="0" marR="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algn="l">
              <a:lnSpc>
                <a:spcPct val="8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 logo y sin mosca">
  <p:cSld name="sin logo y titulo alto">
    <p:bg>
      <p:bgPr>
        <a:solidFill>
          <a:schemeClr val="lt2"/>
        </a:solidFill>
      </p:bgPr>
    </p:bg>
    <p:spTree>
      <p:nvGrpSpPr>
        <p:cNvPr id="42" name="Shape 42"/>
        <p:cNvGrpSpPr/>
        <p:nvPr/>
      </p:nvGrpSpPr>
      <p:grpSpPr>
        <a:xfrm>
          <a:off x="0" y="0"/>
          <a:ext cx="0" cy="0"/>
          <a:chOff x="0" y="0"/>
          <a:chExt cx="0" cy="0"/>
        </a:xfrm>
      </p:grpSpPr>
      <p:sp>
        <p:nvSpPr>
          <p:cNvPr id="43" name="Google Shape;43;p14"/>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44" name="Google Shape;44;p14"/>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lvl1pPr lvl="0" marR="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logo y sin mosca">
  <p:cSld name="con logo y título alto">
    <p:bg>
      <p:bgPr>
        <a:solidFill>
          <a:schemeClr val="lt2"/>
        </a:solidFill>
      </p:bgPr>
    </p:bg>
    <p:spTree>
      <p:nvGrpSpPr>
        <p:cNvPr id="45" name="Shape 45"/>
        <p:cNvGrpSpPr/>
        <p:nvPr/>
      </p:nvGrpSpPr>
      <p:grpSpPr>
        <a:xfrm>
          <a:off x="0" y="0"/>
          <a:ext cx="0" cy="0"/>
          <a:chOff x="0" y="0"/>
          <a:chExt cx="0" cy="0"/>
        </a:xfrm>
      </p:grpSpPr>
      <p:sp>
        <p:nvSpPr>
          <p:cNvPr id="46" name="Google Shape;46;p15"/>
          <p:cNvSpPr txBox="1"/>
          <p:nvPr>
            <p:ph type="title"/>
          </p:nvPr>
        </p:nvSpPr>
        <p:spPr>
          <a:xfrm>
            <a:off x="341150" y="259670"/>
            <a:ext cx="6703800" cy="385200"/>
          </a:xfrm>
          <a:prstGeom prst="rect">
            <a:avLst/>
          </a:prstGeom>
          <a:noFill/>
          <a:ln>
            <a:noFill/>
          </a:ln>
        </p:spPr>
        <p:txBody>
          <a:bodyPr anchorCtr="0" anchor="t" bIns="0" lIns="0" spcFirstLastPara="1" rIns="0" wrap="square" tIns="0">
            <a:noAutofit/>
          </a:bodyPr>
          <a:lstStyle>
            <a:lvl1pPr lvl="0" marR="0" algn="l">
              <a:lnSpc>
                <a:spcPct val="85000"/>
              </a:lnSpc>
              <a:spcBef>
                <a:spcPts val="0"/>
              </a:spcBef>
              <a:spcAft>
                <a:spcPts val="0"/>
              </a:spcAft>
              <a:buClr>
                <a:schemeClr val="dk1"/>
              </a:buClr>
              <a:buSzPts val="3000"/>
              <a:buFont typeface="Source Serif 4"/>
              <a:buNone/>
              <a:defRPr b="1" i="0" sz="2200" u="none" cap="none" strike="noStrike">
                <a:solidFill>
                  <a:schemeClr val="dk1"/>
                </a:solidFill>
                <a:latin typeface="Georgia"/>
                <a:ea typeface="Georgia"/>
                <a:cs typeface="Georgia"/>
                <a:sym typeface="Georgia"/>
              </a:defRPr>
            </a:lvl1pPr>
            <a:lvl2pPr lvl="1"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2pPr>
            <a:lvl3pPr lvl="2"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3pPr>
            <a:lvl4pPr lvl="3"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4pPr>
            <a:lvl5pPr lvl="4"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5pPr>
            <a:lvl6pPr lvl="5"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6pPr>
            <a:lvl7pPr lvl="6"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7pPr>
            <a:lvl8pPr lvl="7"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8pPr>
            <a:lvl9pPr lvl="8" marR="0" algn="l">
              <a:lnSpc>
                <a:spcPct val="100000"/>
              </a:lnSpc>
              <a:spcBef>
                <a:spcPts val="0"/>
              </a:spcBef>
              <a:spcAft>
                <a:spcPts val="0"/>
              </a:spcAft>
              <a:buClr>
                <a:schemeClr val="dk1"/>
              </a:buClr>
              <a:buSzPts val="3000"/>
              <a:buFont typeface="Source Serif 4"/>
              <a:buNone/>
              <a:defRPr b="1" i="0" sz="3000" u="none" cap="none" strike="noStrike">
                <a:solidFill>
                  <a:schemeClr val="dk1"/>
                </a:solidFill>
                <a:latin typeface="Source Serif 4"/>
                <a:ea typeface="Source Serif 4"/>
                <a:cs typeface="Source Serif 4"/>
                <a:sym typeface="Source Serif 4"/>
              </a:defRPr>
            </a:lvl9pPr>
          </a:lstStyle>
          <a:p/>
        </p:txBody>
      </p:sp>
      <p:sp>
        <p:nvSpPr>
          <p:cNvPr id="47" name="Google Shape;47;p15"/>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800"/>
              <a:buFont typeface="Arial"/>
              <a:buNone/>
            </a:pPr>
            <a:r>
              <a:rPr b="0" i="0" lang="es" sz="800" u="none" cap="none" strike="noStrike">
                <a:solidFill>
                  <a:schemeClr val="dk1"/>
                </a:solidFill>
                <a:latin typeface="Arial"/>
                <a:ea typeface="Arial"/>
                <a:cs typeface="Arial"/>
                <a:sym typeface="Arial"/>
              </a:rPr>
              <a:t>p. </a:t>
            </a:r>
            <a:fld id="{00000000-1234-1234-1234-123412341234}" type="slidenum">
              <a:rPr b="0" i="0" lang="es" sz="8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48" name="Google Shape;48;p15" title="Research_RGB.png"/>
          <p:cNvPicPr preferRelativeResize="0"/>
          <p:nvPr/>
        </p:nvPicPr>
        <p:blipFill rotWithShape="1">
          <a:blip r:embed="rId2">
            <a:alphaModFix/>
          </a:blip>
          <a:srcRect b="0" l="0" r="0" t="0"/>
          <a:stretch/>
        </p:blipFill>
        <p:spPr>
          <a:xfrm>
            <a:off x="8268464" y="344875"/>
            <a:ext cx="540574" cy="225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imagen">
  <p:cSld name="Diapositiva de imagen">
    <p:bg>
      <p:bgPr>
        <a:solidFill>
          <a:schemeClr val="lt1"/>
        </a:solidFill>
      </p:bgPr>
    </p:bg>
    <p:spTree>
      <p:nvGrpSpPr>
        <p:cNvPr id="49" name="Shape 49"/>
        <p:cNvGrpSpPr/>
        <p:nvPr/>
      </p:nvGrpSpPr>
      <p:grpSpPr>
        <a:xfrm>
          <a:off x="0" y="0"/>
          <a:ext cx="0" cy="0"/>
          <a:chOff x="0" y="0"/>
          <a:chExt cx="0" cy="0"/>
        </a:xfrm>
      </p:grpSpPr>
      <p:sp>
        <p:nvSpPr>
          <p:cNvPr id="50" name="Google Shape;50;p16"/>
          <p:cNvSpPr/>
          <p:nvPr>
            <p:ph idx="2" type="pic"/>
          </p:nvPr>
        </p:nvSpPr>
        <p:spPr>
          <a:xfrm>
            <a:off x="75" y="-50"/>
            <a:ext cx="91440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ue  con micro">
  <p:cSld name="Portada Blue con micro">
    <p:bg>
      <p:bgPr>
        <a:solidFill>
          <a:schemeClr val="dk1"/>
        </a:solidFill>
      </p:bgPr>
    </p:bg>
    <p:spTree>
      <p:nvGrpSpPr>
        <p:cNvPr id="51" name="Shape 51"/>
        <p:cNvGrpSpPr/>
        <p:nvPr/>
      </p:nvGrpSpPr>
      <p:grpSpPr>
        <a:xfrm>
          <a:off x="0" y="0"/>
          <a:ext cx="0" cy="0"/>
          <a:chOff x="0" y="0"/>
          <a:chExt cx="0" cy="0"/>
        </a:xfrm>
      </p:grpSpPr>
      <p:sp>
        <p:nvSpPr>
          <p:cNvPr id="52" name="Google Shape;52;p17"/>
          <p:cNvSpPr txBox="1"/>
          <p:nvPr>
            <p:ph type="title"/>
          </p:nvPr>
        </p:nvSpPr>
        <p:spPr>
          <a:xfrm>
            <a:off x="334525" y="2139598"/>
            <a:ext cx="5681100" cy="13959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7200"/>
              <a:buFont typeface="Source Serif 4"/>
              <a:buNone/>
              <a:defRPr b="1" i="0" sz="7200" u="none" cap="none" strike="noStrike">
                <a:solidFill>
                  <a:schemeClr val="lt1"/>
                </a:solidFill>
                <a:latin typeface="Georgia"/>
                <a:ea typeface="Georgia"/>
                <a:cs typeface="Georgia"/>
                <a:sym typeface="Georgia"/>
              </a:defRPr>
            </a:lvl1pPr>
            <a:lvl2pPr lvl="1"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2pPr>
            <a:lvl3pPr lvl="2"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3pPr>
            <a:lvl4pPr lvl="3"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4pPr>
            <a:lvl5pPr lvl="4"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5pPr>
            <a:lvl6pPr lvl="5"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6pPr>
            <a:lvl7pPr lvl="6"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7pPr>
            <a:lvl8pPr lvl="7"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8pPr>
            <a:lvl9pPr lvl="8" marR="0" algn="l">
              <a:lnSpc>
                <a:spcPct val="90000"/>
              </a:lnSpc>
              <a:spcBef>
                <a:spcPts val="0"/>
              </a:spcBef>
              <a:spcAft>
                <a:spcPts val="0"/>
              </a:spcAft>
              <a:buClr>
                <a:schemeClr val="lt1"/>
              </a:buClr>
              <a:buSzPts val="5000"/>
              <a:buFont typeface="Source Serif 4"/>
              <a:buNone/>
              <a:defRPr b="1" i="0" sz="5000" u="none" cap="none" strike="noStrike">
                <a:solidFill>
                  <a:schemeClr val="lt1"/>
                </a:solidFill>
                <a:latin typeface="Source Serif 4"/>
                <a:ea typeface="Source Serif 4"/>
                <a:cs typeface="Source Serif 4"/>
                <a:sym typeface="Source Serif 4"/>
              </a:defRPr>
            </a:lvl9pPr>
          </a:lstStyle>
          <a:p/>
        </p:txBody>
      </p:sp>
      <p:sp>
        <p:nvSpPr>
          <p:cNvPr id="53" name="Google Shape;53;p17"/>
          <p:cNvSpPr txBox="1"/>
          <p:nvPr>
            <p:ph idx="1" type="subTitle"/>
          </p:nvPr>
        </p:nvSpPr>
        <p:spPr>
          <a:xfrm>
            <a:off x="348425" y="1798700"/>
            <a:ext cx="4421700" cy="2712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lt1"/>
              </a:buClr>
              <a:buSzPts val="1400"/>
              <a:buFont typeface="Lato"/>
              <a:buNone/>
              <a:defRPr b="0" i="0" sz="14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54" name="Google Shape;54;p17" title="Research_RGB_white.png"/>
          <p:cNvPicPr preferRelativeResize="0"/>
          <p:nvPr/>
        </p:nvPicPr>
        <p:blipFill rotWithShape="1">
          <a:blip r:embed="rId2">
            <a:alphaModFix/>
          </a:blip>
          <a:srcRect b="0" l="0" r="0" t="0"/>
          <a:stretch/>
        </p:blipFill>
        <p:spPr>
          <a:xfrm>
            <a:off x="344875" y="344875"/>
            <a:ext cx="883250" cy="3691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erre">
  <p:cSld name="Cierre">
    <p:bg>
      <p:bgPr>
        <a:solidFill>
          <a:schemeClr val="dk1"/>
        </a:solidFill>
      </p:bgPr>
    </p:bg>
    <p:spTree>
      <p:nvGrpSpPr>
        <p:cNvPr id="55" name="Shape 55"/>
        <p:cNvGrpSpPr/>
        <p:nvPr/>
      </p:nvGrpSpPr>
      <p:grpSpPr>
        <a:xfrm>
          <a:off x="0" y="0"/>
          <a:ext cx="0" cy="0"/>
          <a:chOff x="0" y="0"/>
          <a:chExt cx="0" cy="0"/>
        </a:xfrm>
      </p:grpSpPr>
      <p:sp>
        <p:nvSpPr>
          <p:cNvPr id="56" name="Google Shape;56;p18"/>
          <p:cNvSpPr txBox="1"/>
          <p:nvPr>
            <p:ph type="title"/>
          </p:nvPr>
        </p:nvSpPr>
        <p:spPr>
          <a:xfrm>
            <a:off x="1391478" y="2317200"/>
            <a:ext cx="6360900" cy="5091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Georgia"/>
                <a:ea typeface="Georgia"/>
                <a:cs typeface="Georgia"/>
                <a:sym typeface="Georgia"/>
              </a:defRPr>
            </a:lvl1pPr>
            <a:lvl2pPr lvl="1"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2pPr>
            <a:lvl3pPr lvl="2"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3pPr>
            <a:lvl4pPr lvl="3"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4pPr>
            <a:lvl5pPr lvl="4"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5pPr>
            <a:lvl6pPr lvl="5"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6pPr>
            <a:lvl7pPr lvl="6"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7pPr>
            <a:lvl8pPr lvl="7"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8pPr>
            <a:lvl9pPr lvl="8"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theme" Target="../theme/theme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7">
          <p15:clr>
            <a:srgbClr val="E46962"/>
          </p15:clr>
        </p15:guide>
        <p15:guide id="2" pos="217">
          <p15:clr>
            <a:srgbClr val="E46962"/>
          </p15:clr>
        </p15:guide>
        <p15:guide id="3" pos="529">
          <p15:clr>
            <a:srgbClr val="E46962"/>
          </p15:clr>
        </p15:guide>
        <p15:guide id="4" pos="674">
          <p15:clr>
            <a:srgbClr val="E46962"/>
          </p15:clr>
        </p15:guide>
        <p15:guide id="5" pos="986">
          <p15:clr>
            <a:srgbClr val="E46962"/>
          </p15:clr>
        </p15:guide>
        <p15:guide id="6" pos="1130">
          <p15:clr>
            <a:srgbClr val="E46962"/>
          </p15:clr>
        </p15:guide>
        <p15:guide id="7" pos="1442">
          <p15:clr>
            <a:srgbClr val="E46962"/>
          </p15:clr>
        </p15:guide>
        <p15:guide id="8" pos="1586">
          <p15:clr>
            <a:srgbClr val="E46962"/>
          </p15:clr>
        </p15:guide>
        <p15:guide id="9" pos="1898">
          <p15:clr>
            <a:srgbClr val="E46962"/>
          </p15:clr>
        </p15:guide>
        <p15:guide id="10" pos="2043">
          <p15:clr>
            <a:srgbClr val="E46962"/>
          </p15:clr>
        </p15:guide>
        <p15:guide id="11" pos="2355">
          <p15:clr>
            <a:srgbClr val="E46962"/>
          </p15:clr>
        </p15:guide>
        <p15:guide id="12" pos="2499">
          <p15:clr>
            <a:srgbClr val="E46962"/>
          </p15:clr>
        </p15:guide>
        <p15:guide id="13" pos="2811">
          <p15:clr>
            <a:srgbClr val="E46962"/>
          </p15:clr>
        </p15:guide>
        <p15:guide id="14" pos="2955">
          <p15:clr>
            <a:srgbClr val="E46962"/>
          </p15:clr>
        </p15:guide>
        <p15:guide id="15" pos="3267">
          <p15:clr>
            <a:srgbClr val="E46962"/>
          </p15:clr>
        </p15:guide>
        <p15:guide id="16" pos="3412">
          <p15:clr>
            <a:srgbClr val="E46962"/>
          </p15:clr>
        </p15:guide>
        <p15:guide id="17" pos="3724">
          <p15:clr>
            <a:srgbClr val="E46962"/>
          </p15:clr>
        </p15:guide>
        <p15:guide id="18" pos="3868">
          <p15:clr>
            <a:srgbClr val="E46962"/>
          </p15:clr>
        </p15:guide>
        <p15:guide id="19" pos="4180">
          <p15:clr>
            <a:srgbClr val="E46962"/>
          </p15:clr>
        </p15:guide>
        <p15:guide id="20" pos="4324">
          <p15:clr>
            <a:srgbClr val="E46962"/>
          </p15:clr>
        </p15:guide>
        <p15:guide id="21" pos="4637">
          <p15:clr>
            <a:srgbClr val="E46962"/>
          </p15:clr>
        </p15:guide>
        <p15:guide id="22" pos="4781">
          <p15:clr>
            <a:srgbClr val="E46962"/>
          </p15:clr>
        </p15:guide>
        <p15:guide id="23" pos="5093">
          <p15:clr>
            <a:srgbClr val="E46962"/>
          </p15:clr>
        </p15:guide>
        <p15:guide id="24" pos="5237">
          <p15:clr>
            <a:srgbClr val="E46962"/>
          </p15:clr>
        </p15:guide>
        <p15:guide id="25" orient="horz" pos="564">
          <p15:clr>
            <a:srgbClr val="E46962"/>
          </p15:clr>
        </p15:guide>
        <p15:guide id="26" orient="horz" pos="709">
          <p15:clr>
            <a:srgbClr val="E46962"/>
          </p15:clr>
        </p15:guide>
        <p15:guide id="27" orient="horz" pos="1055">
          <p15:clr>
            <a:srgbClr val="E46962"/>
          </p15:clr>
        </p15:guide>
        <p15:guide id="28" orient="horz" pos="1201">
          <p15:clr>
            <a:srgbClr val="E46962"/>
          </p15:clr>
        </p15:guide>
        <p15:guide id="29" orient="horz" pos="1547">
          <p15:clr>
            <a:srgbClr val="E46962"/>
          </p15:clr>
        </p15:guide>
        <p15:guide id="30" orient="horz" pos="1693">
          <p15:clr>
            <a:srgbClr val="E46962"/>
          </p15:clr>
        </p15:guide>
        <p15:guide id="31" orient="horz" pos="2039">
          <p15:clr>
            <a:srgbClr val="E46962"/>
          </p15:clr>
        </p15:guide>
        <p15:guide id="32" orient="horz" pos="2185">
          <p15:clr>
            <a:srgbClr val="E46962"/>
          </p15:clr>
        </p15:guide>
        <p15:guide id="33" orient="horz" pos="2531">
          <p15:clr>
            <a:srgbClr val="E46962"/>
          </p15:clr>
        </p15:guide>
        <p15:guide id="34" orient="horz" pos="2676">
          <p15:clr>
            <a:srgbClr val="E46962"/>
          </p15:clr>
        </p15:guide>
        <p15:guide id="35" orient="horz" pos="74">
          <p15:clr>
            <a:srgbClr val="E46962"/>
          </p15:clr>
        </p15:guide>
        <p15:guide id="36" pos="74">
          <p15:clr>
            <a:srgbClr val="E46962"/>
          </p15:clr>
        </p15:guide>
        <p15:guide id="37" pos="5693">
          <p15:clr>
            <a:srgbClr val="E46962"/>
          </p15:clr>
        </p15:guide>
        <p15:guide id="38" orient="horz" pos="3020">
          <p15:clr>
            <a:srgbClr val="E46962"/>
          </p15:clr>
        </p15:guide>
        <p15:guide id="39" orient="horz" pos="3167">
          <p15:clr>
            <a:srgbClr val="E46962"/>
          </p15:clr>
        </p15:guide>
        <p15:guide id="40" pos="5549">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 name="Shape 3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7">
          <p15:clr>
            <a:srgbClr val="E46962"/>
          </p15:clr>
        </p15:guide>
        <p15:guide id="2" pos="217">
          <p15:clr>
            <a:srgbClr val="E46962"/>
          </p15:clr>
        </p15:guide>
        <p15:guide id="3" pos="529">
          <p15:clr>
            <a:srgbClr val="E46962"/>
          </p15:clr>
        </p15:guide>
        <p15:guide id="4" pos="674">
          <p15:clr>
            <a:srgbClr val="E46962"/>
          </p15:clr>
        </p15:guide>
        <p15:guide id="5" pos="986">
          <p15:clr>
            <a:srgbClr val="E46962"/>
          </p15:clr>
        </p15:guide>
        <p15:guide id="6" pos="1130">
          <p15:clr>
            <a:srgbClr val="E46962"/>
          </p15:clr>
        </p15:guide>
        <p15:guide id="7" pos="1442">
          <p15:clr>
            <a:srgbClr val="E46962"/>
          </p15:clr>
        </p15:guide>
        <p15:guide id="8" pos="1586">
          <p15:clr>
            <a:srgbClr val="E46962"/>
          </p15:clr>
        </p15:guide>
        <p15:guide id="9" pos="1898">
          <p15:clr>
            <a:srgbClr val="E46962"/>
          </p15:clr>
        </p15:guide>
        <p15:guide id="10" pos="2043">
          <p15:clr>
            <a:srgbClr val="E46962"/>
          </p15:clr>
        </p15:guide>
        <p15:guide id="11" pos="2355">
          <p15:clr>
            <a:srgbClr val="E46962"/>
          </p15:clr>
        </p15:guide>
        <p15:guide id="12" pos="2499">
          <p15:clr>
            <a:srgbClr val="E46962"/>
          </p15:clr>
        </p15:guide>
        <p15:guide id="13" pos="2811">
          <p15:clr>
            <a:srgbClr val="E46962"/>
          </p15:clr>
        </p15:guide>
        <p15:guide id="14" pos="2955">
          <p15:clr>
            <a:srgbClr val="E46962"/>
          </p15:clr>
        </p15:guide>
        <p15:guide id="15" pos="3267">
          <p15:clr>
            <a:srgbClr val="E46962"/>
          </p15:clr>
        </p15:guide>
        <p15:guide id="16" pos="3412">
          <p15:clr>
            <a:srgbClr val="E46962"/>
          </p15:clr>
        </p15:guide>
        <p15:guide id="17" pos="3724">
          <p15:clr>
            <a:srgbClr val="E46962"/>
          </p15:clr>
        </p15:guide>
        <p15:guide id="18" pos="3868">
          <p15:clr>
            <a:srgbClr val="E46962"/>
          </p15:clr>
        </p15:guide>
        <p15:guide id="19" pos="4180">
          <p15:clr>
            <a:srgbClr val="E46962"/>
          </p15:clr>
        </p15:guide>
        <p15:guide id="20" pos="4324">
          <p15:clr>
            <a:srgbClr val="E46962"/>
          </p15:clr>
        </p15:guide>
        <p15:guide id="21" pos="4637">
          <p15:clr>
            <a:srgbClr val="E46962"/>
          </p15:clr>
        </p15:guide>
        <p15:guide id="22" pos="4781">
          <p15:clr>
            <a:srgbClr val="E46962"/>
          </p15:clr>
        </p15:guide>
        <p15:guide id="23" pos="5093">
          <p15:clr>
            <a:srgbClr val="E46962"/>
          </p15:clr>
        </p15:guide>
        <p15:guide id="24" pos="5237">
          <p15:clr>
            <a:srgbClr val="E46962"/>
          </p15:clr>
        </p15:guide>
        <p15:guide id="25" orient="horz" pos="564">
          <p15:clr>
            <a:srgbClr val="E46962"/>
          </p15:clr>
        </p15:guide>
        <p15:guide id="26" orient="horz" pos="709">
          <p15:clr>
            <a:srgbClr val="E46962"/>
          </p15:clr>
        </p15:guide>
        <p15:guide id="27" orient="horz" pos="1055">
          <p15:clr>
            <a:srgbClr val="E46962"/>
          </p15:clr>
        </p15:guide>
        <p15:guide id="28" orient="horz" pos="1201">
          <p15:clr>
            <a:srgbClr val="E46962"/>
          </p15:clr>
        </p15:guide>
        <p15:guide id="29" orient="horz" pos="1547">
          <p15:clr>
            <a:srgbClr val="E46962"/>
          </p15:clr>
        </p15:guide>
        <p15:guide id="30" orient="horz" pos="1693">
          <p15:clr>
            <a:srgbClr val="E46962"/>
          </p15:clr>
        </p15:guide>
        <p15:guide id="31" orient="horz" pos="2039">
          <p15:clr>
            <a:srgbClr val="E46962"/>
          </p15:clr>
        </p15:guide>
        <p15:guide id="32" orient="horz" pos="2185">
          <p15:clr>
            <a:srgbClr val="E46962"/>
          </p15:clr>
        </p15:guide>
        <p15:guide id="33" orient="horz" pos="2531">
          <p15:clr>
            <a:srgbClr val="E46962"/>
          </p15:clr>
        </p15:guide>
        <p15:guide id="34" orient="horz" pos="2676">
          <p15:clr>
            <a:srgbClr val="E46962"/>
          </p15:clr>
        </p15:guide>
        <p15:guide id="35" orient="horz" pos="74">
          <p15:clr>
            <a:srgbClr val="E46962"/>
          </p15:clr>
        </p15:guide>
        <p15:guide id="36" pos="74">
          <p15:clr>
            <a:srgbClr val="E46962"/>
          </p15:clr>
        </p15:guide>
        <p15:guide id="37" pos="5693">
          <p15:clr>
            <a:srgbClr val="E46962"/>
          </p15:clr>
        </p15:guide>
        <p15:guide id="38" orient="horz" pos="3020">
          <p15:clr>
            <a:srgbClr val="E46962"/>
          </p15:clr>
        </p15:guide>
        <p15:guide id="39" orient="horz" pos="3167">
          <p15:clr>
            <a:srgbClr val="E46962"/>
          </p15:clr>
        </p15:guide>
        <p15:guide id="40" pos="554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39.png"/><Relationship Id="rId5" Type="http://schemas.openxmlformats.org/officeDocument/2006/relationships/image" Target="../media/image24.png"/><Relationship Id="rId6"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30.png"/><Relationship Id="rId5" Type="http://schemas.openxmlformats.org/officeDocument/2006/relationships/image" Target="../media/image34.png"/><Relationship Id="rId6"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docs.google.com/spreadsheets/d/1GH_vbPLvHg3bgP_Chn3uco12aPaKCWNH_PFhftWkljI/edit?gid=0#gid=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9.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2.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5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6.png"/><Relationship Id="rId4" Type="http://schemas.openxmlformats.org/officeDocument/2006/relationships/image" Target="../media/image43.png"/><Relationship Id="rId5" Type="http://schemas.openxmlformats.org/officeDocument/2006/relationships/image" Target="../media/image47.png"/><Relationship Id="rId6"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hyperlink" Target="https://docs.google.com/spreadsheets/d/1GH_vbPLvHg3bgP_Chn3uco12aPaKCWNH_PFhftWkljI/edit?gid=0#gid=0" TargetMode="External"/><Relationship Id="rId4" Type="http://schemas.openxmlformats.org/officeDocument/2006/relationships/hyperlink" Target="https://drive.google.com/drive/folders/0AL5aR-ucLCEpUk9PVA" TargetMode="External"/><Relationship Id="rId5" Type="http://schemas.openxmlformats.org/officeDocument/2006/relationships/hyperlink" Target="https://colab.research.google.com/drive/1TJsw2aQZ_Qu3-mHu2iUiP8Lgtz9Mxr1h?usp=sharing"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9"/>
          <p:cNvSpPr txBox="1"/>
          <p:nvPr>
            <p:ph type="title"/>
          </p:nvPr>
        </p:nvSpPr>
        <p:spPr>
          <a:xfrm>
            <a:off x="334525" y="3183700"/>
            <a:ext cx="8081400" cy="1395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7200"/>
              <a:buNone/>
            </a:pPr>
            <a:r>
              <a:rPr lang="es" sz="6600"/>
              <a:t>Modelos para NPL</a:t>
            </a:r>
            <a:endParaRPr sz="6600"/>
          </a:p>
          <a:p>
            <a:pPr indent="0" lvl="0" marL="0" rtl="0" algn="l">
              <a:lnSpc>
                <a:spcPct val="90000"/>
              </a:lnSpc>
              <a:spcBef>
                <a:spcPts val="0"/>
              </a:spcBef>
              <a:spcAft>
                <a:spcPts val="0"/>
              </a:spcAft>
              <a:buSzPts val="7200"/>
              <a:buNone/>
            </a:pPr>
            <a:r>
              <a:t/>
            </a:r>
            <a:endParaRPr sz="1000"/>
          </a:p>
          <a:p>
            <a:pPr indent="0" lvl="0" marL="0" rtl="0" algn="l">
              <a:lnSpc>
                <a:spcPct val="90000"/>
              </a:lnSpc>
              <a:spcBef>
                <a:spcPts val="0"/>
              </a:spcBef>
              <a:spcAft>
                <a:spcPts val="0"/>
              </a:spcAft>
              <a:buSzPts val="7200"/>
              <a:buNone/>
            </a:pPr>
            <a:r>
              <a:t/>
            </a:r>
            <a:endParaRPr sz="1000"/>
          </a:p>
          <a:p>
            <a:pPr indent="0" lvl="0" marL="0" rtl="0" algn="l">
              <a:lnSpc>
                <a:spcPct val="90000"/>
              </a:lnSpc>
              <a:spcBef>
                <a:spcPts val="0"/>
              </a:spcBef>
              <a:spcAft>
                <a:spcPts val="0"/>
              </a:spcAft>
              <a:buSzPts val="7200"/>
              <a:buNone/>
            </a:pPr>
            <a:r>
              <a:rPr lang="es" sz="1000"/>
              <a:t>Carmen Pelayo, Cristhian Larrahondo y Mauricio Hernández</a:t>
            </a:r>
            <a:endParaRPr sz="1000"/>
          </a:p>
        </p:txBody>
      </p:sp>
      <p:sp>
        <p:nvSpPr>
          <p:cNvPr id="62" name="Google Shape;62;p19"/>
          <p:cNvSpPr txBox="1"/>
          <p:nvPr>
            <p:ph idx="1" type="subTitle"/>
          </p:nvPr>
        </p:nvSpPr>
        <p:spPr>
          <a:xfrm>
            <a:off x="341957" y="2650750"/>
            <a:ext cx="7743300" cy="271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400"/>
              <a:buFont typeface="Lato"/>
              <a:buNone/>
            </a:pPr>
            <a:r>
              <a:rPr lang="es"/>
              <a:t>Informe final del Proyecto: Colombia | Improving NPL models with Big Data</a:t>
            </a:r>
            <a:endParaRPr/>
          </a:p>
        </p:txBody>
      </p:sp>
      <p:cxnSp>
        <p:nvCxnSpPr>
          <p:cNvPr id="63" name="Google Shape;63;p19"/>
          <p:cNvCxnSpPr/>
          <p:nvPr/>
        </p:nvCxnSpPr>
        <p:spPr>
          <a:xfrm>
            <a:off x="339750" y="2956800"/>
            <a:ext cx="8463900" cy="0"/>
          </a:xfrm>
          <a:prstGeom prst="straightConnector1">
            <a:avLst/>
          </a:prstGeom>
          <a:noFill/>
          <a:ln cap="flat" cmpd="sng" w="9525">
            <a:solidFill>
              <a:srgbClr val="ADB8C2"/>
            </a:solidFill>
            <a:prstDash val="solid"/>
            <a:round/>
            <a:headEnd len="sm" w="sm" type="none"/>
            <a:tailEnd len="sm" w="sm" type="none"/>
          </a:ln>
        </p:spPr>
      </p:cxnSp>
      <p:sp>
        <p:nvSpPr>
          <p:cNvPr id="64" name="Google Shape;64;p19"/>
          <p:cNvSpPr txBox="1"/>
          <p:nvPr/>
        </p:nvSpPr>
        <p:spPr>
          <a:xfrm>
            <a:off x="330472" y="2418375"/>
            <a:ext cx="2382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lang="es" sz="1200">
                <a:solidFill>
                  <a:srgbClr val="FFFFFF"/>
                </a:solidFill>
              </a:rPr>
              <a:t>Marzo de 2026</a:t>
            </a:r>
            <a:endParaRPr b="0" i="0" sz="12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8" name="Shape 68"/>
        <p:cNvGrpSpPr/>
        <p:nvPr/>
      </p:nvGrpSpPr>
      <p:grpSpPr>
        <a:xfrm>
          <a:off x="0" y="0"/>
          <a:ext cx="0" cy="0"/>
          <a:chOff x="0" y="0"/>
          <a:chExt cx="0" cy="0"/>
        </a:xfrm>
      </p:grpSpPr>
      <p:sp>
        <p:nvSpPr>
          <p:cNvPr id="69" name="Google Shape;69;p20"/>
          <p:cNvSpPr/>
          <p:nvPr/>
        </p:nvSpPr>
        <p:spPr>
          <a:xfrm>
            <a:off x="335425" y="1675450"/>
            <a:ext cx="1659600" cy="2573400"/>
          </a:xfrm>
          <a:prstGeom prst="roundRect">
            <a:avLst>
              <a:gd fmla="val 6475" name="adj"/>
            </a:avLst>
          </a:prstGeom>
          <a:solidFill>
            <a:schemeClr val="dk1"/>
          </a:solidFill>
          <a:ln cap="flat" cmpd="sng" w="9525">
            <a:solidFill>
              <a:schemeClr val="lt1"/>
            </a:solidFill>
            <a:prstDash val="solid"/>
            <a:round/>
            <a:headEnd len="sm" w="sm" type="none"/>
            <a:tailEnd len="sm" w="sm" type="none"/>
          </a:ln>
        </p:spPr>
        <p:txBody>
          <a:bodyPr anchorCtr="0" anchor="t" bIns="180000" lIns="144000" spcFirstLastPara="1" rIns="144000" wrap="square" tIns="180000">
            <a:noAutofit/>
          </a:bodyPr>
          <a:lstStyle/>
          <a:p>
            <a:pPr indent="0" lvl="0" marL="0" marR="0" rtl="0" algn="l">
              <a:lnSpc>
                <a:spcPct val="100000"/>
              </a:lnSpc>
              <a:spcBef>
                <a:spcPts val="0"/>
              </a:spcBef>
              <a:spcAft>
                <a:spcPts val="0"/>
              </a:spcAft>
              <a:buClr>
                <a:srgbClr val="000000"/>
              </a:buClr>
              <a:buSzPts val="900"/>
              <a:buFont typeface="Arial"/>
              <a:buNone/>
            </a:pPr>
            <a:r>
              <a:rPr b="0" i="0" lang="es" sz="900" u="none" cap="none" strike="noStrike">
                <a:solidFill>
                  <a:schemeClr val="lt1"/>
                </a:solidFill>
                <a:latin typeface="Arial"/>
                <a:ea typeface="Arial"/>
                <a:cs typeface="Arial"/>
                <a:sym typeface="Arial"/>
              </a:rPr>
              <a:t>MÓDULO 01</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lang="es" sz="1700">
                <a:solidFill>
                  <a:schemeClr val="lt1"/>
                </a:solidFill>
              </a:rPr>
              <a:t>Hechos estilizados</a:t>
            </a:r>
            <a:endParaRPr b="1" i="0" sz="1700" u="none" cap="none" strike="noStrike">
              <a:solidFill>
                <a:schemeClr val="lt1"/>
              </a:solidFill>
              <a:latin typeface="Arial"/>
              <a:ea typeface="Arial"/>
              <a:cs typeface="Arial"/>
              <a:sym typeface="Arial"/>
            </a:endParaRPr>
          </a:p>
        </p:txBody>
      </p:sp>
      <p:sp>
        <p:nvSpPr>
          <p:cNvPr id="70" name="Google Shape;70;p20"/>
          <p:cNvSpPr/>
          <p:nvPr/>
        </p:nvSpPr>
        <p:spPr>
          <a:xfrm>
            <a:off x="2100363" y="1675450"/>
            <a:ext cx="1647300" cy="2573400"/>
          </a:xfrm>
          <a:prstGeom prst="roundRect">
            <a:avLst>
              <a:gd fmla="val 6475" name="adj"/>
            </a:avLst>
          </a:prstGeom>
          <a:solidFill>
            <a:schemeClr val="accent1"/>
          </a:solidFill>
          <a:ln>
            <a:noFill/>
          </a:ln>
        </p:spPr>
        <p:txBody>
          <a:bodyPr anchorCtr="0" anchor="t" bIns="180000" lIns="144000" spcFirstLastPara="1" rIns="144000" wrap="square" tIns="180000">
            <a:noAutofit/>
          </a:bodyPr>
          <a:lstStyle/>
          <a:p>
            <a:pPr indent="0" lvl="0" marL="0" marR="0" rtl="0" algn="l">
              <a:lnSpc>
                <a:spcPct val="100000"/>
              </a:lnSpc>
              <a:spcBef>
                <a:spcPts val="0"/>
              </a:spcBef>
              <a:spcAft>
                <a:spcPts val="0"/>
              </a:spcAft>
              <a:buClr>
                <a:srgbClr val="000000"/>
              </a:buClr>
              <a:buSzPts val="900"/>
              <a:buFont typeface="Arial"/>
              <a:buNone/>
            </a:pPr>
            <a:r>
              <a:rPr b="0" i="0" lang="es" sz="900" u="none" cap="none" strike="noStrike">
                <a:solidFill>
                  <a:schemeClr val="dk1"/>
                </a:solidFill>
                <a:latin typeface="Arial"/>
                <a:ea typeface="Arial"/>
                <a:cs typeface="Arial"/>
                <a:sym typeface="Arial"/>
              </a:rPr>
              <a:t>MÓDULO 02</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lang="es" sz="1700">
                <a:solidFill>
                  <a:schemeClr val="dk1"/>
                </a:solidFill>
              </a:rPr>
              <a:t>Los</a:t>
            </a:r>
            <a:endParaRPr b="1" sz="1700">
              <a:solidFill>
                <a:schemeClr val="dk1"/>
              </a:solidFill>
            </a:endParaRPr>
          </a:p>
          <a:p>
            <a:pPr indent="0" lvl="0" marL="0" marR="0" rtl="0" algn="l">
              <a:lnSpc>
                <a:spcPct val="100000"/>
              </a:lnSpc>
              <a:spcBef>
                <a:spcPts val="0"/>
              </a:spcBef>
              <a:spcAft>
                <a:spcPts val="0"/>
              </a:spcAft>
              <a:buClr>
                <a:srgbClr val="000000"/>
              </a:buClr>
              <a:buSzPts val="1700"/>
              <a:buFont typeface="Arial"/>
              <a:buNone/>
            </a:pPr>
            <a:r>
              <a:rPr b="1" lang="es" sz="1700">
                <a:solidFill>
                  <a:schemeClr val="dk1"/>
                </a:solidFill>
              </a:rPr>
              <a:t>datos</a:t>
            </a:r>
            <a:endParaRPr b="1" i="0" sz="1700" u="none" cap="none" strike="noStrike">
              <a:solidFill>
                <a:schemeClr val="dk1"/>
              </a:solidFill>
              <a:latin typeface="Arial"/>
              <a:ea typeface="Arial"/>
              <a:cs typeface="Arial"/>
              <a:sym typeface="Arial"/>
            </a:endParaRPr>
          </a:p>
        </p:txBody>
      </p:sp>
      <p:sp>
        <p:nvSpPr>
          <p:cNvPr id="71" name="Google Shape;71;p20"/>
          <p:cNvSpPr/>
          <p:nvPr/>
        </p:nvSpPr>
        <p:spPr>
          <a:xfrm>
            <a:off x="3852744" y="1675450"/>
            <a:ext cx="1647300" cy="2573400"/>
          </a:xfrm>
          <a:prstGeom prst="roundRect">
            <a:avLst>
              <a:gd fmla="val 6475" name="adj"/>
            </a:avLst>
          </a:prstGeom>
          <a:solidFill>
            <a:schemeClr val="accent5"/>
          </a:solidFill>
          <a:ln>
            <a:noFill/>
          </a:ln>
        </p:spPr>
        <p:txBody>
          <a:bodyPr anchorCtr="0" anchor="t" bIns="180000" lIns="144000" spcFirstLastPara="1" rIns="144000" wrap="square" tIns="180000">
            <a:noAutofit/>
          </a:bodyPr>
          <a:lstStyle/>
          <a:p>
            <a:pPr indent="0" lvl="0" marL="0" marR="0" rtl="0" algn="l">
              <a:lnSpc>
                <a:spcPct val="100000"/>
              </a:lnSpc>
              <a:spcBef>
                <a:spcPts val="0"/>
              </a:spcBef>
              <a:spcAft>
                <a:spcPts val="0"/>
              </a:spcAft>
              <a:buClr>
                <a:srgbClr val="000000"/>
              </a:buClr>
              <a:buSzPts val="900"/>
              <a:buFont typeface="Arial"/>
              <a:buNone/>
            </a:pPr>
            <a:r>
              <a:rPr b="0" i="0" lang="es" sz="900" u="none" cap="none" strike="noStrike">
                <a:solidFill>
                  <a:schemeClr val="dk1"/>
                </a:solidFill>
                <a:latin typeface="Arial"/>
                <a:ea typeface="Arial"/>
                <a:cs typeface="Arial"/>
                <a:sym typeface="Arial"/>
              </a:rPr>
              <a:t>MÓDULO 03</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lang="es" sz="1700">
                <a:solidFill>
                  <a:schemeClr val="dk1"/>
                </a:solidFill>
              </a:rPr>
              <a:t>La metodología</a:t>
            </a:r>
            <a:endParaRPr b="1" i="0" sz="1700" u="none" cap="none" strike="noStrike">
              <a:solidFill>
                <a:schemeClr val="dk1"/>
              </a:solidFill>
              <a:latin typeface="Arial"/>
              <a:ea typeface="Arial"/>
              <a:cs typeface="Arial"/>
              <a:sym typeface="Arial"/>
            </a:endParaRPr>
          </a:p>
        </p:txBody>
      </p:sp>
      <p:sp>
        <p:nvSpPr>
          <p:cNvPr id="72" name="Google Shape;72;p20"/>
          <p:cNvSpPr/>
          <p:nvPr/>
        </p:nvSpPr>
        <p:spPr>
          <a:xfrm>
            <a:off x="5605126" y="1675450"/>
            <a:ext cx="1647300" cy="2573400"/>
          </a:xfrm>
          <a:prstGeom prst="roundRect">
            <a:avLst>
              <a:gd fmla="val 6475" name="adj"/>
            </a:avLst>
          </a:prstGeom>
          <a:solidFill>
            <a:schemeClr val="accent4"/>
          </a:solidFill>
          <a:ln>
            <a:noFill/>
          </a:ln>
        </p:spPr>
        <p:txBody>
          <a:bodyPr anchorCtr="0" anchor="t" bIns="180000" lIns="144000" spcFirstLastPara="1" rIns="144000" wrap="square" tIns="180000">
            <a:noAutofit/>
          </a:bodyPr>
          <a:lstStyle/>
          <a:p>
            <a:pPr indent="0" lvl="0" marL="0" marR="0" rtl="0" algn="l">
              <a:lnSpc>
                <a:spcPct val="100000"/>
              </a:lnSpc>
              <a:spcBef>
                <a:spcPts val="0"/>
              </a:spcBef>
              <a:spcAft>
                <a:spcPts val="0"/>
              </a:spcAft>
              <a:buClr>
                <a:srgbClr val="000000"/>
              </a:buClr>
              <a:buSzPts val="900"/>
              <a:buFont typeface="Arial"/>
              <a:buNone/>
            </a:pPr>
            <a:r>
              <a:rPr b="0" i="0" lang="es" sz="900" u="none" cap="none" strike="noStrike">
                <a:solidFill>
                  <a:schemeClr val="dk1"/>
                </a:solidFill>
                <a:latin typeface="Arial"/>
                <a:ea typeface="Arial"/>
                <a:cs typeface="Arial"/>
                <a:sym typeface="Arial"/>
              </a:rPr>
              <a:t>MÓDULO 04</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lang="es" sz="1700">
                <a:solidFill>
                  <a:schemeClr val="dk1"/>
                </a:solidFill>
              </a:rPr>
              <a:t>Los resultados</a:t>
            </a:r>
            <a:endParaRPr b="1" i="0" sz="1700" u="none" cap="none" strike="noStrike">
              <a:solidFill>
                <a:schemeClr val="dk1"/>
              </a:solidFill>
              <a:latin typeface="Arial"/>
              <a:ea typeface="Arial"/>
              <a:cs typeface="Arial"/>
              <a:sym typeface="Arial"/>
            </a:endParaRPr>
          </a:p>
        </p:txBody>
      </p:sp>
      <p:sp>
        <p:nvSpPr>
          <p:cNvPr id="73" name="Google Shape;73;p20"/>
          <p:cNvSpPr/>
          <p:nvPr/>
        </p:nvSpPr>
        <p:spPr>
          <a:xfrm>
            <a:off x="7357507" y="1675450"/>
            <a:ext cx="1647300" cy="2573400"/>
          </a:xfrm>
          <a:prstGeom prst="roundRect">
            <a:avLst>
              <a:gd fmla="val 6475" name="adj"/>
            </a:avLst>
          </a:prstGeom>
          <a:solidFill>
            <a:schemeClr val="accent3"/>
          </a:solidFill>
          <a:ln>
            <a:noFill/>
          </a:ln>
        </p:spPr>
        <p:txBody>
          <a:bodyPr anchorCtr="0" anchor="t" bIns="180000" lIns="144000" spcFirstLastPara="1" rIns="144000" wrap="square" tIns="180000">
            <a:noAutofit/>
          </a:bodyPr>
          <a:lstStyle/>
          <a:p>
            <a:pPr indent="0" lvl="0" marL="0" marR="0" rtl="0" algn="l">
              <a:lnSpc>
                <a:spcPct val="100000"/>
              </a:lnSpc>
              <a:spcBef>
                <a:spcPts val="0"/>
              </a:spcBef>
              <a:spcAft>
                <a:spcPts val="0"/>
              </a:spcAft>
              <a:buClr>
                <a:srgbClr val="000000"/>
              </a:buClr>
              <a:buSzPts val="900"/>
              <a:buFont typeface="Arial"/>
              <a:buNone/>
            </a:pPr>
            <a:r>
              <a:rPr b="0" i="0" lang="es" sz="900" u="none" cap="none" strike="noStrike">
                <a:solidFill>
                  <a:schemeClr val="dk1"/>
                </a:solidFill>
                <a:latin typeface="Arial"/>
                <a:ea typeface="Arial"/>
                <a:cs typeface="Arial"/>
                <a:sym typeface="Arial"/>
              </a:rPr>
              <a:t>MÓDULO 05</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lang="es" sz="1700">
                <a:solidFill>
                  <a:schemeClr val="dk1"/>
                </a:solidFill>
              </a:rPr>
              <a:t>Cierre y propuestas</a:t>
            </a:r>
            <a:endParaRPr b="1" i="0" sz="1700" u="none" cap="none" strike="noStrike">
              <a:solidFill>
                <a:schemeClr val="dk1"/>
              </a:solidFill>
              <a:latin typeface="Arial"/>
              <a:ea typeface="Arial"/>
              <a:cs typeface="Arial"/>
              <a:sym typeface="Arial"/>
            </a:endParaRPr>
          </a:p>
        </p:txBody>
      </p:sp>
      <p:sp>
        <p:nvSpPr>
          <p:cNvPr id="74" name="Google Shape;74;p20"/>
          <p:cNvSpPr txBox="1"/>
          <p:nvPr>
            <p:ph type="title"/>
          </p:nvPr>
        </p:nvSpPr>
        <p:spPr>
          <a:xfrm>
            <a:off x="341146" y="847895"/>
            <a:ext cx="4221000" cy="5340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3000"/>
              <a:buNone/>
            </a:pPr>
            <a:r>
              <a:rPr lang="es">
                <a:solidFill>
                  <a:schemeClr val="lt1"/>
                </a:solidFill>
              </a:rPr>
              <a:t>Contenido</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8" name="Shape 78"/>
        <p:cNvGrpSpPr/>
        <p:nvPr/>
      </p:nvGrpSpPr>
      <p:grpSpPr>
        <a:xfrm>
          <a:off x="0" y="0"/>
          <a:ext cx="0" cy="0"/>
          <a:chOff x="0" y="0"/>
          <a:chExt cx="0" cy="0"/>
        </a:xfrm>
      </p:grpSpPr>
      <p:sp>
        <p:nvSpPr>
          <p:cNvPr id="79" name="Google Shape;79;p21"/>
          <p:cNvSpPr txBox="1"/>
          <p:nvPr>
            <p:ph type="title"/>
          </p:nvPr>
        </p:nvSpPr>
        <p:spPr>
          <a:xfrm>
            <a:off x="296724" y="4215247"/>
            <a:ext cx="8740800" cy="7734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SzPts val="5000"/>
              <a:buNone/>
            </a:pPr>
            <a:r>
              <a:rPr lang="es" sz="6700"/>
              <a:t>Hechos estilizados</a:t>
            </a:r>
            <a:endParaRPr sz="6700">
              <a:latin typeface="Georgia"/>
              <a:ea typeface="Georgia"/>
              <a:cs typeface="Georgia"/>
              <a:sym typeface="Georgia"/>
            </a:endParaRPr>
          </a:p>
        </p:txBody>
      </p:sp>
      <p:sp>
        <p:nvSpPr>
          <p:cNvPr id="80" name="Google Shape;80;p21"/>
          <p:cNvSpPr txBox="1"/>
          <p:nvPr/>
        </p:nvSpPr>
        <p:spPr>
          <a:xfrm>
            <a:off x="324000" y="3570800"/>
            <a:ext cx="8222700" cy="2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s" sz="1600">
                <a:solidFill>
                  <a:srgbClr val="001391"/>
                </a:solidFill>
              </a:rPr>
              <a:t>01. Motivación: comportamiento histórico,  relaciones iniciales y lo que dice la literatura</a:t>
            </a:r>
            <a:endParaRPr b="0" i="0" sz="1600" u="none" cap="none" strike="noStrike">
              <a:solidFill>
                <a:srgbClr val="00139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2"/>
          <p:cNvSpPr/>
          <p:nvPr/>
        </p:nvSpPr>
        <p:spPr>
          <a:xfrm>
            <a:off x="342000" y="900125"/>
            <a:ext cx="7983000" cy="38940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86" name="Google Shape;86;p22"/>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Y CICLO ECONÓMICO</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(PORCENTAJE)</a:t>
            </a:r>
            <a:endParaRPr b="0" i="0" sz="1200" u="none" cap="none" strike="noStrike">
              <a:solidFill>
                <a:schemeClr val="dk1"/>
              </a:solidFill>
              <a:latin typeface="Arial"/>
              <a:ea typeface="Arial"/>
              <a:cs typeface="Arial"/>
              <a:sym typeface="Arial"/>
            </a:endParaRPr>
          </a:p>
        </p:txBody>
      </p:sp>
      <p:cxnSp>
        <p:nvCxnSpPr>
          <p:cNvPr id="87" name="Google Shape;87;p22"/>
          <p:cNvCxnSpPr/>
          <p:nvPr/>
        </p:nvCxnSpPr>
        <p:spPr>
          <a:xfrm>
            <a:off x="582107" y="1549363"/>
            <a:ext cx="7503000" cy="0"/>
          </a:xfrm>
          <a:prstGeom prst="straightConnector1">
            <a:avLst/>
          </a:prstGeom>
          <a:noFill/>
          <a:ln cap="flat" cmpd="sng" w="9525">
            <a:solidFill>
              <a:schemeClr val="dk1"/>
            </a:solidFill>
            <a:prstDash val="solid"/>
            <a:round/>
            <a:headEnd len="sm" w="sm" type="none"/>
            <a:tailEnd len="sm" w="sm" type="none"/>
          </a:ln>
        </p:spPr>
      </p:cxnSp>
      <p:sp>
        <p:nvSpPr>
          <p:cNvPr id="88" name="Google Shape;88;p22"/>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El comportamiento de los NPL tienen un alto componente cíclico. Si bien, reaccionan con rezago al nivel del ciclo.</a:t>
            </a:r>
            <a:endParaRPr/>
          </a:p>
        </p:txBody>
      </p:sp>
      <p:sp>
        <p:nvSpPr>
          <p:cNvPr id="89" name="Google Shape;89;p22"/>
          <p:cNvSpPr txBox="1"/>
          <p:nvPr/>
        </p:nvSpPr>
        <p:spPr>
          <a:xfrm>
            <a:off x="344875" y="4857700"/>
            <a:ext cx="7973100" cy="861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 de Colombia</a:t>
            </a:r>
            <a:endParaRPr b="0" i="0" sz="700" u="none" cap="none" strike="noStrike">
              <a:solidFill>
                <a:srgbClr val="46536D"/>
              </a:solidFill>
              <a:latin typeface="Arial"/>
              <a:ea typeface="Arial"/>
              <a:cs typeface="Arial"/>
              <a:sym typeface="Arial"/>
            </a:endParaRPr>
          </a:p>
        </p:txBody>
      </p:sp>
      <p:pic>
        <p:nvPicPr>
          <p:cNvPr id="90" name="Google Shape;90;p22"/>
          <p:cNvPicPr preferRelativeResize="0"/>
          <p:nvPr/>
        </p:nvPicPr>
        <p:blipFill>
          <a:blip r:embed="rId3">
            <a:alphaModFix/>
          </a:blip>
          <a:stretch>
            <a:fillRect/>
          </a:stretch>
        </p:blipFill>
        <p:spPr>
          <a:xfrm>
            <a:off x="549438" y="1583536"/>
            <a:ext cx="7563969" cy="3240000"/>
          </a:xfrm>
          <a:prstGeom prst="rect">
            <a:avLst/>
          </a:prstGeom>
          <a:solidFill>
            <a:schemeClr val="lt1"/>
          </a:solid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3"/>
          <p:cNvSpPr/>
          <p:nvPr/>
        </p:nvSpPr>
        <p:spPr>
          <a:xfrm>
            <a:off x="342000" y="900125"/>
            <a:ext cx="7983000" cy="38940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96" name="Google Shape;96;p23"/>
          <p:cNvSpPr txBox="1"/>
          <p:nvPr/>
        </p:nvSpPr>
        <p:spPr>
          <a:xfrm>
            <a:off x="582100" y="1080125"/>
            <a:ext cx="7444200" cy="38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CARTERA VENCIDA POR TIPO: AUTOCORRELACIÓN SIMPLE EN VARIOS PERÍODOS DE REZAGO</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CORRELACIÓN</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97" name="Google Shape;97;p23"/>
          <p:cNvCxnSpPr/>
          <p:nvPr/>
        </p:nvCxnSpPr>
        <p:spPr>
          <a:xfrm>
            <a:off x="582107" y="1549363"/>
            <a:ext cx="7503000" cy="0"/>
          </a:xfrm>
          <a:prstGeom prst="straightConnector1">
            <a:avLst/>
          </a:prstGeom>
          <a:noFill/>
          <a:ln cap="flat" cmpd="sng" w="9525">
            <a:solidFill>
              <a:schemeClr val="dk1"/>
            </a:solidFill>
            <a:prstDash val="solid"/>
            <a:round/>
            <a:headEnd len="sm" w="sm" type="none"/>
            <a:tailEnd len="sm" w="sm" type="none"/>
          </a:ln>
        </p:spPr>
      </p:cxnSp>
      <p:sp>
        <p:nvSpPr>
          <p:cNvPr id="98" name="Google Shape;98;p23"/>
          <p:cNvSpPr txBox="1"/>
          <p:nvPr>
            <p:ph type="title"/>
          </p:nvPr>
        </p:nvSpPr>
        <p:spPr>
          <a:xfrm>
            <a:off x="342000" y="259825"/>
            <a:ext cx="86316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Los NPL son persistentes, siéndolo más en hipotecaria y menos cuando se calcula su tasa de crecimiento</a:t>
            </a:r>
            <a:endParaRPr/>
          </a:p>
        </p:txBody>
      </p:sp>
      <p:sp>
        <p:nvSpPr>
          <p:cNvPr id="99" name="Google Shape;99;p23"/>
          <p:cNvSpPr txBox="1"/>
          <p:nvPr/>
        </p:nvSpPr>
        <p:spPr>
          <a:xfrm>
            <a:off x="344875" y="4857700"/>
            <a:ext cx="7973100" cy="861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 de Colombia</a:t>
            </a:r>
            <a:endParaRPr sz="700">
              <a:solidFill>
                <a:srgbClr val="46536D"/>
              </a:solidFill>
            </a:endParaRPr>
          </a:p>
        </p:txBody>
      </p:sp>
      <p:pic>
        <p:nvPicPr>
          <p:cNvPr id="100" name="Google Shape;100;p23"/>
          <p:cNvPicPr preferRelativeResize="0"/>
          <p:nvPr/>
        </p:nvPicPr>
        <p:blipFill>
          <a:blip r:embed="rId3">
            <a:alphaModFix/>
          </a:blip>
          <a:stretch>
            <a:fillRect/>
          </a:stretch>
        </p:blipFill>
        <p:spPr>
          <a:xfrm>
            <a:off x="571285" y="1583549"/>
            <a:ext cx="7543170" cy="3240000"/>
          </a:xfrm>
          <a:prstGeom prst="rect">
            <a:avLst/>
          </a:prstGeom>
          <a:solidFill>
            <a:schemeClr val="lt1"/>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4"/>
          <p:cNvSpPr/>
          <p:nvPr/>
        </p:nvSpPr>
        <p:spPr>
          <a:xfrm>
            <a:off x="3242700" y="350825"/>
            <a:ext cx="5566800" cy="4193100"/>
          </a:xfrm>
          <a:prstGeom prst="roundRect">
            <a:avLst>
              <a:gd fmla="val 3026"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Lato Light"/>
              <a:ea typeface="Lato Light"/>
              <a:cs typeface="Lato Light"/>
              <a:sym typeface="Lato Light"/>
            </a:endParaRPr>
          </a:p>
        </p:txBody>
      </p:sp>
      <p:sp>
        <p:nvSpPr>
          <p:cNvPr id="106" name="Google Shape;106;p24"/>
          <p:cNvSpPr txBox="1"/>
          <p:nvPr>
            <p:ph type="title"/>
          </p:nvPr>
        </p:nvSpPr>
        <p:spPr>
          <a:xfrm>
            <a:off x="342000" y="270900"/>
            <a:ext cx="2671200" cy="1279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000"/>
              <a:buNone/>
            </a:pPr>
            <a:r>
              <a:rPr lang="es"/>
              <a:t>La </a:t>
            </a:r>
            <a:r>
              <a:rPr lang="es"/>
              <a:t>vencida </a:t>
            </a:r>
            <a:r>
              <a:rPr lang="es"/>
              <a:t>también </a:t>
            </a:r>
            <a:r>
              <a:rPr lang="es"/>
              <a:t>reacciona con rezago al nivel del crédito</a:t>
            </a:r>
            <a:endParaRPr b="0" sz="2300">
              <a:latin typeface="Arial"/>
              <a:ea typeface="Arial"/>
              <a:cs typeface="Arial"/>
              <a:sym typeface="Arial"/>
            </a:endParaRPr>
          </a:p>
        </p:txBody>
      </p:sp>
      <p:sp>
        <p:nvSpPr>
          <p:cNvPr id="107" name="Google Shape;107;p24"/>
          <p:cNvSpPr/>
          <p:nvPr/>
        </p:nvSpPr>
        <p:spPr>
          <a:xfrm>
            <a:off x="3242700" y="344869"/>
            <a:ext cx="5566800" cy="655200"/>
          </a:xfrm>
          <a:prstGeom prst="round2SameRect">
            <a:avLst>
              <a:gd fmla="val 15026"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4"/>
          <p:cNvSpPr txBox="1"/>
          <p:nvPr/>
        </p:nvSpPr>
        <p:spPr>
          <a:xfrm>
            <a:off x="3471475" y="538025"/>
            <a:ext cx="5337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lt1"/>
                </a:solidFill>
              </a:rPr>
              <a:t>CORRELACIÓN: </a:t>
            </a:r>
            <a:r>
              <a:rPr b="1" lang="es" sz="1200">
                <a:solidFill>
                  <a:schemeClr val="lt1"/>
                </a:solidFill>
              </a:rPr>
              <a:t>CARTERA TOTAL Y CARTERA VENCIDA ADELANTADA </a:t>
            </a:r>
            <a:r>
              <a:rPr b="0" i="0" lang="es" sz="1000" u="none" cap="none" strike="noStrike">
                <a:solidFill>
                  <a:schemeClr val="lt1"/>
                </a:solidFill>
                <a:latin typeface="Arial"/>
                <a:ea typeface="Arial"/>
                <a:cs typeface="Arial"/>
                <a:sym typeface="Arial"/>
              </a:rPr>
              <a:t>(</a:t>
            </a:r>
            <a:r>
              <a:rPr lang="es" sz="1000">
                <a:solidFill>
                  <a:schemeClr val="lt1"/>
                </a:solidFill>
              </a:rPr>
              <a:t>CORRELACIÓN DE LAS </a:t>
            </a:r>
            <a:r>
              <a:rPr lang="es" sz="1000">
                <a:solidFill>
                  <a:schemeClr val="lt1"/>
                </a:solidFill>
              </a:rPr>
              <a:t>VARIACIONES ANUALES REALES, ADELANTO EN VENCIDA, %</a:t>
            </a:r>
            <a:r>
              <a:rPr b="0" i="0" lang="es" sz="1000" u="none" cap="none" strike="noStrike">
                <a:solidFill>
                  <a:schemeClr val="lt1"/>
                </a:solidFill>
                <a:latin typeface="Arial"/>
                <a:ea typeface="Arial"/>
                <a:cs typeface="Arial"/>
                <a:sym typeface="Arial"/>
              </a:rPr>
              <a:t>)</a:t>
            </a:r>
            <a:endParaRPr b="0" i="0" sz="1200" u="none" cap="none" strike="noStrike">
              <a:solidFill>
                <a:schemeClr val="lt1"/>
              </a:solidFill>
              <a:latin typeface="Arial"/>
              <a:ea typeface="Arial"/>
              <a:cs typeface="Arial"/>
              <a:sym typeface="Arial"/>
            </a:endParaRPr>
          </a:p>
        </p:txBody>
      </p:sp>
      <p:sp>
        <p:nvSpPr>
          <p:cNvPr id="109" name="Google Shape;109;p24"/>
          <p:cNvSpPr txBox="1"/>
          <p:nvPr/>
        </p:nvSpPr>
        <p:spPr>
          <a:xfrm>
            <a:off x="3242700" y="4621700"/>
            <a:ext cx="5566800" cy="172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Equivale a la correlación contemporánea.</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a:t>
            </a:r>
            <a:endParaRPr sz="700">
              <a:solidFill>
                <a:srgbClr val="46536D"/>
              </a:solidFill>
            </a:endParaRPr>
          </a:p>
        </p:txBody>
      </p:sp>
      <p:sp>
        <p:nvSpPr>
          <p:cNvPr id="110" name="Google Shape;110;p24"/>
          <p:cNvSpPr txBox="1"/>
          <p:nvPr/>
        </p:nvSpPr>
        <p:spPr>
          <a:xfrm>
            <a:off x="344875" y="1661218"/>
            <a:ext cx="2224500" cy="2881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600"/>
              <a:buFont typeface="Arial"/>
              <a:buNone/>
            </a:pPr>
            <a:r>
              <a:rPr lang="es" sz="1600">
                <a:solidFill>
                  <a:schemeClr val="dk1"/>
                </a:solidFill>
              </a:rPr>
              <a:t>La </a:t>
            </a:r>
            <a:r>
              <a:rPr b="1" lang="es" sz="1600">
                <a:solidFill>
                  <a:schemeClr val="dk1"/>
                </a:solidFill>
              </a:rPr>
              <a:t>cartera vencida total</a:t>
            </a:r>
            <a:r>
              <a:rPr lang="es" sz="1600">
                <a:solidFill>
                  <a:schemeClr val="dk1"/>
                </a:solidFill>
              </a:rPr>
              <a:t> presenta la mayor relación con la </a:t>
            </a:r>
            <a:r>
              <a:rPr b="1" lang="es" sz="1600">
                <a:solidFill>
                  <a:schemeClr val="dk1"/>
                </a:solidFill>
              </a:rPr>
              <a:t>cartera bruta total </a:t>
            </a:r>
            <a:r>
              <a:rPr lang="es" sz="1600">
                <a:solidFill>
                  <a:schemeClr val="dk1"/>
                </a:solidFill>
              </a:rPr>
              <a:t>observada más de un año atrás.</a:t>
            </a:r>
            <a:endParaRPr sz="1600">
              <a:solidFill>
                <a:schemeClr val="dk1"/>
              </a:solidFill>
            </a:endParaRPr>
          </a:p>
          <a:p>
            <a:pPr indent="0" lvl="0" marL="0" marR="0" rtl="0" algn="l">
              <a:lnSpc>
                <a:spcPct val="9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90000"/>
              </a:lnSpc>
              <a:spcBef>
                <a:spcPts val="0"/>
              </a:spcBef>
              <a:spcAft>
                <a:spcPts val="0"/>
              </a:spcAft>
              <a:buClr>
                <a:srgbClr val="000000"/>
              </a:buClr>
              <a:buSzPts val="1600"/>
              <a:buFont typeface="Arial"/>
              <a:buNone/>
            </a:pPr>
            <a:r>
              <a:rPr lang="es" sz="1600">
                <a:solidFill>
                  <a:schemeClr val="dk1"/>
                </a:solidFill>
              </a:rPr>
              <a:t>El comportamiento de la </a:t>
            </a:r>
            <a:r>
              <a:rPr b="1" lang="es" sz="1600">
                <a:solidFill>
                  <a:schemeClr val="dk1"/>
                </a:solidFill>
              </a:rPr>
              <a:t>cartera total</a:t>
            </a:r>
            <a:r>
              <a:rPr lang="es" sz="1600">
                <a:solidFill>
                  <a:schemeClr val="dk1"/>
                </a:solidFill>
              </a:rPr>
              <a:t> suele determinar, de manera positiva y con alta correlación, el desempeño esperado de la </a:t>
            </a:r>
            <a:r>
              <a:rPr b="1" lang="es" sz="1600">
                <a:solidFill>
                  <a:schemeClr val="dk1"/>
                </a:solidFill>
              </a:rPr>
              <a:t>cartera vencida</a:t>
            </a:r>
            <a:r>
              <a:rPr lang="es" sz="1600">
                <a:solidFill>
                  <a:schemeClr val="dk1"/>
                </a:solidFill>
              </a:rPr>
              <a:t>.</a:t>
            </a:r>
            <a:endParaRPr sz="1600">
              <a:solidFill>
                <a:schemeClr val="dk1"/>
              </a:solidFill>
            </a:endParaRPr>
          </a:p>
        </p:txBody>
      </p:sp>
      <p:pic>
        <p:nvPicPr>
          <p:cNvPr id="111" name="Google Shape;111;p24"/>
          <p:cNvPicPr preferRelativeResize="0"/>
          <p:nvPr/>
        </p:nvPicPr>
        <p:blipFill>
          <a:blip r:embed="rId3">
            <a:alphaModFix/>
          </a:blip>
          <a:stretch>
            <a:fillRect/>
          </a:stretch>
        </p:blipFill>
        <p:spPr>
          <a:xfrm>
            <a:off x="3246975" y="1058856"/>
            <a:ext cx="5566999" cy="342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5"/>
          <p:cNvSpPr/>
          <p:nvPr/>
        </p:nvSpPr>
        <p:spPr>
          <a:xfrm>
            <a:off x="3242700" y="350825"/>
            <a:ext cx="5566800" cy="4193100"/>
          </a:xfrm>
          <a:prstGeom prst="roundRect">
            <a:avLst>
              <a:gd fmla="val 3026"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Lato Light"/>
              <a:ea typeface="Lato Light"/>
              <a:cs typeface="Lato Light"/>
              <a:sym typeface="Lato Light"/>
            </a:endParaRPr>
          </a:p>
        </p:txBody>
      </p:sp>
      <p:sp>
        <p:nvSpPr>
          <p:cNvPr id="117" name="Google Shape;117;p25"/>
          <p:cNvSpPr txBox="1"/>
          <p:nvPr>
            <p:ph type="title"/>
          </p:nvPr>
        </p:nvSpPr>
        <p:spPr>
          <a:xfrm>
            <a:off x="342000" y="270900"/>
            <a:ext cx="2671200" cy="1279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000"/>
              <a:buNone/>
            </a:pPr>
            <a:r>
              <a:rPr lang="es"/>
              <a:t>Por tanto, un modelo para la vencida se mejora usando la cartera</a:t>
            </a:r>
            <a:endParaRPr b="0" sz="2300">
              <a:latin typeface="Arial"/>
              <a:ea typeface="Arial"/>
              <a:cs typeface="Arial"/>
              <a:sym typeface="Arial"/>
            </a:endParaRPr>
          </a:p>
        </p:txBody>
      </p:sp>
      <p:sp>
        <p:nvSpPr>
          <p:cNvPr id="118" name="Google Shape;118;p25"/>
          <p:cNvSpPr/>
          <p:nvPr/>
        </p:nvSpPr>
        <p:spPr>
          <a:xfrm>
            <a:off x="3242700" y="344869"/>
            <a:ext cx="5566800" cy="655200"/>
          </a:xfrm>
          <a:prstGeom prst="round2SameRect">
            <a:avLst>
              <a:gd fmla="val 15026"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5"/>
          <p:cNvSpPr txBox="1"/>
          <p:nvPr/>
        </p:nvSpPr>
        <p:spPr>
          <a:xfrm>
            <a:off x="3471475" y="538019"/>
            <a:ext cx="51180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lt1"/>
                </a:solidFill>
              </a:rPr>
              <a:t>CARTERA TOTAL VS. CARTERA VENCIDA ADELANTADA 13 MESES</a:t>
            </a:r>
            <a:endParaRPr b="1" baseline="3000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lt1"/>
                </a:solidFill>
                <a:latin typeface="Arial"/>
                <a:ea typeface="Arial"/>
                <a:cs typeface="Arial"/>
                <a:sym typeface="Arial"/>
              </a:rPr>
              <a:t>(</a:t>
            </a:r>
            <a:r>
              <a:rPr lang="es" sz="1000">
                <a:solidFill>
                  <a:schemeClr val="lt1"/>
                </a:solidFill>
              </a:rPr>
              <a:t>VARIACIÓN ANUAL REAL, %</a:t>
            </a:r>
            <a:r>
              <a:rPr b="0" i="0" lang="es" sz="1000" u="none" cap="none" strike="noStrike">
                <a:solidFill>
                  <a:schemeClr val="lt1"/>
                </a:solidFill>
                <a:latin typeface="Arial"/>
                <a:ea typeface="Arial"/>
                <a:cs typeface="Arial"/>
                <a:sym typeface="Arial"/>
              </a:rPr>
              <a:t>)</a:t>
            </a:r>
            <a:endParaRPr b="0" i="0" sz="1200" u="none" cap="none" strike="noStrike">
              <a:solidFill>
                <a:schemeClr val="lt1"/>
              </a:solidFill>
              <a:latin typeface="Arial"/>
              <a:ea typeface="Arial"/>
              <a:cs typeface="Arial"/>
              <a:sym typeface="Arial"/>
            </a:endParaRPr>
          </a:p>
        </p:txBody>
      </p:sp>
      <p:sp>
        <p:nvSpPr>
          <p:cNvPr id="120" name="Google Shape;120;p25"/>
          <p:cNvSpPr txBox="1"/>
          <p:nvPr/>
        </p:nvSpPr>
        <p:spPr>
          <a:xfrm>
            <a:off x="3242700" y="4621700"/>
            <a:ext cx="5566800" cy="861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a:t>
            </a:r>
            <a:endParaRPr sz="700">
              <a:solidFill>
                <a:srgbClr val="46536D"/>
              </a:solidFill>
            </a:endParaRPr>
          </a:p>
        </p:txBody>
      </p:sp>
      <p:sp>
        <p:nvSpPr>
          <p:cNvPr id="121" name="Google Shape;121;p25"/>
          <p:cNvSpPr txBox="1"/>
          <p:nvPr/>
        </p:nvSpPr>
        <p:spPr>
          <a:xfrm>
            <a:off x="344875" y="1661218"/>
            <a:ext cx="2224500" cy="2438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600"/>
              <a:buFont typeface="Arial"/>
              <a:buNone/>
            </a:pPr>
            <a:r>
              <a:rPr lang="es" sz="1600">
                <a:solidFill>
                  <a:schemeClr val="dk1"/>
                </a:solidFill>
              </a:rPr>
              <a:t>Dado que la </a:t>
            </a:r>
            <a:r>
              <a:rPr b="1" lang="es" sz="1600">
                <a:solidFill>
                  <a:schemeClr val="dk1"/>
                </a:solidFill>
              </a:rPr>
              <a:t>cartera bruta total</a:t>
            </a:r>
            <a:r>
              <a:rPr lang="es" sz="1600">
                <a:solidFill>
                  <a:schemeClr val="dk1"/>
                </a:solidFill>
              </a:rPr>
              <a:t> se correlaciona de cerca con las cifras de la </a:t>
            </a:r>
            <a:r>
              <a:rPr b="1" lang="es" sz="1600">
                <a:solidFill>
                  <a:schemeClr val="dk1"/>
                </a:solidFill>
              </a:rPr>
              <a:t>cartera vencida un año después</a:t>
            </a:r>
            <a:r>
              <a:rPr lang="es" sz="1600">
                <a:solidFill>
                  <a:schemeClr val="dk1"/>
                </a:solidFill>
              </a:rPr>
              <a:t>, los modelos que se experimenten deberían contener los rezagos del crédito total como una variable a probar</a:t>
            </a:r>
            <a:endParaRPr b="0" i="0" sz="1050" u="none" cap="none" strike="noStrike">
              <a:solidFill>
                <a:schemeClr val="dk1"/>
              </a:solidFill>
              <a:latin typeface="Arial"/>
              <a:ea typeface="Arial"/>
              <a:cs typeface="Arial"/>
              <a:sym typeface="Arial"/>
            </a:endParaRPr>
          </a:p>
        </p:txBody>
      </p:sp>
      <p:pic>
        <p:nvPicPr>
          <p:cNvPr id="122" name="Google Shape;122;p25"/>
          <p:cNvPicPr preferRelativeResize="0"/>
          <p:nvPr/>
        </p:nvPicPr>
        <p:blipFill>
          <a:blip r:embed="rId3">
            <a:alphaModFix/>
          </a:blip>
          <a:stretch>
            <a:fillRect/>
          </a:stretch>
        </p:blipFill>
        <p:spPr>
          <a:xfrm>
            <a:off x="3238797" y="1058863"/>
            <a:ext cx="5574600" cy="342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6"/>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44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Si la cartera tiene fuertes incrementos, es más alta la correlación con la vencida futura. Pero, es menor y contraria en episodios negativos: probablemente son explicadas por un tercer determinante común </a:t>
            </a:r>
            <a:r>
              <a:rPr b="1" baseline="30000" lang="es" sz="1200">
                <a:solidFill>
                  <a:schemeClr val="dk1"/>
                </a:solidFill>
                <a:latin typeface="Georgia"/>
                <a:ea typeface="Georgia"/>
                <a:cs typeface="Georgia"/>
                <a:sym typeface="Georgia"/>
              </a:rPr>
              <a:t>(*)</a:t>
            </a:r>
            <a:endParaRPr b="1" i="0" sz="1200" u="none" cap="none" strike="noStrike">
              <a:solidFill>
                <a:schemeClr val="dk1"/>
              </a:solidFill>
              <a:latin typeface="Georgia"/>
              <a:ea typeface="Georgia"/>
              <a:cs typeface="Georgia"/>
              <a:sym typeface="Georgia"/>
            </a:endParaRPr>
          </a:p>
        </p:txBody>
      </p:sp>
      <p:sp>
        <p:nvSpPr>
          <p:cNvPr id="128" name="Google Shape;128;p26"/>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La correlación es distinta según la tendencia de la cartera</a:t>
            </a:r>
            <a:endParaRPr/>
          </a:p>
        </p:txBody>
      </p:sp>
      <p:sp>
        <p:nvSpPr>
          <p:cNvPr id="129" name="Google Shape;129;p26"/>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30" name="Google Shape;130;p26"/>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31" name="Google Shape;131;p26"/>
          <p:cNvSpPr txBox="1"/>
          <p:nvPr/>
        </p:nvSpPr>
        <p:spPr>
          <a:xfrm>
            <a:off x="582100" y="1087325"/>
            <a:ext cx="36597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CARTERA TOTAL Y CARTERA VENCIDA TOTAL</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VARIACIÓN ANUAL REAL, %</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132" name="Google Shape;132;p26"/>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133" name="Google Shape;133;p26"/>
          <p:cNvSpPr txBox="1"/>
          <p:nvPr/>
        </p:nvSpPr>
        <p:spPr>
          <a:xfrm>
            <a:off x="4931700" y="1087325"/>
            <a:ext cx="3729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CORRELACIÓN: CARTERA TOTAL Y CARTERA VENCIDA ADELANTADA </a:t>
            </a:r>
            <a:r>
              <a:rPr b="0" i="0" lang="es" sz="1000" u="none" cap="none" strike="noStrike">
                <a:solidFill>
                  <a:schemeClr val="dk1"/>
                </a:solidFill>
                <a:latin typeface="Arial"/>
                <a:ea typeface="Arial"/>
                <a:cs typeface="Arial"/>
                <a:sym typeface="Arial"/>
              </a:rPr>
              <a:t>(</a:t>
            </a:r>
            <a:r>
              <a:rPr lang="es" sz="1000">
                <a:solidFill>
                  <a:schemeClr val="dk1"/>
                </a:solidFill>
              </a:rPr>
              <a:t>VARIACIÓN ANUAL REAL, %</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134" name="Google Shape;134;p26"/>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135" name="Google Shape;135;p26"/>
          <p:cNvSpPr txBox="1"/>
          <p:nvPr/>
        </p:nvSpPr>
        <p:spPr>
          <a:xfrm>
            <a:off x="344875" y="3854400"/>
            <a:ext cx="7973100" cy="1725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El determinante común pueden ser las crisis, que provocan caída en la cartera, pero aumentos en la cartera vencida. </a:t>
            </a:r>
            <a:endParaRPr sz="700">
              <a:solidFill>
                <a:srgbClr val="46536D"/>
              </a:solidFill>
            </a:endParaRPr>
          </a:p>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a:t>
            </a:r>
            <a:endParaRPr sz="700">
              <a:solidFill>
                <a:srgbClr val="46536D"/>
              </a:solidFill>
            </a:endParaRPr>
          </a:p>
        </p:txBody>
      </p:sp>
      <p:pic>
        <p:nvPicPr>
          <p:cNvPr id="136" name="Google Shape;136;p26"/>
          <p:cNvPicPr preferRelativeResize="0"/>
          <p:nvPr/>
        </p:nvPicPr>
        <p:blipFill>
          <a:blip r:embed="rId3">
            <a:alphaModFix/>
          </a:blip>
          <a:stretch>
            <a:fillRect/>
          </a:stretch>
        </p:blipFill>
        <p:spPr>
          <a:xfrm>
            <a:off x="4929675" y="1633425"/>
            <a:ext cx="3733633" cy="2016000"/>
          </a:xfrm>
          <a:prstGeom prst="rect">
            <a:avLst/>
          </a:prstGeom>
          <a:solidFill>
            <a:schemeClr val="lt1"/>
          </a:solidFill>
          <a:ln>
            <a:noFill/>
          </a:ln>
        </p:spPr>
      </p:pic>
      <p:pic>
        <p:nvPicPr>
          <p:cNvPr id="137" name="Google Shape;137;p26"/>
          <p:cNvPicPr preferRelativeResize="0"/>
          <p:nvPr/>
        </p:nvPicPr>
        <p:blipFill>
          <a:blip r:embed="rId4">
            <a:alphaModFix/>
          </a:blip>
          <a:stretch>
            <a:fillRect/>
          </a:stretch>
        </p:blipFill>
        <p:spPr>
          <a:xfrm>
            <a:off x="582088" y="1617138"/>
            <a:ext cx="3769919" cy="2016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36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Esta cartera tiene correlación inversa en </a:t>
            </a:r>
            <a:r>
              <a:rPr b="1" lang="es" sz="1200">
                <a:solidFill>
                  <a:schemeClr val="dk1"/>
                </a:solidFill>
                <a:latin typeface="Georgia"/>
                <a:ea typeface="Georgia"/>
                <a:cs typeface="Georgia"/>
                <a:sym typeface="Georgia"/>
              </a:rPr>
              <a:t>períodos</a:t>
            </a:r>
            <a:r>
              <a:rPr b="1" lang="es" sz="1200">
                <a:solidFill>
                  <a:schemeClr val="dk1"/>
                </a:solidFill>
                <a:latin typeface="Georgia"/>
                <a:ea typeface="Georgia"/>
                <a:cs typeface="Georgia"/>
                <a:sym typeface="Georgia"/>
              </a:rPr>
              <a:t> de crisis (igual a caso de total). </a:t>
            </a:r>
            <a:r>
              <a:rPr b="1" lang="es" sz="1200">
                <a:solidFill>
                  <a:schemeClr val="dk1"/>
                </a:solidFill>
                <a:latin typeface="Georgia"/>
                <a:ea typeface="Georgia"/>
                <a:cs typeface="Georgia"/>
                <a:sym typeface="Georgia"/>
              </a:rPr>
              <a:t>Corr</a:t>
            </a:r>
            <a:r>
              <a:rPr b="1" lang="es" sz="1200">
                <a:solidFill>
                  <a:schemeClr val="dk1"/>
                </a:solidFill>
                <a:latin typeface="Georgia"/>
                <a:ea typeface="Georgia"/>
                <a:cs typeface="Georgia"/>
                <a:sym typeface="Georgia"/>
              </a:rPr>
              <a:t>elación en otros períodos: esperada y alta. La mora comercial tiene máxima relación con cartera comercial a los 18 meses</a:t>
            </a:r>
            <a:endParaRPr b="1" i="0" sz="1200" u="none" cap="none" strike="noStrike">
              <a:solidFill>
                <a:schemeClr val="dk1"/>
              </a:solidFill>
              <a:latin typeface="Georgia"/>
              <a:ea typeface="Georgia"/>
              <a:cs typeface="Georgia"/>
              <a:sym typeface="Georgia"/>
            </a:endParaRPr>
          </a:p>
        </p:txBody>
      </p:sp>
      <p:sp>
        <p:nvSpPr>
          <p:cNvPr id="143" name="Google Shape;143;p27"/>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Vencida comercial: relación contraria a esperada en crisis</a:t>
            </a:r>
            <a:endParaRPr/>
          </a:p>
        </p:txBody>
      </p:sp>
      <p:sp>
        <p:nvSpPr>
          <p:cNvPr id="144" name="Google Shape;144;p27"/>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45" name="Google Shape;145;p27"/>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46" name="Google Shape;146;p27"/>
          <p:cNvSpPr txBox="1"/>
          <p:nvPr/>
        </p:nvSpPr>
        <p:spPr>
          <a:xfrm>
            <a:off x="582100" y="1087325"/>
            <a:ext cx="3874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s" sz="1200">
                <a:solidFill>
                  <a:schemeClr val="dk1"/>
                </a:solidFill>
              </a:rPr>
              <a:t>CORRELACIÓN: CARTERA COMERCIAL Y VENCIDA COMERCIAL ADELANTADA </a:t>
            </a:r>
            <a:r>
              <a:rPr lang="es" sz="1000">
                <a:solidFill>
                  <a:schemeClr val="dk1"/>
                </a:solidFill>
              </a:rPr>
              <a:t>(VARIACIÓN ANUAL REAL, %)</a:t>
            </a:r>
            <a:endParaRPr b="0" i="0" sz="1200" u="none" cap="none" strike="noStrike">
              <a:solidFill>
                <a:schemeClr val="dk1"/>
              </a:solidFill>
              <a:latin typeface="Arial"/>
              <a:ea typeface="Arial"/>
              <a:cs typeface="Arial"/>
              <a:sym typeface="Arial"/>
            </a:endParaRPr>
          </a:p>
        </p:txBody>
      </p:sp>
      <p:cxnSp>
        <p:nvCxnSpPr>
          <p:cNvPr id="147" name="Google Shape;147;p27"/>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148" name="Google Shape;148;p27"/>
          <p:cNvSpPr txBox="1"/>
          <p:nvPr/>
        </p:nvSpPr>
        <p:spPr>
          <a:xfrm>
            <a:off x="4931700" y="1087325"/>
            <a:ext cx="3874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CORRELACIÓN: CARTERA COMERCIAL Y VENCIDA COMERCIAL ADELANTADA </a:t>
            </a:r>
            <a:r>
              <a:rPr b="0" i="0" lang="es" sz="1000" u="none" cap="none" strike="noStrike">
                <a:solidFill>
                  <a:schemeClr val="dk1"/>
                </a:solidFill>
                <a:latin typeface="Arial"/>
                <a:ea typeface="Arial"/>
                <a:cs typeface="Arial"/>
                <a:sym typeface="Arial"/>
              </a:rPr>
              <a:t>(</a:t>
            </a:r>
            <a:r>
              <a:rPr lang="es" sz="1000">
                <a:solidFill>
                  <a:schemeClr val="dk1"/>
                </a:solidFill>
              </a:rPr>
              <a:t>VARIACIÓN ANUAL REAL, %</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149" name="Google Shape;149;p27"/>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150" name="Google Shape;150;p27"/>
          <p:cNvSpPr txBox="1"/>
          <p:nvPr/>
        </p:nvSpPr>
        <p:spPr>
          <a:xfrm>
            <a:off x="344875" y="3854400"/>
            <a:ext cx="7973100" cy="1725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Equivale a la correlación contemporánea.</a:t>
            </a:r>
            <a:endParaRPr sz="700">
              <a:solidFill>
                <a:srgbClr val="46536D"/>
              </a:solidFill>
            </a:endParaRPr>
          </a:p>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a:t>
            </a:r>
            <a:endParaRPr sz="700">
              <a:solidFill>
                <a:srgbClr val="46536D"/>
              </a:solidFill>
            </a:endParaRPr>
          </a:p>
        </p:txBody>
      </p:sp>
      <p:pic>
        <p:nvPicPr>
          <p:cNvPr id="151" name="Google Shape;151;p27"/>
          <p:cNvPicPr preferRelativeResize="0"/>
          <p:nvPr/>
        </p:nvPicPr>
        <p:blipFill>
          <a:blip r:embed="rId3">
            <a:alphaModFix/>
          </a:blip>
          <a:stretch>
            <a:fillRect/>
          </a:stretch>
        </p:blipFill>
        <p:spPr>
          <a:xfrm>
            <a:off x="539088" y="1633413"/>
            <a:ext cx="3745728" cy="2016000"/>
          </a:xfrm>
          <a:prstGeom prst="rect">
            <a:avLst/>
          </a:prstGeom>
          <a:solidFill>
            <a:schemeClr val="lt1"/>
          </a:solidFill>
          <a:ln>
            <a:noFill/>
          </a:ln>
        </p:spPr>
      </p:pic>
      <p:pic>
        <p:nvPicPr>
          <p:cNvPr id="152" name="Google Shape;152;p27"/>
          <p:cNvPicPr preferRelativeResize="0"/>
          <p:nvPr/>
        </p:nvPicPr>
        <p:blipFill>
          <a:blip r:embed="rId4">
            <a:alphaModFix/>
          </a:blip>
          <a:stretch>
            <a:fillRect/>
          </a:stretch>
        </p:blipFill>
        <p:spPr>
          <a:xfrm>
            <a:off x="4927663" y="1633425"/>
            <a:ext cx="3737664" cy="201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80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…se mantiene la conclusión que la correlación es mayor cuando hay altos incrementos de la cartera, pero en este caso no se da una correlación negativa en la crisis, como sí sucede en la cartera total</a:t>
            </a:r>
            <a:endParaRPr b="1" i="0" sz="1200" u="none" cap="none" strike="noStrike">
              <a:solidFill>
                <a:schemeClr val="dk1"/>
              </a:solidFill>
              <a:latin typeface="Georgia"/>
              <a:ea typeface="Georgia"/>
              <a:cs typeface="Georgia"/>
              <a:sym typeface="Georgia"/>
            </a:endParaRPr>
          </a:p>
        </p:txBody>
      </p:sp>
      <p:sp>
        <p:nvSpPr>
          <p:cNvPr id="158" name="Google Shape;158;p28"/>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Vencida de consumo: signo esperado y alto con la cartera…</a:t>
            </a:r>
            <a:endParaRPr/>
          </a:p>
        </p:txBody>
      </p:sp>
      <p:sp>
        <p:nvSpPr>
          <p:cNvPr id="159" name="Google Shape;159;p28"/>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60" name="Google Shape;160;p28"/>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61" name="Google Shape;161;p28"/>
          <p:cNvSpPr txBox="1"/>
          <p:nvPr/>
        </p:nvSpPr>
        <p:spPr>
          <a:xfrm>
            <a:off x="582100" y="1087325"/>
            <a:ext cx="3729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s" sz="1200">
                <a:solidFill>
                  <a:schemeClr val="dk1"/>
                </a:solidFill>
              </a:rPr>
              <a:t>CORRELACIÓN: CARTERA CONSUMO Y VENCIDA CONSUMO ADELANTADA </a:t>
            </a:r>
            <a:r>
              <a:rPr lang="es" sz="1000">
                <a:solidFill>
                  <a:schemeClr val="dk1"/>
                </a:solidFill>
              </a:rPr>
              <a:t>(VARIACIÓN ANUAL REAL, %)</a:t>
            </a:r>
            <a:endParaRPr b="0" i="0" sz="1200" u="none" cap="none" strike="noStrike">
              <a:solidFill>
                <a:schemeClr val="dk1"/>
              </a:solidFill>
              <a:latin typeface="Arial"/>
              <a:ea typeface="Arial"/>
              <a:cs typeface="Arial"/>
              <a:sym typeface="Arial"/>
            </a:endParaRPr>
          </a:p>
        </p:txBody>
      </p:sp>
      <p:cxnSp>
        <p:nvCxnSpPr>
          <p:cNvPr id="162" name="Google Shape;162;p28"/>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163" name="Google Shape;163;p28"/>
          <p:cNvSpPr txBox="1"/>
          <p:nvPr/>
        </p:nvSpPr>
        <p:spPr>
          <a:xfrm>
            <a:off x="4931700" y="1087325"/>
            <a:ext cx="3729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CORRELACIÓN: CARTERA CONSUMO Y VENCIDA CONSUMO ADELANTADA </a:t>
            </a:r>
            <a:r>
              <a:rPr b="0" i="0" lang="es" sz="1000" u="none" cap="none" strike="noStrike">
                <a:solidFill>
                  <a:schemeClr val="dk1"/>
                </a:solidFill>
                <a:latin typeface="Arial"/>
                <a:ea typeface="Arial"/>
                <a:cs typeface="Arial"/>
                <a:sym typeface="Arial"/>
              </a:rPr>
              <a:t>(</a:t>
            </a:r>
            <a:r>
              <a:rPr lang="es" sz="1000">
                <a:solidFill>
                  <a:schemeClr val="dk1"/>
                </a:solidFill>
              </a:rPr>
              <a:t>VARIACIÓN ANUAL REAL, %</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164" name="Google Shape;164;p28"/>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165" name="Google Shape;165;p28"/>
          <p:cNvSpPr txBox="1"/>
          <p:nvPr/>
        </p:nvSpPr>
        <p:spPr>
          <a:xfrm>
            <a:off x="344875" y="3854400"/>
            <a:ext cx="7973100" cy="1725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Equivale a la correlación contemporánea.</a:t>
            </a:r>
            <a:endParaRPr sz="700">
              <a:solidFill>
                <a:srgbClr val="46536D"/>
              </a:solidFill>
            </a:endParaRPr>
          </a:p>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a:t>
            </a:r>
            <a:endParaRPr sz="700">
              <a:solidFill>
                <a:srgbClr val="46536D"/>
              </a:solidFill>
            </a:endParaRPr>
          </a:p>
        </p:txBody>
      </p:sp>
      <p:pic>
        <p:nvPicPr>
          <p:cNvPr id="166" name="Google Shape;166;p28"/>
          <p:cNvPicPr preferRelativeResize="0"/>
          <p:nvPr/>
        </p:nvPicPr>
        <p:blipFill>
          <a:blip r:embed="rId3">
            <a:alphaModFix/>
          </a:blip>
          <a:stretch>
            <a:fillRect/>
          </a:stretch>
        </p:blipFill>
        <p:spPr>
          <a:xfrm>
            <a:off x="582088" y="1633413"/>
            <a:ext cx="3745728" cy="2016000"/>
          </a:xfrm>
          <a:prstGeom prst="rect">
            <a:avLst/>
          </a:prstGeom>
          <a:noFill/>
          <a:ln>
            <a:noFill/>
          </a:ln>
        </p:spPr>
      </p:pic>
      <p:pic>
        <p:nvPicPr>
          <p:cNvPr id="167" name="Google Shape;167;p28"/>
          <p:cNvPicPr preferRelativeResize="0"/>
          <p:nvPr/>
        </p:nvPicPr>
        <p:blipFill>
          <a:blip r:embed="rId4">
            <a:alphaModFix/>
          </a:blip>
          <a:stretch>
            <a:fillRect/>
          </a:stretch>
        </p:blipFill>
        <p:spPr>
          <a:xfrm>
            <a:off x="4929688" y="1651863"/>
            <a:ext cx="3733633" cy="201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80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En general, la mora hipotecaria es la que menos se relaciona con los saldos de crédito y, también, tiene una relación contraria a la esperada en períodos de bajo crecimiento del crédito</a:t>
            </a:r>
            <a:endParaRPr b="1" i="0" sz="1200" u="none" cap="none" strike="noStrike">
              <a:solidFill>
                <a:schemeClr val="dk1"/>
              </a:solidFill>
              <a:latin typeface="Georgia"/>
              <a:ea typeface="Georgia"/>
              <a:cs typeface="Georgia"/>
              <a:sym typeface="Georgia"/>
            </a:endParaRPr>
          </a:p>
        </p:txBody>
      </p:sp>
      <p:sp>
        <p:nvSpPr>
          <p:cNvPr id="173" name="Google Shape;173;p29"/>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Vencida hipotecaria: la relación que más tarda en ser alta</a:t>
            </a:r>
            <a:endParaRPr/>
          </a:p>
        </p:txBody>
      </p:sp>
      <p:sp>
        <p:nvSpPr>
          <p:cNvPr id="174" name="Google Shape;174;p29"/>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75" name="Google Shape;175;p29"/>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76" name="Google Shape;176;p29"/>
          <p:cNvSpPr txBox="1"/>
          <p:nvPr/>
        </p:nvSpPr>
        <p:spPr>
          <a:xfrm>
            <a:off x="582100" y="1087325"/>
            <a:ext cx="39462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s" sz="1200">
                <a:solidFill>
                  <a:schemeClr val="dk1"/>
                </a:solidFill>
              </a:rPr>
              <a:t>CORRELACIÓN: CARTERA HIPOTECARIA-VENCIDA HIPOTECARIA ADELANTADA </a:t>
            </a:r>
            <a:r>
              <a:rPr lang="es" sz="1000">
                <a:solidFill>
                  <a:schemeClr val="dk1"/>
                </a:solidFill>
              </a:rPr>
              <a:t>(VAR. ANUAL REAL, %)</a:t>
            </a:r>
            <a:endParaRPr b="0" i="0" sz="1200" u="none" cap="none" strike="noStrike">
              <a:solidFill>
                <a:schemeClr val="dk1"/>
              </a:solidFill>
              <a:latin typeface="Arial"/>
              <a:ea typeface="Arial"/>
              <a:cs typeface="Arial"/>
              <a:sym typeface="Arial"/>
            </a:endParaRPr>
          </a:p>
        </p:txBody>
      </p:sp>
      <p:cxnSp>
        <p:nvCxnSpPr>
          <p:cNvPr id="177" name="Google Shape;177;p29"/>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178" name="Google Shape;178;p29"/>
          <p:cNvSpPr txBox="1"/>
          <p:nvPr/>
        </p:nvSpPr>
        <p:spPr>
          <a:xfrm>
            <a:off x="4931700" y="1087325"/>
            <a:ext cx="41091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CORRELACIÓN: CARTERA HIPOTECARIA-VENCIDA HIPOTECARIA ADELANTADA </a:t>
            </a:r>
            <a:r>
              <a:rPr b="0" i="0" lang="es" sz="1000" u="none" cap="none" strike="noStrike">
                <a:solidFill>
                  <a:schemeClr val="dk1"/>
                </a:solidFill>
                <a:latin typeface="Arial"/>
                <a:ea typeface="Arial"/>
                <a:cs typeface="Arial"/>
                <a:sym typeface="Arial"/>
              </a:rPr>
              <a:t>(</a:t>
            </a:r>
            <a:r>
              <a:rPr lang="es" sz="1000">
                <a:solidFill>
                  <a:schemeClr val="dk1"/>
                </a:solidFill>
              </a:rPr>
              <a:t>VAR. ANUAL REAL, %</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179" name="Google Shape;179;p29"/>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180" name="Google Shape;180;p29"/>
          <p:cNvSpPr txBox="1"/>
          <p:nvPr/>
        </p:nvSpPr>
        <p:spPr>
          <a:xfrm>
            <a:off x="344875" y="3854400"/>
            <a:ext cx="7973100" cy="1725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Equivale a la correlación contemporánea.</a:t>
            </a:r>
            <a:endParaRPr sz="700">
              <a:solidFill>
                <a:srgbClr val="46536D"/>
              </a:solidFill>
            </a:endParaRPr>
          </a:p>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la Superintendencia Financiera.</a:t>
            </a:r>
            <a:endParaRPr sz="700">
              <a:solidFill>
                <a:srgbClr val="46536D"/>
              </a:solidFill>
            </a:endParaRPr>
          </a:p>
        </p:txBody>
      </p:sp>
      <p:pic>
        <p:nvPicPr>
          <p:cNvPr id="181" name="Google Shape;181;p29"/>
          <p:cNvPicPr preferRelativeResize="0"/>
          <p:nvPr/>
        </p:nvPicPr>
        <p:blipFill>
          <a:blip r:embed="rId3">
            <a:alphaModFix/>
          </a:blip>
          <a:stretch>
            <a:fillRect/>
          </a:stretch>
        </p:blipFill>
        <p:spPr>
          <a:xfrm>
            <a:off x="602825" y="1617138"/>
            <a:ext cx="3745728" cy="2016000"/>
          </a:xfrm>
          <a:prstGeom prst="rect">
            <a:avLst/>
          </a:prstGeom>
          <a:noFill/>
          <a:ln>
            <a:noFill/>
          </a:ln>
        </p:spPr>
      </p:pic>
      <p:pic>
        <p:nvPicPr>
          <p:cNvPr id="182" name="Google Shape;182;p29"/>
          <p:cNvPicPr preferRelativeResize="0"/>
          <p:nvPr/>
        </p:nvPicPr>
        <p:blipFill>
          <a:blip r:embed="rId4">
            <a:alphaModFix/>
          </a:blip>
          <a:stretch>
            <a:fillRect/>
          </a:stretch>
        </p:blipFill>
        <p:spPr>
          <a:xfrm>
            <a:off x="4927663" y="1603736"/>
            <a:ext cx="3737664" cy="2016000"/>
          </a:xfrm>
          <a:prstGeom prst="rect">
            <a:avLst/>
          </a:prstGeom>
          <a:solidFill>
            <a:schemeClr val="lt1"/>
          </a:solid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a:t>
            </a:r>
            <a:r>
              <a:rPr lang="es"/>
              <a:t>siguientes</a:t>
            </a:r>
            <a:r>
              <a:rPr lang="es"/>
              <a:t> variables (I: crecimiento económico)</a:t>
            </a:r>
            <a:endParaRPr/>
          </a:p>
        </p:txBody>
      </p:sp>
      <p:sp>
        <p:nvSpPr>
          <p:cNvPr id="188" name="Google Shape;188;p30"/>
          <p:cNvSpPr/>
          <p:nvPr/>
        </p:nvSpPr>
        <p:spPr>
          <a:xfrm flipH="1" rot="5400000">
            <a:off x="2981650" y="-697250"/>
            <a:ext cx="3668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0"/>
          <p:cNvSpPr/>
          <p:nvPr/>
        </p:nvSpPr>
        <p:spPr>
          <a:xfrm rot="-5400000">
            <a:off x="-1133200" y="2599900"/>
            <a:ext cx="3668700" cy="7200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90" name="Google Shape;190;p30"/>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06925"/>
                <a:gridCol w="1673075"/>
                <a:gridCol w="3359025"/>
                <a:gridCol w="1096375"/>
                <a:gridCol w="1232650"/>
              </a:tblGrid>
              <a:tr h="3905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4537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Crecimiento del PIB (t)</a:t>
                      </a:r>
                      <a:endParaRPr b="1" sz="700">
                        <a:solidFill>
                          <a:schemeClr val="lt1"/>
                        </a:solidFill>
                      </a:endParaRPr>
                    </a:p>
                    <a:p>
                      <a:pPr indent="0" lvl="0" marL="0" marR="0" rtl="0" algn="l">
                        <a:lnSpc>
                          <a:spcPct val="100000"/>
                        </a:lnSpc>
                        <a:spcBef>
                          <a:spcPts val="0"/>
                        </a:spcBef>
                        <a:spcAft>
                          <a:spcPts val="0"/>
                        </a:spcAft>
                        <a:buClr>
                          <a:srgbClr val="000000"/>
                        </a:buClr>
                        <a:buSzPts val="700"/>
                        <a:buFont typeface="Arial"/>
                        <a:buNone/>
                      </a:pPr>
                      <a:r>
                        <a:t/>
                      </a:r>
                      <a:endParaRPr b="1" sz="700">
                        <a:solidFill>
                          <a:schemeClr val="lt1"/>
                        </a:solidFill>
                      </a:endParaRPr>
                    </a:p>
                    <a:p>
                      <a:pPr indent="0" lvl="0" marL="0" marR="0" rtl="0" algn="l">
                        <a:lnSpc>
                          <a:spcPct val="100000"/>
                        </a:lnSpc>
                        <a:spcBef>
                          <a:spcPts val="0"/>
                        </a:spcBef>
                        <a:spcAft>
                          <a:spcPts val="0"/>
                        </a:spcAft>
                        <a:buClr>
                          <a:srgbClr val="000000"/>
                        </a:buClr>
                        <a:buSzPts val="700"/>
                        <a:buFont typeface="Arial"/>
                        <a:buNone/>
                      </a:pPr>
                      <a:r>
                        <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Captura el estado del ciclo: cuando el PIB crece, suben ingresos de hogares/empresas y rentabilidad, mejoran flujos de caja y valores de colateral → menor probabilidad de incumplir y de que préstamos migren a mora. Es el determinante macro más robusto en la mayoría de estudios.</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Nkusu, 2011 (26 economías avanzadas, 1998–2009); Beck, Jakubík &amp; Piloiu, 2013 (75 países, 2000 – 2010); Škarica, 2014 (7 países de CEE, 2007 – 2012); Castro, 2013 (GIPSI, 1997T1 – 2011T3); Espinoza &amp; Prasad, 2010 (GCC, bancos, 1995 – 2008); Louzis, Vouldis &amp; Metaxas, 2012 / 2010 (Grecia, bancos, 2003T1 – 2009T3), Bofondi &amp; Ropele, 2011 (Italia, 1990T1 – 2010T2); De Bock &amp; Demyanets, 2012 (25 emergentes, 1996–2010); Jakubík &amp; Reininger, 2013 (CESEE, 2004 – 2012); Messai &amp; Jouini, 2013 (Italia/Grecia/España, bancos); Sharma et al., 2024 (Reino Unido, 2005 – 2021).</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NPL (nivel) y ΔNPL (Nkusu; Beck et al.); NBL (Bofondi &amp; Ropele) Bank of Italy; logit(NPL/(1–NPL)) (Espinoza &amp; Prasad); Arrears/Household NPL (Rinaldi &amp; Sanchis ‑ Arellano)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 más crecimiento ⇒ menos mora/NPL. Sustentado en paneles globales y regionales.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32740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Crecimiento del PIB (rezagado)</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Se incluye para capturar rezagos entre ciclo y deterioro: 1) la materialización de impagos ocurre con atraso tras </a:t>
                      </a:r>
                      <a:r>
                        <a:rPr i="1" lang="es" sz="800">
                          <a:solidFill>
                            <a:schemeClr val="dk1"/>
                          </a:solidFill>
                        </a:rPr>
                        <a:t>shocks </a:t>
                      </a:r>
                      <a:r>
                        <a:rPr lang="es" sz="800">
                          <a:solidFill>
                            <a:schemeClr val="dk1"/>
                          </a:solidFill>
                        </a:rPr>
                        <a:t>de actividad; 2) durante los auges pueden relajarse estándares de crédito y sembrarse incumplimientos que afloran después (efecto “siembra de mora”).</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Beck, Jakubík &amp; Piloiu, 2013 (75 países) – encuentran PIB(t) negativo y PIB(t–1) positivo, con efecto neto (t + t–1) negativo; interpretan el signo positivo rezagado como relajación crediticia en el auge; Jiménez &amp; Saurina, 2005/2006 (España) – evidencia de relación positiva, aunque rezagada, entre expansiones crediticias y pérdidas/PD posteriores; Salas &amp; Saurina, 1999b/2002 (España) – documentan lags sustanciales entre crecimiento del crédito y aparición de préstamos problemáticos; Bofondi &amp; Ropele, 2011 (Italia) – los determinantes macro afectan el NBL con diferentes rezagos según carteras; el PIB explica parte importante del aumento de NBL de hogares en la crisis; Jakubík &amp; Reininger, 2013 (CESEE) – discuten un efecto de “denominador” de corto plazo (negativo) y un efecto ciclo‑crédito de mediano plazo (positivo) sobre NPL; ambos pueden coexistir; Castro, 2013 (GIPSI) – especificaciones dinámicas con lags confirman sensibilidad de riesgo a la actividad.</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Igual que arriba (NPL; ΔNPL; NBL; logit(NPL); arrears), pero con PIB en rezagos.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Ambiguo</a:t>
                      </a:r>
                      <a:r>
                        <a:rPr lang="es" sz="800">
                          <a:solidFill>
                            <a:schemeClr val="dk1"/>
                          </a:solidFill>
                        </a:rPr>
                        <a:t>: en recesiones persistentes, el signo tiende a (–); si el rezago captura el efecto de expansiones previas con estándares laxos, puede salir (+). El consenso práctico es que el impacto total del PIB (sumando contemporáneo y rezagados) es negativo sobre NPL.</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(II: desempleo)</a:t>
            </a:r>
            <a:endParaRPr/>
          </a:p>
        </p:txBody>
      </p:sp>
      <p:sp>
        <p:nvSpPr>
          <p:cNvPr id="196" name="Google Shape;196;p31"/>
          <p:cNvSpPr/>
          <p:nvPr/>
        </p:nvSpPr>
        <p:spPr>
          <a:xfrm flipH="1" rot="5400000">
            <a:off x="2981650" y="-697250"/>
            <a:ext cx="3668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1"/>
          <p:cNvSpPr/>
          <p:nvPr/>
        </p:nvSpPr>
        <p:spPr>
          <a:xfrm rot="-5400000">
            <a:off x="-1133200" y="2599900"/>
            <a:ext cx="3668700" cy="7200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98" name="Google Shape;198;p31"/>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06925"/>
                <a:gridCol w="1673075"/>
                <a:gridCol w="3359025"/>
                <a:gridCol w="1096375"/>
                <a:gridCol w="1232650"/>
              </a:tblGrid>
              <a:tr h="3905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4537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Desempleo</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Resume la holgura del mercado laboral: cuando sube el desempleo caen los ingresos y aumenta el riesgo de incumplimiento en hogares (pérdida del empleo, menor liquidez) y empresas (menor demanda, presión en flujos de caja). Suele mostrar efecto contemporáneo importante porque la pérdida de empleo repercute rápido en la capacidad de pago. Pero, también puede tener efecto rezagado pues tras un choque laboral, los impagos suelen aflorar con cierto atraso (agotamiento de colchones, caída de ingresos sostenida, resolución de garantías). </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Contemporáneo:</a:t>
                      </a:r>
                      <a:endParaRPr sz="800">
                        <a:solidFill>
                          <a:schemeClr val="dk1"/>
                        </a:solidFill>
                      </a:endParaRPr>
                    </a:p>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Nkusu, 2011 (26 economías avanzadas, 1998–2009) ; Skarica, 2014 (7 países CEE, 2007T3–2012T3) ; Louzis, Vouldis &amp; Metaxas, 2012 (Grecia—bancos, 2003T1–2009T3) ; Bofondi &amp; Ropele, 2011 (Italia—bancos, 1990T1–2010T2) ; Makri, Tsagkanos &amp; Bellas, 2014 (Eurozona, 2000–2008) ; Klein, 2013 (CESEE, 1998–2011) ; Messai &amp; Jouini, 2013 (Italia/Grecia/España—bancos, 2004–2008) ; Rinaldi &amp; Sanchis‑Arellano, 2006 (Zona del euro—hogares)</a:t>
                      </a:r>
                      <a:endParaRPr sz="800">
                        <a:solidFill>
                          <a:schemeClr val="dk1"/>
                        </a:solidFill>
                      </a:endParaRPr>
                    </a:p>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Con rezago:</a:t>
                      </a:r>
                      <a:endParaRPr sz="800">
                        <a:solidFill>
                          <a:schemeClr val="dk1"/>
                        </a:solidFill>
                      </a:endParaRPr>
                    </a:p>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Skarica, 2014 (7 países CEE, 2007T3–2012T3) ; Baboucek &amp; Jancar, 2005 (República Checa, 1993–2004) ; Klein, 2013 (CESEE, 1998–2011); Makri, Tsagkanos &amp; Bellas, 2014 (Eurozona, 2000–2008) ; Rinaldi &amp; Sanchis‑Arellano, 2006 (Zona del euro—hogares)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NPL (ratio agregado, panel) ; ΔNPL (cambio en el ratio) ; NPL por tipo de cartera (consumo/empresas/hipotecario, bancos) ; NBL (ratio de nuevos malos) ; NPL (ratio) ; NPL (ratio, país y banco) ; NPL (ratio, bancos) ; Atrasos/arrears de hogares (probabilidad/tasa)</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Contemporáneo: </a:t>
                      </a:r>
                      <a:endParaRPr sz="800">
                        <a:solidFill>
                          <a:schemeClr val="dk1"/>
                        </a:solidFill>
                      </a:endParaRPr>
                    </a:p>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 Mayor desempleo ⇒ mayor mora/NPL. Evidencia robusta en paneles globales, regionales y por país. Matiz: en entornos donde el desempleo casi no varía (p. ej., varios países del GCC) a veces no se incluye por falta de poder estadístico.</a:t>
                      </a:r>
                      <a:endParaRPr sz="800">
                        <a:solidFill>
                          <a:schemeClr val="dk1"/>
                        </a:solidFill>
                      </a:endParaRPr>
                    </a:p>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Con rezago: </a:t>
                      </a:r>
                      <a:endParaRPr sz="800">
                        <a:solidFill>
                          <a:schemeClr val="dk1"/>
                        </a:solidFill>
                      </a:endParaRPr>
                    </a:p>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 pero, hay estudios donde el impacto principal es contemporáneo y el rezago resulta pequeño o no significativo.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(III: inflación y tasa de política)</a:t>
            </a:r>
            <a:endParaRPr/>
          </a:p>
        </p:txBody>
      </p:sp>
      <p:sp>
        <p:nvSpPr>
          <p:cNvPr id="204" name="Google Shape;204;p32"/>
          <p:cNvSpPr/>
          <p:nvPr/>
        </p:nvSpPr>
        <p:spPr>
          <a:xfrm flipH="1" rot="5400000">
            <a:off x="2981650" y="-697250"/>
            <a:ext cx="3668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2"/>
          <p:cNvSpPr/>
          <p:nvPr/>
        </p:nvSpPr>
        <p:spPr>
          <a:xfrm rot="-5400000">
            <a:off x="-1133200" y="2599900"/>
            <a:ext cx="3668700" cy="7200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06" name="Google Shape;206;p32"/>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06925"/>
                <a:gridCol w="1673075"/>
                <a:gridCol w="3359025"/>
                <a:gridCol w="1096375"/>
                <a:gridCol w="1232650"/>
              </a:tblGrid>
              <a:tr h="3905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4537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Inflación</a:t>
                      </a:r>
                      <a:endParaRPr b="1" sz="700">
                        <a:solidFill>
                          <a:schemeClr val="lt1"/>
                        </a:solidFill>
                      </a:endParaRPr>
                    </a:p>
                    <a:p>
                      <a:pPr indent="0" lvl="0" marL="0" marR="0" rtl="0" algn="l">
                        <a:lnSpc>
                          <a:spcPct val="100000"/>
                        </a:lnSpc>
                        <a:spcBef>
                          <a:spcPts val="0"/>
                        </a:spcBef>
                        <a:spcAft>
                          <a:spcPts val="0"/>
                        </a:spcAft>
                        <a:buClr>
                          <a:srgbClr val="000000"/>
                        </a:buClr>
                        <a:buSzPts val="700"/>
                        <a:buFont typeface="Arial"/>
                        <a:buNone/>
                      </a:pPr>
                      <a:r>
                        <a:t/>
                      </a:r>
                      <a:endParaRPr b="1" sz="700">
                        <a:solidFill>
                          <a:schemeClr val="lt1"/>
                        </a:solidFill>
                      </a:endParaRPr>
                    </a:p>
                    <a:p>
                      <a:pPr indent="0" lvl="0" marL="0" marR="0" rtl="0" algn="l">
                        <a:lnSpc>
                          <a:spcPct val="100000"/>
                        </a:lnSpc>
                        <a:spcBef>
                          <a:spcPts val="0"/>
                        </a:spcBef>
                        <a:spcAft>
                          <a:spcPts val="0"/>
                        </a:spcAft>
                        <a:buClr>
                          <a:srgbClr val="000000"/>
                        </a:buClr>
                        <a:buSzPts val="700"/>
                        <a:buFont typeface="Arial"/>
                        <a:buNone/>
                      </a:pPr>
                      <a:r>
                        <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La inflación reduce el ingreso real de hogares/empresas y, con salarios rígidos, deteriora la capacidad de pago; además suele inducir alzas de tasas nominales (canal servicio de deuda). Puede atenuar la carga real de deudas a tasa fija, pero en la práctica el endurecimiento monetario y la indexación dominan.</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Nkusu, 2011 (26 economías avanzadas, 1998–2009); Klein, 2013 (CESEE, 1998–2011, bancos); Škarica, 2014 (7 países CEE, 2007T3–2012T3); Rinaldi &amp; Sanchis‑Arellano, 2006 (área del euro—hogares, 1989T3–2004T2); Louzis, Vouldis &amp; Metaxas, 2012 (Grecia—bancos, 2003T1–2009T3).</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NPL (ratio agregado, panel); NPL/impaired loans (ratio bancario); NPL (ratio país); Arrears/NPL de hogares (ratio); NPL por cartera (hipotecario/empresarial/consumo)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 La evidencia de panel multirregional encuentra efecto positivo y significativo; algunos trabajos señalan ambigüedad teórica si hay contratos a tasa fija o indexación incompleta, pero empíricamente domina el efecto adverso.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1413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Tasa de interés de política</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Aumenta el costo de servicio de deuda (préstamos a tasa variable y repricing), enfría actividad y liquidez, y empeora flujos de caja. El efecto puede llegar con rezagos.</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Bofondi &amp; Ropele, 2011 (Italia, 1990T1–2010T2); Espinoza &amp; Prasad, 2010 (GCC, ~80 bancos, 1995–2008); Nkusu, 2011 (26 economías avanzadas, 1998–2009)</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NBL (nuevas entradas a mora, razón sobre stock); NPL (logit del ratio bancario); NPL (ratio agregado/panel)</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a:t>
                      </a:r>
                      <a:r>
                        <a:rPr lang="es" sz="800">
                          <a:solidFill>
                            <a:schemeClr val="dk1"/>
                          </a:solidFill>
                        </a:rPr>
                        <a:t> Para hogares en Italia, el corto plazo nominal es uno de los impulsores más robustos con rezago de 3 trimestres). En panel bancario GCC, subas de tasas elevan NPL; en avanzadas, el canal monetario aparece en los VAR.</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07" name="Google Shape;207;p32"/>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(IV: tasas de interés y de cambio)</a:t>
            </a:r>
            <a:endParaRPr/>
          </a:p>
        </p:txBody>
      </p:sp>
      <p:sp>
        <p:nvSpPr>
          <p:cNvPr id="213" name="Google Shape;213;p33"/>
          <p:cNvSpPr/>
          <p:nvPr/>
        </p:nvSpPr>
        <p:spPr>
          <a:xfrm flipH="1" rot="5400000">
            <a:off x="2981650" y="-697250"/>
            <a:ext cx="3668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3"/>
          <p:cNvSpPr/>
          <p:nvPr/>
        </p:nvSpPr>
        <p:spPr>
          <a:xfrm rot="-5400000">
            <a:off x="-1133200" y="2599900"/>
            <a:ext cx="3668700" cy="7200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15" name="Google Shape;215;p33"/>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06925"/>
                <a:gridCol w="1673075"/>
                <a:gridCol w="3359025"/>
                <a:gridCol w="1096375"/>
                <a:gridCol w="1232650"/>
              </a:tblGrid>
              <a:tr h="3905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45377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Tasa de interés de préstamo</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Traslada la política monetaria y el riesgo país a la tasa de crédito, elevando la cuota y la probabilidad de impago; resume condiciones financieras internas</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Beck, Jakubík &amp; Piloiu, 2013 (75 países, década de 2000); Louzis, Vouldis &amp; Metaxas, 2012 (Grecia—bancos); Berge &amp; Boye, 2007 (países nórdicos, 1993–2005)</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NPL (ratio, global/ panel); NPL por cartera (hipotecario/ empresarial/consumo); créditos en problema</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a:t>
                      </a:r>
                      <a:r>
                        <a:rPr lang="es" sz="800">
                          <a:solidFill>
                            <a:schemeClr val="dk1"/>
                          </a:solidFill>
                        </a:rPr>
                        <a:t> En muestras globales es significativo; en nórdicos, problemas de cartera son “altamente sensibles” a esta tasa.</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453775">
                <a:tc>
                  <a:txBody>
                    <a:bodyPr/>
                    <a:lstStyle/>
                    <a:p>
                      <a:pPr indent="0" lvl="0" marL="0" marR="0" rtl="0" algn="l">
                        <a:lnSpc>
                          <a:spcPct val="100000"/>
                        </a:lnSpc>
                        <a:spcBef>
                          <a:spcPts val="0"/>
                        </a:spcBef>
                        <a:spcAft>
                          <a:spcPts val="0"/>
                        </a:spcAft>
                        <a:buNone/>
                      </a:pPr>
                      <a:r>
                        <a:rPr b="1" lang="es" sz="700">
                          <a:solidFill>
                            <a:schemeClr val="lt1"/>
                          </a:solidFill>
                        </a:rPr>
                        <a:t>Tasa de interés real</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None/>
                      </a:pPr>
                      <a:r>
                        <a:rPr lang="es" sz="800">
                          <a:solidFill>
                            <a:schemeClr val="dk1"/>
                          </a:solidFill>
                        </a:rPr>
                        <a:t>Es la tasa relevante para el flujo real de pagos; al aumentar, encarece el servicio real y deprime demanda/inversión, aumentando defaults, en especial en hogares con deuda a tasa variable.</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800">
                          <a:solidFill>
                            <a:schemeClr val="dk1"/>
                          </a:solidFill>
                        </a:rPr>
                        <a:t>Rinaldi &amp; Sanchis‑Arellano, 2006 (área del euro—hogares, 1989T3–2004T2); Messai &amp; Jouini, 2013 (Italia‑Grecia‑España, bancos, 2004–2008); Berge &amp; Boye, 2007 (nórdicos, 1993–2005)</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800">
                          <a:solidFill>
                            <a:schemeClr val="dk1"/>
                          </a:solidFill>
                        </a:rPr>
                        <a:t>Atrasos/ NPL de hogares (ratio); NPL (ratio bancario); Problem loans (ratio bancario)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s" sz="800">
                          <a:solidFill>
                            <a:schemeClr val="dk1"/>
                          </a:solidFill>
                        </a:rPr>
                        <a:t>(+)</a:t>
                      </a:r>
                      <a:r>
                        <a:rPr lang="es" sz="800">
                          <a:solidFill>
                            <a:schemeClr val="dk1"/>
                          </a:solidFill>
                        </a:rPr>
                        <a:t>: en estudios de hogares y a nivel bancario en Europa del Sur empeora morosidad; sensibilidad elevada en nórdicos junto con desempleo</a:t>
                      </a:r>
                      <a:r>
                        <a:rPr lang="es" sz="800">
                          <a:solidFill>
                            <a:schemeClr val="dk1"/>
                          </a:solidFill>
                        </a:rPr>
                        <a:t>.</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1413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Tipo de cambio</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Vía contable: depreciación sube servicio de deuda en moneda extranjera para deudores descalzados (↑NPL). Vía competitividad: depreciación mejora ingresos de exportadores (↓NPL). El signo depende de dolarización y cobertura.</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Beck, Jakubík &amp; Piloiu, 2013 (75 países); Conto, Villada &amp; Rendón, 2019 </a:t>
                      </a:r>
                      <a:r>
                        <a:rPr lang="es" sz="800">
                          <a:solidFill>
                            <a:schemeClr val="dk1"/>
                          </a:solidFill>
                        </a:rPr>
                        <a:t>(Colombia); </a:t>
                      </a:r>
                      <a:r>
                        <a:rPr lang="es" sz="800">
                          <a:solidFill>
                            <a:schemeClr val="dk1"/>
                          </a:solidFill>
                        </a:rPr>
                        <a:t>Klein, 2013 (CESEE, 1998–2011); Jakubík &amp; Reininger, 2013 (CESEE, 1999–2011); Khemraj &amp; Pasha, 2009 (Guyana, bancos)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NPL (ratio, global/panel); NPL/impaired loans (ratio bancario); NPL (ratio país—panel CESEE); NPL (ratio país/bancos)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Ambiguo</a:t>
                      </a:r>
                      <a:r>
                        <a:rPr lang="es" sz="800">
                          <a:solidFill>
                            <a:schemeClr val="dk1"/>
                          </a:solidFill>
                        </a:rPr>
                        <a:t>: en muestras globales, el canal competitividad puede dominar donde no hay descalces. En Colombia, CESEE y economías con préstamos en FX a no cubiertos, el signo es positivo.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16" name="Google Shape;216;p33"/>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(V: precio de activos y otros)</a:t>
            </a:r>
            <a:endParaRPr/>
          </a:p>
        </p:txBody>
      </p:sp>
      <p:sp>
        <p:nvSpPr>
          <p:cNvPr id="222" name="Google Shape;222;p34"/>
          <p:cNvSpPr/>
          <p:nvPr/>
        </p:nvSpPr>
        <p:spPr>
          <a:xfrm flipH="1" rot="5400000">
            <a:off x="3207700" y="-923275"/>
            <a:ext cx="32166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4"/>
          <p:cNvSpPr/>
          <p:nvPr/>
        </p:nvSpPr>
        <p:spPr>
          <a:xfrm rot="-5400000">
            <a:off x="-907150" y="2373875"/>
            <a:ext cx="3216600" cy="7200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24" name="Google Shape;224;p34"/>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06925"/>
                <a:gridCol w="1673075"/>
                <a:gridCol w="3359025"/>
                <a:gridCol w="1096375"/>
                <a:gridCol w="1232650"/>
              </a:tblGrid>
              <a:tr h="18770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615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Precio de la vivienda</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Aumenta valor de colateral y riqueza de hogares, facilita refinanciación y reduce pérdidas dadas las garantías; caídas de precios erosionan buffers y elevan mora.</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Rinaldi &amp; Sanchis‑Arellano, 2006 (área del euro—hogares); Bofondi &amp; Ropele, 2011 (Italia, 1990–2010); Nkusu, 2011 (26 avanzadas, 1998–2009)</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Atrasos/ NPL de hogares (ratio); NBL (ratio nuevas entradas); NPL (ratio agregado/panel)</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a:t>
                      </a:r>
                      <a:r>
                        <a:rPr lang="es" sz="800">
                          <a:solidFill>
                            <a:schemeClr val="dk1"/>
                          </a:solidFill>
                        </a:rPr>
                        <a:t>. Puede ser con rezago.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Precio de acciones / índice bursátil</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Mide condiciones financieras y riqueza; caídas bursátiles anticipan recesiones y deterioran garantías y flujos corporativos.</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Beck, Jakubík &amp; Piloiu, 2013 (75 países); Espinoza &amp; Prasad, 2010 (GCC, bancos); Jakubík &amp; Reininger, 2013 (CESEE)</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NPL (ratio, global/panel); NPL (logit del ratio bancario); NPL (ratio país—panel CESEE)</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Ambiguo</a:t>
                      </a:r>
                      <a:r>
                        <a:rPr lang="es" sz="800">
                          <a:solidFill>
                            <a:schemeClr val="dk1"/>
                          </a:solidFill>
                        </a:rPr>
                        <a:t>. </a:t>
                      </a:r>
                      <a:r>
                        <a:rPr lang="es" sz="800">
                          <a:solidFill>
                            <a:schemeClr val="dk1"/>
                          </a:solidFill>
                        </a:rPr>
                        <a:t>Efecto más fuerte donde los mercados bursátiles son grandes respecto al PIB; captura tanto canal de riqueza como condiciones financieras amplias.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None/>
                      </a:pPr>
                      <a:r>
                        <a:rPr b="1" lang="es" sz="700">
                          <a:solidFill>
                            <a:schemeClr val="lt1"/>
                          </a:solidFill>
                        </a:rPr>
                        <a:t>Otros (macro‑ financieros)</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None/>
                      </a:pPr>
                      <a:r>
                        <a:rPr lang="es" sz="800">
                          <a:solidFill>
                            <a:schemeClr val="dk1"/>
                          </a:solidFill>
                        </a:rPr>
                        <a:t>Factores globales y externos alteran calidad crediticia: apetito global por riesgo, términos de intercambio, crecimiento de socios, flujos de capital.</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Klein, 2013 (CESEE—incluye VIX y crecimiento del área del euro); De Bock &amp; Demyanets, 2012 (EMs—términos de intercambio, flujos de cartera)</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NPL/impaired loans (ratio bancario); NPL (ratio/panel)</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b="1" lang="es" sz="800">
                          <a:solidFill>
                            <a:schemeClr val="dk1"/>
                          </a:solidFill>
                        </a:rPr>
                        <a:t>VIX (+)</a:t>
                      </a:r>
                      <a:r>
                        <a:rPr b="1" lang="es" sz="800">
                          <a:solidFill>
                            <a:schemeClr val="dk1"/>
                          </a:solidFill>
                        </a:rPr>
                        <a:t>; Términos de intercambio y choques financieros (−); Crecimiento externo (−)</a:t>
                      </a:r>
                      <a:endParaRPr b="1"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25" name="Google Shape;225;p34"/>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(VI: crédito y persistencia)</a:t>
            </a:r>
            <a:endParaRPr/>
          </a:p>
        </p:txBody>
      </p:sp>
      <p:sp>
        <p:nvSpPr>
          <p:cNvPr id="231" name="Google Shape;231;p35"/>
          <p:cNvSpPr/>
          <p:nvPr/>
        </p:nvSpPr>
        <p:spPr>
          <a:xfrm flipH="1" rot="5400000">
            <a:off x="3533650" y="-1249325"/>
            <a:ext cx="2564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5"/>
          <p:cNvSpPr/>
          <p:nvPr/>
        </p:nvSpPr>
        <p:spPr>
          <a:xfrm rot="-5400000">
            <a:off x="-547450" y="2014075"/>
            <a:ext cx="2564700" cy="7875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33" name="Google Shape;233;p35"/>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92425"/>
                <a:gridCol w="1587575"/>
                <a:gridCol w="3359025"/>
                <a:gridCol w="1096375"/>
                <a:gridCol w="1232650"/>
              </a:tblGrid>
              <a:tr h="18770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615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Crecimiento del crédito</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Episodios de auge crediticio suelen ir seguidos de peores estándares y mayor mora con rezago (selección adversa/ relajamiento), tanto a nivel agregado como bancario.</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Salas &amp; Saurina, 2002 (España, bancos, 1985–1997); Jiménez &amp; Saurina, 2005 (España, 23 millones de préstamos); De Bock &amp; Demyanets, 2012 (EMs, 1996–2010); Glen &amp; Mondragón‑Vélez, 2011 (economías en desarrollo, 1996–2008); Espinoza &amp; Prasad, 2010 (GCC, bancos)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NPL/ créditos con problemas; Probabilidad de default (micro‑préstamo); Provisiones por pérdidas.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 con rezagos. Evidencia robusta. A nivel país, menor crecimiento y salidas de capital amplifican el deterioro de calidad.</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NPL rezagado (persistencia)</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Captura inercia y fricciones: procesos de recuperación largos, reconocimiento contable gradual y efectos reputacionales/legales que hacen persistir la morosidad.</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Nkusu, 2011 (26 avanzadas, 1998–2009); Beck, Jakubík &amp; Piloiu, 2013 (75 países); Espinoza &amp; Prasad, 2010 (GCC, bancos); Louzis, Vouldis &amp; Metaxas, 2012 (Grecia—bancos)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NPL (ratio/panel); NPL (ratio/panel); NPL (logit); NPL por cartera (panel bancario)</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 </a:t>
                      </a:r>
                      <a:r>
                        <a:rPr lang="es" sz="800">
                          <a:solidFill>
                            <a:schemeClr val="dk1"/>
                          </a:solidFill>
                        </a:rPr>
                        <a:t>Coeficientes autorregresivos altos (≈0,6–0,9) en paneles dinámicos: los shocks de NPL son persistentes por varios años.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34" name="Google Shape;234;p35"/>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(VII: variables bancarias)</a:t>
            </a:r>
            <a:endParaRPr/>
          </a:p>
        </p:txBody>
      </p:sp>
      <p:sp>
        <p:nvSpPr>
          <p:cNvPr id="240" name="Google Shape;240;p36"/>
          <p:cNvSpPr/>
          <p:nvPr/>
        </p:nvSpPr>
        <p:spPr>
          <a:xfrm flipH="1" rot="5400000">
            <a:off x="2981650" y="-697250"/>
            <a:ext cx="3668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6"/>
          <p:cNvSpPr/>
          <p:nvPr/>
        </p:nvSpPr>
        <p:spPr>
          <a:xfrm rot="-5400000">
            <a:off x="-1083400" y="2550100"/>
            <a:ext cx="3668700" cy="8196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42" name="Google Shape;242;p36"/>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722625"/>
                <a:gridCol w="1557375"/>
                <a:gridCol w="3359025"/>
                <a:gridCol w="1096375"/>
                <a:gridCol w="1232650"/>
              </a:tblGrid>
              <a:tr h="18770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615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Rentabilidad (ROA/ROE)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Proxy</a:t>
                      </a:r>
                      <a:r>
                        <a:rPr lang="es" sz="800">
                          <a:solidFill>
                            <a:schemeClr val="dk1"/>
                          </a:solidFill>
                        </a:rPr>
                        <a:t> de calidad de gestión/ eficiencia y capacidad de absorber pérdidas: bancos más rentables tienden a seleccionar/ monitorizar mejor y acumulan colchones que reducen NPL (peor gestión → más NPL).</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Louzis, Vouldis &amp; Metaxas, 2012 (Grecia—bancos, por carteras); Klein, 2013 (CESEE—bancos, 1998–2011); Messai &amp; Jouini, 2013 (Italia/Grecia/España—85 bancos); Makri, Tsagkanos &amp; Bellas, 2014 (Eurozona—14 países, agregado); Ćurak, Pepur &amp; Poposki, 2013 (Europa Sudoriental—69 bancos).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ΔNPL ratio por cartera (dinámica, GMM); NPL ratio (panel); NPL/total préstamos (panel); NPL rate agregado (diff‑GMM); NPL ratio (panel GMM).</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t>
                      </a:r>
                      <a:r>
                        <a:rPr lang="es" sz="800">
                          <a:solidFill>
                            <a:schemeClr val="dk1"/>
                          </a:solidFill>
                        </a:rPr>
                        <a:t> mayor rentabilidad → menor NPL. Evidencia amplia y robusta. Algunos discuten causalidad inversa (NPL reducen beneficios).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Capitalización (equity/ activos; CAR; Tier‑1)</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Colchón de pérdida y disciplina (menos incentivos de riesgo/moral hazard). Más capital reduce la propensión a pérdidas crediticias.</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Klein, 2013 (CESEE—bancos); Makri, Tsagkanos &amp; Bellas, 2014 (Eurozona—agregado); Salas &amp; Saurina, 2002 (España—bancos comerciales y de ahorro).</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NPL ratio (panel); NPL rate agregado; ratio de préstamos problemáticos.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 </a:t>
                      </a:r>
                      <a:r>
                        <a:rPr lang="es" sz="800">
                          <a:solidFill>
                            <a:schemeClr val="dk1"/>
                          </a:solidFill>
                        </a:rPr>
                        <a:t>mayor capitalización → menor NPL. En muestras específicas puede ser no significativo.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None/>
                      </a:pPr>
                      <a:r>
                        <a:rPr b="1" lang="es" sz="700">
                          <a:solidFill>
                            <a:schemeClr val="lt1"/>
                          </a:solidFill>
                        </a:rPr>
                        <a:t>Ineficiencia operativa (cost‑to‑income o eficiencia de costos)</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None/>
                      </a:pPr>
                      <a:r>
                        <a:rPr lang="es" sz="800">
                          <a:solidFill>
                            <a:schemeClr val="dk1"/>
                          </a:solidFill>
                        </a:rPr>
                        <a:t>Hipótesis de “</a:t>
                      </a:r>
                      <a:r>
                        <a:rPr i="1" lang="es" sz="800">
                          <a:solidFill>
                            <a:schemeClr val="dk1"/>
                          </a:solidFill>
                        </a:rPr>
                        <a:t>bad management</a:t>
                      </a:r>
                      <a:r>
                        <a:rPr lang="es" sz="800">
                          <a:solidFill>
                            <a:schemeClr val="dk1"/>
                          </a:solidFill>
                        </a:rPr>
                        <a:t>”: mayor ineficiencia se asocia a peores procesos de originación/ seguimiento y más NPL. Canal “</a:t>
                      </a:r>
                      <a:r>
                        <a:rPr i="1" lang="es" sz="800">
                          <a:solidFill>
                            <a:schemeClr val="dk1"/>
                          </a:solidFill>
                        </a:rPr>
                        <a:t>skimping</a:t>
                      </a:r>
                      <a:r>
                        <a:rPr lang="es" sz="800">
                          <a:solidFill>
                            <a:schemeClr val="dk1"/>
                          </a:solidFill>
                        </a:rPr>
                        <a:t>” (exceso de eficiencia por recorte de controles sube NPL), es menos frecuente.</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Berger &amp; DeYoung, 1997 (EE. UU.—bancos comerciales); Podpiera &amp; Weill, 2008 (Rep. Checa—bancos); Louzis, Vouldis &amp; Metaxas, 2012 (Grecia—bancos, por carteras); Klein, 2013 (CESEE—bancos).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NPA/NPL ratio (panel); NPL ratio; ΔNPL por cartera (GMM); NPL ratio (panel).</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b="1" lang="es" sz="800">
                          <a:solidFill>
                            <a:schemeClr val="dk1"/>
                          </a:solidFill>
                        </a:rPr>
                        <a:t>(+): </a:t>
                      </a:r>
                      <a:r>
                        <a:rPr lang="es" sz="800">
                          <a:solidFill>
                            <a:schemeClr val="dk1"/>
                          </a:solidFill>
                        </a:rPr>
                        <a:t>ineficiencia precede NPL. </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43" name="Google Shape;243;p36"/>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(VIII: variables bancarias)</a:t>
            </a:r>
            <a:endParaRPr/>
          </a:p>
        </p:txBody>
      </p:sp>
      <p:sp>
        <p:nvSpPr>
          <p:cNvPr id="249" name="Google Shape;249;p37"/>
          <p:cNvSpPr/>
          <p:nvPr/>
        </p:nvSpPr>
        <p:spPr>
          <a:xfrm flipH="1" rot="5400000">
            <a:off x="3254650" y="-970350"/>
            <a:ext cx="3122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7"/>
          <p:cNvSpPr/>
          <p:nvPr/>
        </p:nvSpPr>
        <p:spPr>
          <a:xfrm rot="-5400000">
            <a:off x="-860200" y="2326800"/>
            <a:ext cx="3122700" cy="7200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51" name="Google Shape;251;p37"/>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06925"/>
                <a:gridCol w="1673075"/>
                <a:gridCol w="3359025"/>
                <a:gridCol w="1096375"/>
                <a:gridCol w="1232650"/>
              </a:tblGrid>
              <a:tr h="18770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615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Tamaño del banco (log de activos/ cuota)</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Efectos contrapuestos: (i) diversificación/recursos (tamaño ↓ NPL) vs (ii) </a:t>
                      </a:r>
                      <a:r>
                        <a:rPr i="1" lang="es" sz="800">
                          <a:solidFill>
                            <a:schemeClr val="dk1"/>
                          </a:solidFill>
                        </a:rPr>
                        <a:t>moral hazard</a:t>
                      </a:r>
                      <a:r>
                        <a:rPr lang="es" sz="800">
                          <a:solidFill>
                            <a:schemeClr val="dk1"/>
                          </a:solidFill>
                        </a:rPr>
                        <a:t>/ demasiado‑grande (tamaño ↑ toma de riesgo).</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Ćurak, Pepur &amp; Poposki, 2013 (Europa Sudoriental—bancos); Rajan &amp; Dhal, 2003 (India—banca pública); Louzis, Vouldis &amp; Metaxas, 2012 (Grecia—bancos; mercado/participación para cartera empresarial); revisión global 2023 (múltiples países).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NPL ratio (panel); NPL/problem loans (panel); ΔNPL por cartera; NPL ratio (estudios multi‑país).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Ambiguo: </a:t>
                      </a:r>
                      <a:r>
                        <a:rPr lang="es" sz="800">
                          <a:solidFill>
                            <a:schemeClr val="dk1"/>
                          </a:solidFill>
                        </a:rPr>
                        <a:t>negativo o no significativo con frecuencia; positivo en algunas muestras/ países. </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Capitalización (equity/ activos; CAR; Tier‑1)</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Colchón de pérdida y disciplina (menos incentivos de riesgo/moral hazard). Más capital reduce la propensión a pérdidas crediticias.</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Klein, 2013 (CESEE—bancos); Makri, Tsagkanos &amp; Bellas, 2014 (Eurozona—agregado); Salas &amp; Saurina, 2002 (España—bancos comerciales y de ahorro).</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NPL ratio (panel); NPL rate agregado; ratio de préstamos problemáticos.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 </a:t>
                      </a:r>
                      <a:r>
                        <a:rPr lang="es" sz="800">
                          <a:solidFill>
                            <a:schemeClr val="dk1"/>
                          </a:solidFill>
                        </a:rPr>
                        <a:t>mayor capitalización → menor NPL. En muestras específicas puede ser no significativo.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None/>
                      </a:pPr>
                      <a:r>
                        <a:rPr b="1" lang="es" sz="700">
                          <a:solidFill>
                            <a:schemeClr val="lt1"/>
                          </a:solidFill>
                        </a:rPr>
                        <a:t>Liquidez/ </a:t>
                      </a:r>
                      <a:r>
                        <a:rPr b="1" i="1" lang="es" sz="700">
                          <a:solidFill>
                            <a:schemeClr val="lt1"/>
                          </a:solidFill>
                        </a:rPr>
                        <a:t>Funding</a:t>
                      </a:r>
                      <a:r>
                        <a:rPr b="1" lang="es" sz="700">
                          <a:solidFill>
                            <a:schemeClr val="lt1"/>
                          </a:solidFill>
                        </a:rPr>
                        <a:t> (activos líquidos/ activos; </a:t>
                      </a:r>
                      <a:r>
                        <a:rPr b="1" i="1" lang="es" sz="700">
                          <a:solidFill>
                            <a:schemeClr val="lt1"/>
                          </a:solidFill>
                        </a:rPr>
                        <a:t>loan‑ to‑ deposit ratio (LDR)</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None/>
                      </a:pPr>
                      <a:r>
                        <a:rPr lang="es" sz="800">
                          <a:solidFill>
                            <a:schemeClr val="dk1"/>
                          </a:solidFill>
                        </a:rPr>
                        <a:t>Mayor liquidez favorece resiliencia y capacidad de gestión de shocks; en cambio, LDR elevadas reflejan pujanza del crédito/menor colchón de fondeo y pueden asociarse a más NPL posteriores.</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Makri, Tsagkanos &amp; Bellas, 2014 (Eurozona—incluye LDR); Anastasiou, Louri &amp; Tsionas, 2016 (Eurozona—LDR como proxy de riesgo de gestión); Mohanty, Das &amp; Kumar, 2018 (India—incluye credit‑deposit ratio); Salas &amp; Saurina, 2002 (España—conjunto de ratios bancarios).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NPL rate agregado; NPL ratio (panel GMM); NPL (GMM, banca India); problem loans/NPL ratio.</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b="1" lang="es" sz="800">
                          <a:solidFill>
                            <a:schemeClr val="dk1"/>
                          </a:solidFill>
                        </a:rPr>
                        <a:t>Activos líquidos/ activos: (–); LDR (+). </a:t>
                      </a:r>
                      <a:r>
                        <a:rPr lang="es" sz="800">
                          <a:solidFill>
                            <a:schemeClr val="dk1"/>
                          </a:solidFill>
                        </a:rPr>
                        <a:t>Resultados varían por sistema/ regulación.</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52" name="Google Shape;252;p37"/>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(IX: variables bancarias)</a:t>
            </a:r>
            <a:endParaRPr/>
          </a:p>
        </p:txBody>
      </p:sp>
      <p:sp>
        <p:nvSpPr>
          <p:cNvPr id="258" name="Google Shape;258;p38"/>
          <p:cNvSpPr/>
          <p:nvPr/>
        </p:nvSpPr>
        <p:spPr>
          <a:xfrm flipH="1" rot="5400000">
            <a:off x="3141550" y="-857000"/>
            <a:ext cx="33489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8"/>
          <p:cNvSpPr/>
          <p:nvPr/>
        </p:nvSpPr>
        <p:spPr>
          <a:xfrm rot="-5400000">
            <a:off x="-973300" y="2440150"/>
            <a:ext cx="3348900" cy="7200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60" name="Google Shape;260;p38"/>
          <p:cNvGraphicFramePr/>
          <p:nvPr/>
        </p:nvGraphicFramePr>
        <p:xfrm>
          <a:off x="436225" y="1181750"/>
          <a:ext cx="3000000" cy="3000000"/>
        </p:xfrm>
        <a:graphic>
          <a:graphicData uri="http://schemas.openxmlformats.org/drawingml/2006/table">
            <a:tbl>
              <a:tblPr>
                <a:noFill/>
                <a:tableStyleId>{A069F133-5441-4E84-8760-2D4338416851}</a:tableStyleId>
              </a:tblPr>
              <a:tblGrid>
                <a:gridCol w="606925"/>
                <a:gridCol w="1673075"/>
                <a:gridCol w="3359025"/>
                <a:gridCol w="1096375"/>
                <a:gridCol w="1232650"/>
              </a:tblGrid>
              <a:tr h="18770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615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Ratio de provisiones</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Proxy de pérdidas esperadas y prudencia en reconocimiento de deterioros; puede anticipar deterioro futuro o reaccionar a él. La teoría sugiere: más provisiones hoy → menor realización de pérdidas futuras; pero en datos contemporáneos suele moverse con NPL por endogeneidad/prociclicidad.</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Messai &amp; Jouini, 2013 (Italia‑Grecia‑España, bancos); Boudriga, Boulila‑Taktak &amp; Jellouli, 2009 (59 países, bancos); Bikker &amp; Hu, 2002 (26 países, prociclicidad de provisiones).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NPL (ratio, bancos); NPL/“impaired loans” (ratio); indicadores de provisiones.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Ambiguo: </a:t>
                      </a:r>
                      <a:r>
                        <a:rPr lang="es" sz="800">
                          <a:solidFill>
                            <a:schemeClr val="dk1"/>
                          </a:solidFill>
                        </a:rPr>
                        <a:t>c</a:t>
                      </a:r>
                      <a:r>
                        <a:rPr lang="es" sz="800">
                          <a:solidFill>
                            <a:schemeClr val="dk1"/>
                          </a:solidFill>
                        </a:rPr>
                        <a:t>ontemporáneo </a:t>
                      </a:r>
                      <a:r>
                        <a:rPr b="1" lang="es" sz="800">
                          <a:solidFill>
                            <a:schemeClr val="dk1"/>
                          </a:solidFill>
                        </a:rPr>
                        <a:t>(+)</a:t>
                      </a:r>
                      <a:r>
                        <a:rPr lang="es" sz="800">
                          <a:solidFill>
                            <a:schemeClr val="dk1"/>
                          </a:solidFill>
                        </a:rPr>
                        <a:t>; cuando se instrumenta o se usan leads/ lags, puede aparecer efecto preventivo </a:t>
                      </a:r>
                      <a:r>
                        <a:rPr b="1" lang="es" sz="800">
                          <a:solidFill>
                            <a:schemeClr val="dk1"/>
                          </a:solidFill>
                        </a:rPr>
                        <a:t>(−). </a:t>
                      </a:r>
                      <a:r>
                        <a:rPr lang="es" sz="800">
                          <a:solidFill>
                            <a:schemeClr val="dk1"/>
                          </a:solidFill>
                        </a:rPr>
                        <a:t>IFRS 9 intensifica el carácter “</a:t>
                      </a:r>
                      <a:r>
                        <a:rPr i="1" lang="es" sz="800">
                          <a:solidFill>
                            <a:schemeClr val="dk1"/>
                          </a:solidFill>
                        </a:rPr>
                        <a:t>forward‑looking</a:t>
                      </a:r>
                      <a:r>
                        <a:rPr lang="es" sz="800">
                          <a:solidFill>
                            <a:schemeClr val="dk1"/>
                          </a:solidFill>
                        </a:rPr>
                        <a:t>”.</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Historia de pago del cliente (varias variables)</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Es el predictor central de incumplimiento: atrasos y montos de pago revelan disciplina, liquidez y fricción de caja.</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Yeh &amp; Lien, 2009 (Taiwán—tarjetas); Khandani, Kim &amp; Lo, 2010 (EE. UU.—tarjetas, transacciones + buró); Butaru, Chen, Clark, Das, Lo &amp; Siddique, 2016 (EE. UU.—tarjetas de 6 bancos).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Probabilidad de default / delinquency (clasificación/PD); default next‑month (tarjetas).</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Retrasos mayores → ( + ); monto de pago más alto/regular → (−)</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None/>
                      </a:pPr>
                      <a:r>
                        <a:rPr b="1" lang="es" sz="700">
                          <a:solidFill>
                            <a:schemeClr val="lt1"/>
                          </a:solidFill>
                        </a:rPr>
                        <a:t>Capacidad y uso de la línea (varias variables)</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None/>
                      </a:pPr>
                      <a:r>
                        <a:rPr lang="es" sz="800">
                          <a:solidFill>
                            <a:schemeClr val="dk1"/>
                          </a:solidFill>
                        </a:rPr>
                        <a:t>El uso de la capacidad y los saldos revolventes altos tensionan el flujo de caja y anticipan mora.</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Yeh &amp; Lien, 2009 (Taiwán—tarjetas); Butaru et al., 2016 (EE. UU.—tarjetas).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lang="es" sz="800">
                          <a:solidFill>
                            <a:schemeClr val="dk1"/>
                          </a:solidFill>
                        </a:rPr>
                        <a:t>PD / delinquency (tarjetas).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None/>
                      </a:pPr>
                      <a:r>
                        <a:rPr b="1" lang="es" sz="800">
                          <a:solidFill>
                            <a:schemeClr val="dk1"/>
                          </a:solidFill>
                        </a:rPr>
                        <a:t>Utilización y saldo altos → (+); </a:t>
                      </a:r>
                      <a:r>
                        <a:rPr lang="es" sz="800">
                          <a:solidFill>
                            <a:schemeClr val="dk1"/>
                          </a:solidFill>
                        </a:rPr>
                        <a:t>efecto no lineal: umbrales de utilización disparan el riesgo. </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61" name="Google Shape;261;p38"/>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type="title"/>
          </p:nvPr>
        </p:nvSpPr>
        <p:spPr>
          <a:xfrm>
            <a:off x="341150" y="259675"/>
            <a:ext cx="7743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La literatura económica sobre el tema incluyó las siguientes variables (X: variables bancarias)</a:t>
            </a:r>
            <a:endParaRPr/>
          </a:p>
        </p:txBody>
      </p:sp>
      <p:sp>
        <p:nvSpPr>
          <p:cNvPr id="267" name="Google Shape;267;p39"/>
          <p:cNvSpPr/>
          <p:nvPr/>
        </p:nvSpPr>
        <p:spPr>
          <a:xfrm flipH="1" rot="5400000">
            <a:off x="3792000" y="-852400"/>
            <a:ext cx="2054700" cy="73143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9"/>
          <p:cNvSpPr/>
          <p:nvPr/>
        </p:nvSpPr>
        <p:spPr>
          <a:xfrm rot="-5400000">
            <a:off x="-274400" y="2396300"/>
            <a:ext cx="2054700" cy="8169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69" name="Google Shape;269;p39"/>
          <p:cNvGraphicFramePr/>
          <p:nvPr/>
        </p:nvGraphicFramePr>
        <p:xfrm>
          <a:off x="439575" y="1833450"/>
          <a:ext cx="3000000" cy="3000000"/>
        </p:xfrm>
        <a:graphic>
          <a:graphicData uri="http://schemas.openxmlformats.org/drawingml/2006/table">
            <a:tbl>
              <a:tblPr>
                <a:noFill/>
                <a:tableStyleId>{A069F133-5441-4E84-8760-2D4338416851}</a:tableStyleId>
              </a:tblPr>
              <a:tblGrid>
                <a:gridCol w="722625"/>
                <a:gridCol w="1557375"/>
                <a:gridCol w="3359025"/>
                <a:gridCol w="1096375"/>
                <a:gridCol w="1232650"/>
              </a:tblGrid>
              <a:tr h="18770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Variable</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¿Por qué se incluye?</a:t>
                      </a:r>
                      <a:endParaRPr b="1" sz="10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Artículos y ámbito de aplicación</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1000">
                          <a:solidFill>
                            <a:schemeClr val="dk1"/>
                          </a:solidFill>
                        </a:rPr>
                        <a:t>Variable dependiente</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s" sz="1000">
                          <a:solidFill>
                            <a:schemeClr val="dk1"/>
                          </a:solidFill>
                        </a:rPr>
                        <a:t>Signo esperado</a:t>
                      </a:r>
                      <a:endParaRPr b="1" sz="10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386150">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Obligaciones en otros bancos (buró)</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La exposición externa y su desempeño agregan información fuera del banco originador; mejora la predicción y capta riesgo acumulado.</a:t>
                      </a:r>
                      <a:endParaRPr sz="800">
                        <a:solidFill>
                          <a:schemeClr val="dk1"/>
                        </a:solidFil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Khandani, Kim &amp; Lo, 2010 (EE. UU.—buró + transacciones); Butaru et al., 2016 (EE. UU.—buró + tradelines).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s" sz="800">
                          <a:solidFill>
                            <a:schemeClr val="dk1"/>
                          </a:solidFill>
                        </a:rPr>
                        <a:t>PD / delinquency</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b="1" lang="es" sz="800">
                          <a:solidFill>
                            <a:schemeClr val="dk1"/>
                          </a:solidFill>
                        </a:rPr>
                        <a:t>( + )</a:t>
                      </a:r>
                      <a:r>
                        <a:rPr b="1" lang="es" sz="800">
                          <a:solidFill>
                            <a:schemeClr val="dk1"/>
                          </a:solidFill>
                        </a:rPr>
                        <a:t>: </a:t>
                      </a:r>
                      <a:r>
                        <a:rPr lang="es" sz="800">
                          <a:solidFill>
                            <a:schemeClr val="dk1"/>
                          </a:solidFill>
                        </a:rPr>
                        <a:t>Variables típicas: número de tradelines activos, atrasos externos, consultas, utilización externa, aperturas recientes.</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79125">
                <a:tc>
                  <a:txBody>
                    <a:bodyPr/>
                    <a:lstStyle/>
                    <a:p>
                      <a:pPr indent="0" lvl="0" marL="0" marR="0" rtl="0" algn="l">
                        <a:lnSpc>
                          <a:spcPct val="100000"/>
                        </a:lnSpc>
                        <a:spcBef>
                          <a:spcPts val="0"/>
                        </a:spcBef>
                        <a:spcAft>
                          <a:spcPts val="0"/>
                        </a:spcAft>
                        <a:buClr>
                          <a:srgbClr val="000000"/>
                        </a:buClr>
                        <a:buSzPts val="700"/>
                        <a:buFont typeface="Arial"/>
                        <a:buNone/>
                      </a:pPr>
                      <a:r>
                        <a:rPr b="1" lang="es" sz="700">
                          <a:solidFill>
                            <a:schemeClr val="lt1"/>
                          </a:solidFill>
                        </a:rPr>
                        <a:t>Sector económico del cliente (empresa)</a:t>
                      </a:r>
                      <a:endParaRPr b="1" sz="7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Riesgo heterogéneo por sector (sensibilidad a ciclos, shocks específicos de industria).</a:t>
                      </a:r>
                      <a:endParaRPr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“Predicting SMEs’ default risk”, 2023 (Italia—PyMES); trabajos de default corporativo multi‑período (EE. UU./UE).</a:t>
                      </a:r>
                      <a:endParaRPr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rPr lang="es" sz="800">
                          <a:solidFill>
                            <a:schemeClr val="dk1"/>
                          </a:solidFill>
                        </a:rPr>
                        <a:t>PD corporativa (empresa).</a:t>
                      </a:r>
                      <a:endParaRPr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marR="130512" rtl="0" algn="l">
                        <a:lnSpc>
                          <a:spcPct val="100000"/>
                        </a:lnSpc>
                        <a:spcBef>
                          <a:spcPts val="0"/>
                        </a:spcBef>
                        <a:spcAft>
                          <a:spcPts val="0"/>
                        </a:spcAft>
                        <a:buClr>
                          <a:srgbClr val="000000"/>
                        </a:buClr>
                        <a:buSzPts val="800"/>
                        <a:buFont typeface="Arial"/>
                        <a:buNone/>
                      </a:pPr>
                      <a:r>
                        <a:t/>
                      </a:r>
                      <a:endParaRPr b="1" sz="800">
                        <a:solidFill>
                          <a:schemeClr val="dk1"/>
                        </a:solidFill>
                      </a:endParaRPr>
                    </a:p>
                    <a:p>
                      <a:pPr indent="0" lvl="0" marL="0" marR="130512" rtl="0" algn="l">
                        <a:lnSpc>
                          <a:spcPct val="100000"/>
                        </a:lnSpc>
                        <a:spcBef>
                          <a:spcPts val="0"/>
                        </a:spcBef>
                        <a:spcAft>
                          <a:spcPts val="0"/>
                        </a:spcAft>
                        <a:buClr>
                          <a:srgbClr val="000000"/>
                        </a:buClr>
                        <a:buSzPts val="800"/>
                        <a:buFont typeface="Arial"/>
                        <a:buNone/>
                      </a:pPr>
                      <a:r>
                        <a:rPr b="1" lang="es" sz="800">
                          <a:solidFill>
                            <a:schemeClr val="dk1"/>
                          </a:solidFill>
                        </a:rPr>
                        <a:t>Depende del sector</a:t>
                      </a:r>
                      <a:endParaRPr b="1"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graphicFrame>
        <p:nvGraphicFramePr>
          <p:cNvPr id="270" name="Google Shape;270;p39"/>
          <p:cNvGraphicFramePr/>
          <p:nvPr/>
        </p:nvGraphicFramePr>
        <p:xfrm>
          <a:off x="304800" y="3048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74" name="Shape 274"/>
        <p:cNvGrpSpPr/>
        <p:nvPr/>
      </p:nvGrpSpPr>
      <p:grpSpPr>
        <a:xfrm>
          <a:off x="0" y="0"/>
          <a:ext cx="0" cy="0"/>
          <a:chOff x="0" y="0"/>
          <a:chExt cx="0" cy="0"/>
        </a:xfrm>
      </p:grpSpPr>
      <p:sp>
        <p:nvSpPr>
          <p:cNvPr id="275" name="Google Shape;275;p40"/>
          <p:cNvSpPr txBox="1"/>
          <p:nvPr>
            <p:ph type="title"/>
          </p:nvPr>
        </p:nvSpPr>
        <p:spPr>
          <a:xfrm>
            <a:off x="296724" y="4215247"/>
            <a:ext cx="8740913" cy="7734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SzPts val="5000"/>
              <a:buNone/>
            </a:pPr>
            <a:r>
              <a:rPr lang="es" sz="6700"/>
              <a:t>Los datos</a:t>
            </a:r>
            <a:endParaRPr sz="6700">
              <a:latin typeface="Georgia"/>
              <a:ea typeface="Georgia"/>
              <a:cs typeface="Georgia"/>
              <a:sym typeface="Georgia"/>
            </a:endParaRPr>
          </a:p>
        </p:txBody>
      </p:sp>
      <p:sp>
        <p:nvSpPr>
          <p:cNvPr id="276" name="Google Shape;276;p40"/>
          <p:cNvSpPr txBox="1"/>
          <p:nvPr/>
        </p:nvSpPr>
        <p:spPr>
          <a:xfrm>
            <a:off x="324000" y="3570800"/>
            <a:ext cx="8222700" cy="2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s" sz="1600">
                <a:solidFill>
                  <a:srgbClr val="001391"/>
                </a:solidFill>
              </a:rPr>
              <a:t>02</a:t>
            </a:r>
            <a:r>
              <a:rPr b="0" i="0" lang="es" sz="1600" u="none" cap="none" strike="noStrike">
                <a:solidFill>
                  <a:srgbClr val="001391"/>
                </a:solidFill>
                <a:latin typeface="Arial"/>
                <a:ea typeface="Arial"/>
                <a:cs typeface="Arial"/>
                <a:sym typeface="Arial"/>
              </a:rPr>
              <a:t>. </a:t>
            </a:r>
            <a:r>
              <a:rPr lang="es" sz="1600">
                <a:solidFill>
                  <a:srgbClr val="001391"/>
                </a:solidFill>
              </a:rPr>
              <a:t>Variables tradicionales y nuevas fuentes para explicar la mora crediticia</a:t>
            </a:r>
            <a:endParaRPr b="0" i="0" sz="1600" u="none" cap="none" strike="noStrike">
              <a:solidFill>
                <a:srgbClr val="00139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p:nvPr/>
        </p:nvSpPr>
        <p:spPr>
          <a:xfrm>
            <a:off x="3224913" y="944500"/>
            <a:ext cx="2495700" cy="3134700"/>
          </a:xfrm>
          <a:prstGeom prst="roundRect">
            <a:avLst>
              <a:gd fmla="val 5068" name="adj"/>
            </a:avLst>
          </a:prstGeom>
          <a:solidFill>
            <a:schemeClr val="lt1"/>
          </a:solidFill>
          <a:ln>
            <a:noFill/>
          </a:ln>
        </p:spPr>
        <p:txBody>
          <a:bodyPr anchorCtr="0" anchor="t" bIns="72000" lIns="108000" spcFirstLastPara="1" rIns="108000" wrap="square" tIns="36000">
            <a:noAutofit/>
          </a:bodyPr>
          <a:lstStyle/>
          <a:p>
            <a:pPr indent="0" lvl="0" marL="0" marR="0" rtl="0" algn="l">
              <a:lnSpc>
                <a:spcPct val="100000"/>
              </a:lnSpc>
              <a:spcBef>
                <a:spcPts val="0"/>
              </a:spcBef>
              <a:spcAft>
                <a:spcPts val="0"/>
              </a:spcAft>
              <a:buNone/>
            </a:pPr>
            <a:r>
              <a:t/>
            </a:r>
            <a:endParaRPr b="1" sz="1100">
              <a:solidFill>
                <a:schemeClr val="dk1"/>
              </a:solidFill>
            </a:endParaRPr>
          </a:p>
          <a:p>
            <a:pPr indent="0" lvl="0" marL="0" marR="0" rtl="0" algn="ctr">
              <a:lnSpc>
                <a:spcPct val="100000"/>
              </a:lnSpc>
              <a:spcBef>
                <a:spcPts val="0"/>
              </a:spcBef>
              <a:spcAft>
                <a:spcPts val="0"/>
              </a:spcAft>
              <a:buNone/>
            </a:pPr>
            <a:r>
              <a:rPr b="1" lang="es" sz="1200">
                <a:solidFill>
                  <a:schemeClr val="dk1"/>
                </a:solidFill>
              </a:rPr>
              <a:t>Coherencia y Comparabilidad</a:t>
            </a:r>
            <a:endParaRPr sz="1200">
              <a:solidFill>
                <a:schemeClr val="dk1"/>
              </a:solidFill>
            </a:endParaRPr>
          </a:p>
          <a:p>
            <a:pPr indent="0" lvl="0" marL="0" marR="0" rtl="0" algn="ctr">
              <a:lnSpc>
                <a:spcPct val="100000"/>
              </a:lnSpc>
              <a:spcBef>
                <a:spcPts val="600"/>
              </a:spcBef>
              <a:spcAft>
                <a:spcPts val="0"/>
              </a:spcAft>
              <a:buClr>
                <a:srgbClr val="000000"/>
              </a:buClr>
              <a:buSzPts val="1000"/>
              <a:buFont typeface="Arial"/>
              <a:buNone/>
            </a:pPr>
            <a:r>
              <a:rPr lang="es" sz="1000">
                <a:solidFill>
                  <a:schemeClr val="dk1"/>
                </a:solidFill>
              </a:rPr>
              <a:t>Las series mensuales deben estar bien </a:t>
            </a:r>
            <a:r>
              <a:rPr b="1" lang="es" sz="1000">
                <a:solidFill>
                  <a:schemeClr val="dk1"/>
                </a:solidFill>
              </a:rPr>
              <a:t>correlacionadas con sus contrapartes trimestrales</a:t>
            </a:r>
            <a:r>
              <a:rPr lang="es" sz="1000">
                <a:solidFill>
                  <a:schemeClr val="dk1"/>
                </a:solidFill>
              </a:rPr>
              <a:t> (o de menor frecuencia) en niveles/variaciones/gradientes.</a:t>
            </a:r>
            <a:endParaRPr sz="1000">
              <a:solidFill>
                <a:schemeClr val="dk1"/>
              </a:solidFill>
            </a:endParaRPr>
          </a:p>
          <a:p>
            <a:pPr indent="0" lvl="0" marL="0" marR="0" rtl="0" algn="ctr">
              <a:lnSpc>
                <a:spcPct val="100000"/>
              </a:lnSpc>
              <a:spcBef>
                <a:spcPts val="600"/>
              </a:spcBef>
              <a:spcAft>
                <a:spcPts val="0"/>
              </a:spcAft>
              <a:buClr>
                <a:srgbClr val="000000"/>
              </a:buClr>
              <a:buSzPts val="1000"/>
              <a:buFont typeface="Arial"/>
              <a:buNone/>
            </a:pPr>
            <a:r>
              <a:rPr lang="es" sz="1000">
                <a:solidFill>
                  <a:schemeClr val="dk1"/>
                </a:solidFill>
              </a:rPr>
              <a:t>Umbral más </a:t>
            </a:r>
            <a:r>
              <a:rPr b="1" lang="es" sz="1000">
                <a:solidFill>
                  <a:schemeClr val="dk1"/>
                </a:solidFill>
              </a:rPr>
              <a:t>exigente de correlación para series con historia corta</a:t>
            </a:r>
            <a:r>
              <a:rPr lang="es" sz="1000">
                <a:solidFill>
                  <a:schemeClr val="dk1"/>
                </a:solidFill>
              </a:rPr>
              <a:t>.</a:t>
            </a:r>
            <a:endParaRPr sz="1000">
              <a:solidFill>
                <a:schemeClr val="dk1"/>
              </a:solidFill>
            </a:endParaRPr>
          </a:p>
          <a:p>
            <a:pPr indent="0" lvl="0" marL="0" marR="0" rtl="0" algn="ctr">
              <a:lnSpc>
                <a:spcPct val="100000"/>
              </a:lnSpc>
              <a:spcBef>
                <a:spcPts val="600"/>
              </a:spcBef>
              <a:spcAft>
                <a:spcPts val="0"/>
              </a:spcAft>
              <a:buClr>
                <a:srgbClr val="000000"/>
              </a:buClr>
              <a:buSzPts val="1000"/>
              <a:buFont typeface="Arial"/>
              <a:buNone/>
            </a:pPr>
            <a:r>
              <a:rPr lang="es" sz="1000">
                <a:solidFill>
                  <a:schemeClr val="dk1"/>
                </a:solidFill>
              </a:rPr>
              <a:t>Además de las </a:t>
            </a:r>
            <a:r>
              <a:rPr b="1" lang="es" sz="1000">
                <a:solidFill>
                  <a:schemeClr val="dk1"/>
                </a:solidFill>
              </a:rPr>
              <a:t>correlaciones contemporáneas</a:t>
            </a:r>
            <a:r>
              <a:rPr lang="es" sz="1000">
                <a:solidFill>
                  <a:schemeClr val="dk1"/>
                </a:solidFill>
              </a:rPr>
              <a:t>, verificamos </a:t>
            </a:r>
            <a:r>
              <a:rPr b="1" lang="es" sz="1000">
                <a:solidFill>
                  <a:schemeClr val="dk1"/>
                </a:solidFill>
              </a:rPr>
              <a:t>correlaciones con rezagos</a:t>
            </a:r>
            <a:r>
              <a:rPr lang="es" sz="1000">
                <a:solidFill>
                  <a:schemeClr val="dk1"/>
                </a:solidFill>
              </a:rPr>
              <a:t> (t–1, t–2, …, hasta t-24) de las variables explicativas, porque el efecto sobre la mora puede materializarse con atraso, tal como muestra la literatura.</a:t>
            </a:r>
            <a:endParaRPr sz="1000">
              <a:solidFill>
                <a:schemeClr val="dk1"/>
              </a:solidFill>
            </a:endParaRPr>
          </a:p>
          <a:p>
            <a:pPr indent="0" lvl="0" marL="0" marR="0" rtl="0" algn="l">
              <a:lnSpc>
                <a:spcPct val="100000"/>
              </a:lnSpc>
              <a:spcBef>
                <a:spcPts val="600"/>
              </a:spcBef>
              <a:spcAft>
                <a:spcPts val="0"/>
              </a:spcAft>
              <a:buClr>
                <a:srgbClr val="000000"/>
              </a:buClr>
              <a:buSzPts val="1000"/>
              <a:buFont typeface="Arial"/>
              <a:buNone/>
            </a:pPr>
            <a:r>
              <a:t/>
            </a:r>
            <a:endParaRPr sz="1000">
              <a:solidFill>
                <a:schemeClr val="dk1"/>
              </a:solidFill>
            </a:endParaRPr>
          </a:p>
        </p:txBody>
      </p:sp>
      <p:sp>
        <p:nvSpPr>
          <p:cNvPr id="282" name="Google Shape;282;p41"/>
          <p:cNvSpPr/>
          <p:nvPr/>
        </p:nvSpPr>
        <p:spPr>
          <a:xfrm>
            <a:off x="6079000" y="944507"/>
            <a:ext cx="2495700" cy="3134700"/>
          </a:xfrm>
          <a:prstGeom prst="roundRect">
            <a:avLst>
              <a:gd fmla="val 5068" name="adj"/>
            </a:avLst>
          </a:prstGeom>
          <a:solidFill>
            <a:schemeClr val="lt1"/>
          </a:solidFill>
          <a:ln>
            <a:noFill/>
          </a:ln>
        </p:spPr>
        <p:txBody>
          <a:bodyPr anchorCtr="0" anchor="t" bIns="72000" lIns="108000" spcFirstLastPara="1" rIns="108000" wrap="square" tIns="36000">
            <a:noAutofit/>
          </a:bodyPr>
          <a:lstStyle/>
          <a:p>
            <a:pPr indent="0" lvl="0" marL="0" marR="0" rtl="0" algn="l">
              <a:lnSpc>
                <a:spcPct val="100000"/>
              </a:lnSpc>
              <a:spcBef>
                <a:spcPts val="0"/>
              </a:spcBef>
              <a:spcAft>
                <a:spcPts val="0"/>
              </a:spcAft>
              <a:buClr>
                <a:srgbClr val="000000"/>
              </a:buClr>
              <a:buSzPts val="1100"/>
              <a:buFont typeface="Arial"/>
              <a:buNone/>
            </a:pPr>
            <a:r>
              <a:t/>
            </a:r>
            <a:endParaRPr b="1" sz="1100">
              <a:solidFill>
                <a:schemeClr val="dk1"/>
              </a:solidFill>
            </a:endParaRPr>
          </a:p>
          <a:p>
            <a:pPr indent="0" lvl="0" marL="0" marR="0" rtl="0" algn="ctr">
              <a:lnSpc>
                <a:spcPct val="100000"/>
              </a:lnSpc>
              <a:spcBef>
                <a:spcPts val="0"/>
              </a:spcBef>
              <a:spcAft>
                <a:spcPts val="0"/>
              </a:spcAft>
              <a:buClr>
                <a:srgbClr val="000000"/>
              </a:buClr>
              <a:buSzPts val="1100"/>
              <a:buFont typeface="Arial"/>
              <a:buNone/>
            </a:pPr>
            <a:r>
              <a:rPr b="1" lang="es" sz="1200">
                <a:solidFill>
                  <a:schemeClr val="dk1"/>
                </a:solidFill>
              </a:rPr>
              <a:t>Alcance y criterio de selección</a:t>
            </a:r>
            <a:endParaRPr sz="1200"/>
          </a:p>
          <a:p>
            <a:pPr indent="0" lvl="0" marL="0" marR="0" rtl="0" algn="ctr">
              <a:lnSpc>
                <a:spcPct val="100000"/>
              </a:lnSpc>
              <a:spcBef>
                <a:spcPts val="1000"/>
              </a:spcBef>
              <a:spcAft>
                <a:spcPts val="0"/>
              </a:spcAft>
              <a:buClr>
                <a:srgbClr val="000000"/>
              </a:buClr>
              <a:buSzPts val="1000"/>
              <a:buFont typeface="Arial"/>
              <a:buNone/>
            </a:pPr>
            <a:r>
              <a:rPr lang="es" sz="1000">
                <a:solidFill>
                  <a:schemeClr val="dk1"/>
                </a:solidFill>
              </a:rPr>
              <a:t>Combinamos variables tradicionales (PIB, empleo, tasas, precios, TC, vivienda, bursátil) con </a:t>
            </a:r>
            <a:r>
              <a:rPr b="1" lang="es" sz="1000">
                <a:solidFill>
                  <a:schemeClr val="dk1"/>
                </a:solidFill>
              </a:rPr>
              <a:t>v</a:t>
            </a:r>
            <a:r>
              <a:rPr b="1" lang="es" sz="1000">
                <a:solidFill>
                  <a:schemeClr val="dk1"/>
                </a:solidFill>
              </a:rPr>
              <a:t>ariables innovadoras</a:t>
            </a:r>
            <a:r>
              <a:rPr lang="es" sz="1000">
                <a:solidFill>
                  <a:schemeClr val="dk1"/>
                </a:solidFill>
              </a:rPr>
              <a:t>: proxies de comportamiento de</a:t>
            </a:r>
            <a:r>
              <a:rPr lang="es" sz="1000">
                <a:solidFill>
                  <a:schemeClr val="dk1"/>
                </a:solidFill>
              </a:rPr>
              <a:t> pago desde datos de </a:t>
            </a:r>
            <a:r>
              <a:rPr b="1" lang="es" sz="1000">
                <a:solidFill>
                  <a:schemeClr val="dk1"/>
                </a:solidFill>
              </a:rPr>
              <a:t>rastro digital</a:t>
            </a:r>
            <a:r>
              <a:rPr lang="es" sz="1000">
                <a:solidFill>
                  <a:schemeClr val="dk1"/>
                </a:solidFill>
              </a:rPr>
              <a:t> y señales de </a:t>
            </a:r>
            <a:r>
              <a:rPr b="1" i="1" lang="es" sz="1000">
                <a:solidFill>
                  <a:schemeClr val="dk1"/>
                </a:solidFill>
              </a:rPr>
              <a:t>big data</a:t>
            </a:r>
            <a:r>
              <a:rPr lang="es" sz="1000">
                <a:solidFill>
                  <a:schemeClr val="dk1"/>
                </a:solidFill>
              </a:rPr>
              <a:t> de BBVA Colombia.</a:t>
            </a:r>
            <a:endParaRPr sz="1000">
              <a:solidFill>
                <a:schemeClr val="dk1"/>
              </a:solidFill>
            </a:endParaRPr>
          </a:p>
          <a:p>
            <a:pPr indent="0" lvl="0" marL="0" marR="0" rtl="0" algn="ctr">
              <a:lnSpc>
                <a:spcPct val="100000"/>
              </a:lnSpc>
              <a:spcBef>
                <a:spcPts val="1000"/>
              </a:spcBef>
              <a:spcAft>
                <a:spcPts val="0"/>
              </a:spcAft>
              <a:buClr>
                <a:srgbClr val="000000"/>
              </a:buClr>
              <a:buSzPts val="1000"/>
              <a:buFont typeface="Arial"/>
              <a:buNone/>
            </a:pPr>
            <a:r>
              <a:rPr b="1" lang="es" sz="1000">
                <a:solidFill>
                  <a:schemeClr val="dk1"/>
                </a:solidFill>
              </a:rPr>
              <a:t>Criterio principal: correlación </a:t>
            </a:r>
            <a:r>
              <a:rPr lang="es" sz="1000">
                <a:solidFill>
                  <a:schemeClr val="dk1"/>
                </a:solidFill>
              </a:rPr>
              <a:t>—tanto en su forma </a:t>
            </a:r>
            <a:r>
              <a:rPr b="1" lang="es" sz="1000">
                <a:solidFill>
                  <a:schemeClr val="dk1"/>
                </a:solidFill>
              </a:rPr>
              <a:t>lineal</a:t>
            </a:r>
            <a:r>
              <a:rPr lang="es" sz="1000">
                <a:solidFill>
                  <a:schemeClr val="dk1"/>
                </a:solidFill>
              </a:rPr>
              <a:t> (Pearson) como no lineal o basada </a:t>
            </a:r>
            <a:r>
              <a:rPr b="1" lang="es" sz="1000">
                <a:solidFill>
                  <a:schemeClr val="dk1"/>
                </a:solidFill>
              </a:rPr>
              <a:t>en ordenamiento/gradiente</a:t>
            </a:r>
            <a:r>
              <a:rPr lang="es" sz="1000">
                <a:solidFill>
                  <a:schemeClr val="dk1"/>
                </a:solidFill>
              </a:rPr>
              <a:t> (</a:t>
            </a:r>
            <a:r>
              <a:rPr lang="es" sz="1000">
                <a:solidFill>
                  <a:schemeClr val="dk1"/>
                </a:solidFill>
              </a:rPr>
              <a:t>S</a:t>
            </a:r>
            <a:r>
              <a:rPr lang="es" sz="1000">
                <a:solidFill>
                  <a:schemeClr val="dk1"/>
                </a:solidFill>
              </a:rPr>
              <a:t>pearman y Kendall)— con el NPL y con los referentes trimestrales (en simultáneo y con rezago).</a:t>
            </a:r>
            <a:endParaRPr sz="1000">
              <a:solidFill>
                <a:schemeClr val="dk1"/>
              </a:solidFill>
            </a:endParaRPr>
          </a:p>
        </p:txBody>
      </p:sp>
      <p:sp>
        <p:nvSpPr>
          <p:cNvPr id="283" name="Google Shape;283;p41"/>
          <p:cNvSpPr txBox="1"/>
          <p:nvPr>
            <p:ph type="title"/>
          </p:nvPr>
        </p:nvSpPr>
        <p:spPr>
          <a:xfrm>
            <a:off x="346000" y="299962"/>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Estrategia de datos y selección de variables</a:t>
            </a:r>
            <a:endParaRPr/>
          </a:p>
        </p:txBody>
      </p:sp>
      <p:sp>
        <p:nvSpPr>
          <p:cNvPr id="284" name="Google Shape;284;p41"/>
          <p:cNvSpPr/>
          <p:nvPr/>
        </p:nvSpPr>
        <p:spPr>
          <a:xfrm>
            <a:off x="370850" y="967995"/>
            <a:ext cx="2495700" cy="3134700"/>
          </a:xfrm>
          <a:prstGeom prst="roundRect">
            <a:avLst>
              <a:gd fmla="val 5068" name="adj"/>
            </a:avLst>
          </a:prstGeom>
          <a:solidFill>
            <a:schemeClr val="lt1"/>
          </a:solidFill>
          <a:ln>
            <a:noFill/>
          </a:ln>
        </p:spPr>
        <p:txBody>
          <a:bodyPr anchorCtr="0" anchor="t" bIns="72000" lIns="108000" spcFirstLastPara="1" rIns="108000" wrap="square" tIns="36000">
            <a:noAutofit/>
          </a:bodyPr>
          <a:lstStyle/>
          <a:p>
            <a:pPr indent="0" lvl="0" marL="0" marR="0" rtl="0" algn="l">
              <a:lnSpc>
                <a:spcPct val="100000"/>
              </a:lnSpc>
              <a:spcBef>
                <a:spcPts val="0"/>
              </a:spcBef>
              <a:spcAft>
                <a:spcPts val="0"/>
              </a:spcAft>
              <a:buClr>
                <a:srgbClr val="000000"/>
              </a:buClr>
              <a:buSzPts val="1100"/>
              <a:buFont typeface="Arial"/>
              <a:buNone/>
            </a:pPr>
            <a:r>
              <a:t/>
            </a:r>
            <a:endParaRPr b="1" sz="1100">
              <a:solidFill>
                <a:schemeClr val="dk1"/>
              </a:solidFill>
            </a:endParaRPr>
          </a:p>
          <a:p>
            <a:pPr indent="0" lvl="0" marL="0" marR="0" rtl="0" algn="ctr">
              <a:lnSpc>
                <a:spcPct val="100000"/>
              </a:lnSpc>
              <a:spcBef>
                <a:spcPts val="0"/>
              </a:spcBef>
              <a:spcAft>
                <a:spcPts val="0"/>
              </a:spcAft>
              <a:buClr>
                <a:srgbClr val="000000"/>
              </a:buClr>
              <a:buSzPts val="1100"/>
              <a:buFont typeface="Arial"/>
              <a:buNone/>
            </a:pPr>
            <a:r>
              <a:rPr b="1" lang="es" sz="1200">
                <a:solidFill>
                  <a:schemeClr val="dk1"/>
                </a:solidFill>
              </a:rPr>
              <a:t>Frecuencia y Oportunidad</a:t>
            </a:r>
            <a:endParaRPr b="1" sz="1200">
              <a:solidFill>
                <a:schemeClr val="dk1"/>
              </a:solidFill>
            </a:endParaRPr>
          </a:p>
          <a:p>
            <a:pPr indent="0" lvl="0" marL="0" marR="0" rtl="0" algn="ctr">
              <a:lnSpc>
                <a:spcPct val="100000"/>
              </a:lnSpc>
              <a:spcBef>
                <a:spcPts val="0"/>
              </a:spcBef>
              <a:spcAft>
                <a:spcPts val="0"/>
              </a:spcAft>
              <a:buClr>
                <a:srgbClr val="000000"/>
              </a:buClr>
              <a:buSzPts val="1100"/>
              <a:buFont typeface="Arial"/>
              <a:buNone/>
            </a:pPr>
            <a:r>
              <a:t/>
            </a:r>
            <a:endParaRPr b="1" sz="1200">
              <a:solidFill>
                <a:schemeClr val="dk1"/>
              </a:solidFill>
            </a:endParaRPr>
          </a:p>
          <a:p>
            <a:pPr indent="0" lvl="0" marL="0" marR="0" rtl="0" algn="ctr">
              <a:lnSpc>
                <a:spcPct val="100000"/>
              </a:lnSpc>
              <a:spcBef>
                <a:spcPts val="1000"/>
              </a:spcBef>
              <a:spcAft>
                <a:spcPts val="0"/>
              </a:spcAft>
              <a:buClr>
                <a:srgbClr val="000000"/>
              </a:buClr>
              <a:buSzPts val="1000"/>
              <a:buFont typeface="Arial"/>
              <a:buNone/>
            </a:pPr>
            <a:r>
              <a:rPr lang="es" sz="1000">
                <a:solidFill>
                  <a:schemeClr val="dk1"/>
                </a:solidFill>
              </a:rPr>
              <a:t>Usamos </a:t>
            </a:r>
            <a:r>
              <a:rPr b="1" lang="es" sz="1000">
                <a:solidFill>
                  <a:schemeClr val="dk1"/>
                </a:solidFill>
              </a:rPr>
              <a:t>frecuencia mensual</a:t>
            </a:r>
            <a:r>
              <a:rPr lang="es" sz="1000">
                <a:solidFill>
                  <a:schemeClr val="dk1"/>
                </a:solidFill>
              </a:rPr>
              <a:t> para ganar grados de libertad.</a:t>
            </a:r>
            <a:endParaRPr sz="1000">
              <a:solidFill>
                <a:schemeClr val="dk1"/>
              </a:solidFill>
            </a:endParaRPr>
          </a:p>
          <a:p>
            <a:pPr indent="0" lvl="0" marL="0" marR="0" rtl="0" algn="ctr">
              <a:lnSpc>
                <a:spcPct val="100000"/>
              </a:lnSpc>
              <a:spcBef>
                <a:spcPts val="1000"/>
              </a:spcBef>
              <a:spcAft>
                <a:spcPts val="0"/>
              </a:spcAft>
              <a:buClr>
                <a:srgbClr val="000000"/>
              </a:buClr>
              <a:buSzPts val="1000"/>
              <a:buFont typeface="Arial"/>
              <a:buNone/>
            </a:pPr>
            <a:r>
              <a:rPr lang="es" sz="1000">
                <a:solidFill>
                  <a:schemeClr val="dk1"/>
                </a:solidFill>
              </a:rPr>
              <a:t>Condición de publicación: cada serie debe publicarse antes que la mora (NPL) para </a:t>
            </a:r>
            <a:r>
              <a:rPr b="1" lang="es" sz="1000">
                <a:solidFill>
                  <a:schemeClr val="dk1"/>
                </a:solidFill>
              </a:rPr>
              <a:t>servir a nowcast/proyección</a:t>
            </a:r>
            <a:r>
              <a:rPr lang="es" sz="1000">
                <a:solidFill>
                  <a:schemeClr val="dk1"/>
                </a:solidFill>
              </a:rPr>
              <a:t>.</a:t>
            </a:r>
            <a:endParaRPr sz="1000">
              <a:solidFill>
                <a:schemeClr val="dk1"/>
              </a:solidFill>
            </a:endParaRPr>
          </a:p>
          <a:p>
            <a:pPr indent="0" lvl="0" marL="0" marR="0" rtl="0" algn="ctr">
              <a:lnSpc>
                <a:spcPct val="100000"/>
              </a:lnSpc>
              <a:spcBef>
                <a:spcPts val="1000"/>
              </a:spcBef>
              <a:spcAft>
                <a:spcPts val="0"/>
              </a:spcAft>
              <a:buClr>
                <a:srgbClr val="000000"/>
              </a:buClr>
              <a:buSzPts val="1000"/>
              <a:buFont typeface="Arial"/>
              <a:buNone/>
            </a:pPr>
            <a:r>
              <a:rPr lang="es" sz="1000">
                <a:solidFill>
                  <a:schemeClr val="dk1"/>
                </a:solidFill>
              </a:rPr>
              <a:t>Si existe contrapartida trimestral, la serie mensual elegida debe </a:t>
            </a:r>
            <a:r>
              <a:rPr b="1" lang="es" sz="1000">
                <a:solidFill>
                  <a:schemeClr val="dk1"/>
                </a:solidFill>
              </a:rPr>
              <a:t>conocerse antes que esa trimestral</a:t>
            </a:r>
            <a:r>
              <a:rPr lang="es" sz="1000">
                <a:solidFill>
                  <a:schemeClr val="dk1"/>
                </a:solidFill>
              </a:rPr>
              <a:t>.</a:t>
            </a:r>
            <a:endParaRPr sz="1000">
              <a:solidFill>
                <a:schemeClr val="dk1"/>
              </a:solidFill>
            </a:endParaRPr>
          </a:p>
        </p:txBody>
      </p:sp>
      <p:grpSp>
        <p:nvGrpSpPr>
          <p:cNvPr id="285" name="Google Shape;285;p41"/>
          <p:cNvGrpSpPr/>
          <p:nvPr/>
        </p:nvGrpSpPr>
        <p:grpSpPr>
          <a:xfrm>
            <a:off x="2658939" y="875298"/>
            <a:ext cx="354132" cy="360000"/>
            <a:chOff x="2048576" y="1609796"/>
            <a:chExt cx="360000" cy="360000"/>
          </a:xfrm>
        </p:grpSpPr>
        <p:sp>
          <p:nvSpPr>
            <p:cNvPr id="286" name="Google Shape;286;p41"/>
            <p:cNvSpPr/>
            <p:nvPr/>
          </p:nvSpPr>
          <p:spPr>
            <a:xfrm>
              <a:off x="2048576" y="1609796"/>
              <a:ext cx="360000" cy="360000"/>
            </a:xfrm>
            <a:prstGeom prst="ellipse">
              <a:avLst/>
            </a:prstGeom>
            <a:solidFill>
              <a:srgbClr val="FF85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87" name="Google Shape;287;p41"/>
            <p:cNvPicPr preferRelativeResize="0"/>
            <p:nvPr/>
          </p:nvPicPr>
          <p:blipFill rotWithShape="1">
            <a:blip r:embed="rId3">
              <a:alphaModFix/>
            </a:blip>
            <a:srcRect b="0" l="0" r="0" t="0"/>
            <a:stretch/>
          </p:blipFill>
          <p:spPr>
            <a:xfrm>
              <a:off x="2121078" y="1682298"/>
              <a:ext cx="214996" cy="214996"/>
            </a:xfrm>
            <a:prstGeom prst="rect">
              <a:avLst/>
            </a:prstGeom>
            <a:noFill/>
            <a:ln>
              <a:noFill/>
            </a:ln>
          </p:spPr>
        </p:pic>
      </p:grpSp>
      <p:grpSp>
        <p:nvGrpSpPr>
          <p:cNvPr id="288" name="Google Shape;288;p41"/>
          <p:cNvGrpSpPr/>
          <p:nvPr/>
        </p:nvGrpSpPr>
        <p:grpSpPr>
          <a:xfrm>
            <a:off x="5422082" y="838202"/>
            <a:ext cx="360000" cy="360000"/>
            <a:chOff x="5259776" y="1609796"/>
            <a:chExt cx="360000" cy="360000"/>
          </a:xfrm>
        </p:grpSpPr>
        <p:sp>
          <p:nvSpPr>
            <p:cNvPr id="289" name="Google Shape;289;p41"/>
            <p:cNvSpPr/>
            <p:nvPr/>
          </p:nvSpPr>
          <p:spPr>
            <a:xfrm>
              <a:off x="5259776" y="1609796"/>
              <a:ext cx="360000" cy="360000"/>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90" name="Google Shape;290;p41"/>
            <p:cNvPicPr preferRelativeResize="0"/>
            <p:nvPr/>
          </p:nvPicPr>
          <p:blipFill rotWithShape="1">
            <a:blip r:embed="rId4">
              <a:alphaModFix/>
            </a:blip>
            <a:srcRect b="0" l="0" r="0" t="0"/>
            <a:stretch/>
          </p:blipFill>
          <p:spPr>
            <a:xfrm>
              <a:off x="5363576" y="1689784"/>
              <a:ext cx="152400" cy="200025"/>
            </a:xfrm>
            <a:prstGeom prst="rect">
              <a:avLst/>
            </a:prstGeom>
            <a:noFill/>
            <a:ln>
              <a:noFill/>
            </a:ln>
          </p:spPr>
        </p:pic>
      </p:grpSp>
      <p:grpSp>
        <p:nvGrpSpPr>
          <p:cNvPr id="291" name="Google Shape;291;p41"/>
          <p:cNvGrpSpPr/>
          <p:nvPr/>
        </p:nvGrpSpPr>
        <p:grpSpPr>
          <a:xfrm>
            <a:off x="8385151" y="685159"/>
            <a:ext cx="360000" cy="360000"/>
            <a:chOff x="8470976" y="1609796"/>
            <a:chExt cx="360000" cy="360000"/>
          </a:xfrm>
        </p:grpSpPr>
        <p:sp>
          <p:nvSpPr>
            <p:cNvPr id="292" name="Google Shape;292;p41"/>
            <p:cNvSpPr/>
            <p:nvPr/>
          </p:nvSpPr>
          <p:spPr>
            <a:xfrm>
              <a:off x="8470976" y="1609796"/>
              <a:ext cx="360000" cy="360000"/>
            </a:xfrm>
            <a:prstGeom prst="ellipse">
              <a:avLst/>
            </a:prstGeom>
            <a:solidFill>
              <a:srgbClr val="8BE1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93" name="Google Shape;293;p41"/>
            <p:cNvPicPr preferRelativeResize="0"/>
            <p:nvPr/>
          </p:nvPicPr>
          <p:blipFill rotWithShape="1">
            <a:blip r:embed="rId5">
              <a:alphaModFix/>
            </a:blip>
            <a:srcRect b="0" l="0" r="0" t="0"/>
            <a:stretch/>
          </p:blipFill>
          <p:spPr>
            <a:xfrm>
              <a:off x="8560488" y="1699309"/>
              <a:ext cx="180975" cy="180975"/>
            </a:xfrm>
            <a:prstGeom prst="rect">
              <a:avLst/>
            </a:prstGeom>
            <a:noFill/>
            <a:ln>
              <a:noFill/>
            </a:ln>
          </p:spPr>
        </p:pic>
      </p:grpSp>
      <p:sp>
        <p:nvSpPr>
          <p:cNvPr id="294" name="Google Shape;294;p41"/>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80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En conclusión, la selección está orientada a </a:t>
            </a:r>
            <a:r>
              <a:rPr b="1" i="1" lang="es" sz="1200">
                <a:solidFill>
                  <a:schemeClr val="dk1"/>
                </a:solidFill>
                <a:latin typeface="Georgia"/>
                <a:ea typeface="Georgia"/>
                <a:cs typeface="Georgia"/>
                <a:sym typeface="Georgia"/>
              </a:rPr>
              <a:t>nowcasting</a:t>
            </a:r>
            <a:r>
              <a:rPr b="1" lang="es" sz="1200">
                <a:solidFill>
                  <a:schemeClr val="dk1"/>
                </a:solidFill>
                <a:latin typeface="Georgia"/>
                <a:ea typeface="Georgia"/>
                <a:cs typeface="Georgia"/>
                <a:sym typeface="Georgia"/>
              </a:rPr>
              <a:t> y proyección de NPL: series mensuales, anticipadas y robustas, con validación frente a equivalentes de menor frecuencia y tests extra-COVID</a:t>
            </a:r>
            <a:endParaRPr b="1" i="0" sz="1200" u="none" cap="none" strike="noStrike">
              <a:solidFill>
                <a:schemeClr val="dk1"/>
              </a:solidFill>
              <a:latin typeface="Georgia"/>
              <a:ea typeface="Georgia"/>
              <a:cs typeface="Georgia"/>
              <a:sym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8" name="Shape 298"/>
        <p:cNvGrpSpPr/>
        <p:nvPr/>
      </p:nvGrpSpPr>
      <p:grpSpPr>
        <a:xfrm>
          <a:off x="0" y="0"/>
          <a:ext cx="0" cy="0"/>
          <a:chOff x="0" y="0"/>
          <a:chExt cx="0" cy="0"/>
        </a:xfrm>
      </p:grpSpPr>
      <p:sp>
        <p:nvSpPr>
          <p:cNvPr id="299" name="Google Shape;299;p42"/>
          <p:cNvSpPr/>
          <p:nvPr/>
        </p:nvSpPr>
        <p:spPr>
          <a:xfrm>
            <a:off x="422025" y="895350"/>
            <a:ext cx="1956900" cy="483300"/>
          </a:xfrm>
          <a:prstGeom prst="roundRect">
            <a:avLst>
              <a:gd fmla="val 22986" name="adj"/>
            </a:avLst>
          </a:prstGeom>
          <a:solidFill>
            <a:schemeClr val="accent1"/>
          </a:solidFill>
          <a:ln>
            <a:noFill/>
          </a:ln>
        </p:spPr>
        <p:txBody>
          <a:bodyPr anchorCtr="0" anchor="ctr" bIns="0" lIns="10800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lang="es" sz="1200">
                <a:solidFill>
                  <a:srgbClr val="FFFFFF"/>
                </a:solidFill>
              </a:rPr>
              <a:t>Actividad y Confianza</a:t>
            </a:r>
            <a:endParaRPr b="1" i="0" sz="1200" u="none" cap="none" strike="noStrike">
              <a:solidFill>
                <a:srgbClr val="FFFFFF"/>
              </a:solidFill>
              <a:latin typeface="Arial"/>
              <a:ea typeface="Arial"/>
              <a:cs typeface="Arial"/>
              <a:sym typeface="Arial"/>
            </a:endParaRPr>
          </a:p>
        </p:txBody>
      </p:sp>
      <p:sp>
        <p:nvSpPr>
          <p:cNvPr id="300" name="Google Shape;300;p42"/>
          <p:cNvSpPr/>
          <p:nvPr/>
        </p:nvSpPr>
        <p:spPr>
          <a:xfrm>
            <a:off x="2536375" y="895350"/>
            <a:ext cx="1956900" cy="483300"/>
          </a:xfrm>
          <a:prstGeom prst="roundRect">
            <a:avLst>
              <a:gd fmla="val 22986" name="adj"/>
            </a:avLst>
          </a:prstGeom>
          <a:solidFill>
            <a:schemeClr val="accent3"/>
          </a:solidFill>
          <a:ln>
            <a:noFill/>
          </a:ln>
        </p:spPr>
        <p:txBody>
          <a:bodyPr anchorCtr="0" anchor="ctr" bIns="0" lIns="10800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lang="es" sz="1200">
                <a:solidFill>
                  <a:srgbClr val="FFFFFF"/>
                </a:solidFill>
              </a:rPr>
              <a:t>Tasas</a:t>
            </a:r>
            <a:endParaRPr b="1" i="0" sz="1200" u="none" cap="none" strike="noStrike">
              <a:solidFill>
                <a:srgbClr val="FFFFFF"/>
              </a:solidFill>
              <a:latin typeface="Arial"/>
              <a:ea typeface="Arial"/>
              <a:cs typeface="Arial"/>
              <a:sym typeface="Arial"/>
            </a:endParaRPr>
          </a:p>
        </p:txBody>
      </p:sp>
      <p:sp>
        <p:nvSpPr>
          <p:cNvPr id="301" name="Google Shape;301;p42"/>
          <p:cNvSpPr/>
          <p:nvPr/>
        </p:nvSpPr>
        <p:spPr>
          <a:xfrm>
            <a:off x="4650725" y="900075"/>
            <a:ext cx="1956900" cy="483300"/>
          </a:xfrm>
          <a:prstGeom prst="roundRect">
            <a:avLst>
              <a:gd fmla="val 22986" name="adj"/>
            </a:avLst>
          </a:prstGeom>
          <a:solidFill>
            <a:schemeClr val="accent5"/>
          </a:solidFill>
          <a:ln>
            <a:noFill/>
          </a:ln>
        </p:spPr>
        <p:txBody>
          <a:bodyPr anchorCtr="0" anchor="ctr" bIns="0" lIns="10800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lang="es" sz="1200">
                <a:solidFill>
                  <a:srgbClr val="FFFFFF"/>
                </a:solidFill>
              </a:rPr>
              <a:t>Variables Bancarias y Financieras</a:t>
            </a:r>
            <a:endParaRPr b="1" i="0" sz="1200" u="none" cap="none" strike="noStrike">
              <a:solidFill>
                <a:srgbClr val="FFFFFF"/>
              </a:solidFill>
              <a:latin typeface="Arial"/>
              <a:ea typeface="Arial"/>
              <a:cs typeface="Arial"/>
              <a:sym typeface="Arial"/>
            </a:endParaRPr>
          </a:p>
        </p:txBody>
      </p:sp>
      <p:sp>
        <p:nvSpPr>
          <p:cNvPr id="302" name="Google Shape;302;p42"/>
          <p:cNvSpPr/>
          <p:nvPr/>
        </p:nvSpPr>
        <p:spPr>
          <a:xfrm>
            <a:off x="6765075" y="900050"/>
            <a:ext cx="1956900" cy="483300"/>
          </a:xfrm>
          <a:prstGeom prst="roundRect">
            <a:avLst>
              <a:gd fmla="val 22986" name="adj"/>
            </a:avLst>
          </a:prstGeom>
          <a:solidFill>
            <a:schemeClr val="accent6"/>
          </a:solidFill>
          <a:ln>
            <a:noFill/>
          </a:ln>
        </p:spPr>
        <p:txBody>
          <a:bodyPr anchorCtr="0" anchor="ctr" bIns="0" lIns="10800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lang="es" sz="1200">
                <a:solidFill>
                  <a:srgbClr val="FFFFFF"/>
                </a:solidFill>
              </a:rPr>
              <a:t>Incertidumbre y </a:t>
            </a:r>
            <a:endParaRPr b="1" sz="1200">
              <a:solidFill>
                <a:srgbClr val="FFFFFF"/>
              </a:solidFill>
            </a:endParaRPr>
          </a:p>
          <a:p>
            <a:pPr indent="0" lvl="0" marL="0" marR="0" rtl="0" algn="l">
              <a:lnSpc>
                <a:spcPct val="100000"/>
              </a:lnSpc>
              <a:spcBef>
                <a:spcPts val="0"/>
              </a:spcBef>
              <a:spcAft>
                <a:spcPts val="0"/>
              </a:spcAft>
              <a:buClr>
                <a:srgbClr val="000000"/>
              </a:buClr>
              <a:buSzPts val="800"/>
              <a:buFont typeface="Arial"/>
              <a:buNone/>
            </a:pPr>
            <a:r>
              <a:rPr b="1" lang="es" sz="1200">
                <a:solidFill>
                  <a:srgbClr val="FFFFFF"/>
                </a:solidFill>
              </a:rPr>
              <a:t>Rastro Digital</a:t>
            </a:r>
            <a:endParaRPr b="1" i="0" sz="1200" u="none" cap="none" strike="noStrike">
              <a:solidFill>
                <a:srgbClr val="FFFFFF"/>
              </a:solidFill>
              <a:latin typeface="Arial"/>
              <a:ea typeface="Arial"/>
              <a:cs typeface="Arial"/>
              <a:sym typeface="Arial"/>
            </a:endParaRPr>
          </a:p>
        </p:txBody>
      </p:sp>
      <p:sp>
        <p:nvSpPr>
          <p:cNvPr id="303" name="Google Shape;303;p42"/>
          <p:cNvSpPr txBox="1"/>
          <p:nvPr/>
        </p:nvSpPr>
        <p:spPr>
          <a:xfrm>
            <a:off x="6765075" y="1639625"/>
            <a:ext cx="1956900" cy="2154900"/>
          </a:xfrm>
          <a:prstGeom prst="rect">
            <a:avLst/>
          </a:prstGeom>
          <a:noFill/>
          <a:ln>
            <a:noFill/>
          </a:ln>
        </p:spPr>
        <p:txBody>
          <a:bodyPr anchorCtr="0" anchor="t" bIns="0" lIns="0" spcFirstLastPara="1" rIns="0" wrap="square" tIns="0">
            <a:spAutoFit/>
          </a:bodyPr>
          <a:lstStyle/>
          <a:p>
            <a:pPr indent="-149901" lvl="0" marL="136801" rtl="0" algn="l">
              <a:spcBef>
                <a:spcPts val="0"/>
              </a:spcBef>
              <a:spcAft>
                <a:spcPts val="0"/>
              </a:spcAft>
              <a:buClr>
                <a:schemeClr val="dk1"/>
              </a:buClr>
              <a:buSzPts val="1000"/>
              <a:buChar char="●"/>
            </a:pPr>
            <a:r>
              <a:rPr b="1" lang="es" sz="1000">
                <a:solidFill>
                  <a:schemeClr val="dk1"/>
                </a:solidFill>
              </a:rPr>
              <a:t>Economic Policy Uncertainty </a:t>
            </a:r>
            <a:r>
              <a:rPr lang="es" sz="1000">
                <a:solidFill>
                  <a:schemeClr val="dk1"/>
                </a:solidFill>
              </a:rPr>
              <a:t>(EPU)</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Geopolitical Risk Index</a:t>
            </a:r>
            <a:r>
              <a:rPr lang="es" sz="1000">
                <a:solidFill>
                  <a:schemeClr val="dk1"/>
                </a:solidFill>
              </a:rPr>
              <a:t> (GRI)</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CBOE Volatility Index (VIX)</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Índices temáticos con GDELT</a:t>
            </a:r>
            <a:r>
              <a:rPr lang="es" sz="1000">
                <a:solidFill>
                  <a:schemeClr val="dk1"/>
                </a:solidFill>
              </a:rPr>
              <a:t>, basados en noticias de prensa digital</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Índices con Google Trends, </a:t>
            </a:r>
            <a:r>
              <a:rPr lang="es" sz="1000">
                <a:solidFill>
                  <a:schemeClr val="dk1"/>
                </a:solidFill>
              </a:rPr>
              <a:t>basados en búsquedas online (por temática y PCs)</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Indicadores</a:t>
            </a:r>
            <a:r>
              <a:rPr b="1" lang="es" sz="1000">
                <a:solidFill>
                  <a:schemeClr val="dk1"/>
                </a:solidFill>
              </a:rPr>
              <a:t> de Consumo BBVA</a:t>
            </a:r>
            <a:r>
              <a:rPr lang="es" sz="1000">
                <a:solidFill>
                  <a:schemeClr val="dk1"/>
                </a:solidFill>
              </a:rPr>
              <a:t> con Big Data</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Indicadores de Inversión BBVA</a:t>
            </a:r>
            <a:r>
              <a:rPr lang="es" sz="1000">
                <a:solidFill>
                  <a:schemeClr val="dk1"/>
                </a:solidFill>
              </a:rPr>
              <a:t> con Big Data</a:t>
            </a:r>
            <a:endParaRPr sz="1000">
              <a:solidFill>
                <a:schemeClr val="dk1"/>
              </a:solidFill>
            </a:endParaRPr>
          </a:p>
        </p:txBody>
      </p:sp>
      <p:sp>
        <p:nvSpPr>
          <p:cNvPr id="304" name="Google Shape;304;p42"/>
          <p:cNvSpPr txBox="1"/>
          <p:nvPr>
            <p:ph type="title"/>
          </p:nvPr>
        </p:nvSpPr>
        <p:spPr>
          <a:xfrm>
            <a:off x="346000" y="299962"/>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Las </a:t>
            </a:r>
            <a:r>
              <a:rPr lang="es"/>
              <a:t>variables</a:t>
            </a:r>
            <a:r>
              <a:rPr lang="es"/>
              <a:t> estudiadas</a:t>
            </a:r>
            <a:endParaRPr/>
          </a:p>
        </p:txBody>
      </p:sp>
      <p:sp>
        <p:nvSpPr>
          <p:cNvPr id="305" name="Google Shape;305;p42"/>
          <p:cNvSpPr txBox="1"/>
          <p:nvPr/>
        </p:nvSpPr>
        <p:spPr>
          <a:xfrm>
            <a:off x="4650725" y="1630850"/>
            <a:ext cx="1956900" cy="2616600"/>
          </a:xfrm>
          <a:prstGeom prst="rect">
            <a:avLst/>
          </a:prstGeom>
          <a:noFill/>
          <a:ln>
            <a:noFill/>
          </a:ln>
        </p:spPr>
        <p:txBody>
          <a:bodyPr anchorCtr="0" anchor="t" bIns="0" lIns="0" spcFirstLastPara="1" rIns="0" wrap="square" tIns="0">
            <a:spAutoFit/>
          </a:bodyPr>
          <a:lstStyle/>
          <a:p>
            <a:pPr indent="-149901" lvl="0" marL="136801" rtl="0" algn="l">
              <a:spcBef>
                <a:spcPts val="0"/>
              </a:spcBef>
              <a:spcAft>
                <a:spcPts val="0"/>
              </a:spcAft>
              <a:buClr>
                <a:schemeClr val="dk1"/>
              </a:buClr>
              <a:buSzPts val="1000"/>
              <a:buChar char="●"/>
            </a:pPr>
            <a:r>
              <a:rPr b="1" lang="es" sz="1000">
                <a:solidFill>
                  <a:schemeClr val="dk1"/>
                </a:solidFill>
              </a:rPr>
              <a:t>Saldos de carteras brutas </a:t>
            </a:r>
            <a:r>
              <a:rPr lang="es" sz="1000">
                <a:solidFill>
                  <a:schemeClr val="dk1"/>
                </a:solidFill>
              </a:rPr>
              <a:t>comercial, de consumo, hipotecaria y total (sin microcrédito)</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Rezagos de NPL </a:t>
            </a:r>
            <a:r>
              <a:rPr lang="es" sz="1000">
                <a:solidFill>
                  <a:schemeClr val="dk1"/>
                </a:solidFill>
              </a:rPr>
              <a:t>comercial, de consumo, hipotecaria y total (sin microcrédito)</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Tarjetas de crédito y débito de bancos colombianos</a:t>
            </a:r>
            <a:r>
              <a:rPr lang="es" sz="1000">
                <a:solidFill>
                  <a:schemeClr val="dk1"/>
                </a:solidFill>
              </a:rPr>
              <a:t>: monto de los castigos de cartera (PN/PJ) monto de los intereses por compras/avances (PN/PJ), monto de los intereses de mora (PN/PJ), número de tarjetas canceladas, número de tarjetas bloqueadas.</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Índice COLCAP</a:t>
            </a:r>
            <a:endParaRPr b="1" sz="1000">
              <a:solidFill>
                <a:schemeClr val="dk1"/>
              </a:solidFill>
            </a:endParaRPr>
          </a:p>
        </p:txBody>
      </p:sp>
      <p:sp>
        <p:nvSpPr>
          <p:cNvPr id="306" name="Google Shape;306;p42"/>
          <p:cNvSpPr txBox="1"/>
          <p:nvPr/>
        </p:nvSpPr>
        <p:spPr>
          <a:xfrm>
            <a:off x="2511025" y="1621400"/>
            <a:ext cx="1956900" cy="1539300"/>
          </a:xfrm>
          <a:prstGeom prst="rect">
            <a:avLst/>
          </a:prstGeom>
          <a:noFill/>
          <a:ln>
            <a:noFill/>
          </a:ln>
        </p:spPr>
        <p:txBody>
          <a:bodyPr anchorCtr="0" anchor="t" bIns="0" lIns="0" spcFirstLastPara="1" rIns="0" wrap="square" tIns="0">
            <a:spAutoFit/>
          </a:bodyPr>
          <a:lstStyle/>
          <a:p>
            <a:pPr indent="-149901" lvl="0" marL="136801" rtl="0" algn="l">
              <a:spcBef>
                <a:spcPts val="0"/>
              </a:spcBef>
              <a:spcAft>
                <a:spcPts val="0"/>
              </a:spcAft>
              <a:buClr>
                <a:schemeClr val="dk1"/>
              </a:buClr>
              <a:buSzPts val="1000"/>
              <a:buChar char="●"/>
            </a:pPr>
            <a:r>
              <a:rPr b="1" lang="es" sz="1000">
                <a:solidFill>
                  <a:schemeClr val="dk1"/>
                </a:solidFill>
              </a:rPr>
              <a:t>Tasa de Política Monetaria</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Títulos de tesorería (TES)</a:t>
            </a:r>
            <a:r>
              <a:rPr lang="es" sz="1000">
                <a:solidFill>
                  <a:schemeClr val="dk1"/>
                </a:solidFill>
              </a:rPr>
              <a:t> a 1, 5 y 10 años</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Tasas de colocación </a:t>
            </a:r>
            <a:r>
              <a:rPr lang="es" sz="1000">
                <a:solidFill>
                  <a:schemeClr val="dk1"/>
                </a:solidFill>
              </a:rPr>
              <a:t>comercial, de consumo, hipotecaria, de microcrédito y total</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Inflación </a:t>
            </a:r>
            <a:r>
              <a:rPr lang="es" sz="1000">
                <a:solidFill>
                  <a:schemeClr val="dk1"/>
                </a:solidFill>
              </a:rPr>
              <a:t>anual</a:t>
            </a:r>
            <a:endParaRPr sz="1000">
              <a:solidFill>
                <a:schemeClr val="dk1"/>
              </a:solidFill>
              <a:highlight>
                <a:schemeClr val="accent4"/>
              </a:highlight>
            </a:endParaRPr>
          </a:p>
          <a:p>
            <a:pPr indent="-149901" lvl="0" marL="136801" rtl="0" algn="l">
              <a:spcBef>
                <a:spcPts val="0"/>
              </a:spcBef>
              <a:spcAft>
                <a:spcPts val="0"/>
              </a:spcAft>
              <a:buClr>
                <a:schemeClr val="dk1"/>
              </a:buClr>
              <a:buSzPts val="1000"/>
              <a:buChar char="●"/>
            </a:pPr>
            <a:r>
              <a:rPr b="1" lang="es" sz="1000">
                <a:solidFill>
                  <a:schemeClr val="dk1"/>
                </a:solidFill>
              </a:rPr>
              <a:t>Indicador Bancario de Referencia</a:t>
            </a:r>
            <a:r>
              <a:rPr lang="es" sz="1000">
                <a:solidFill>
                  <a:schemeClr val="dk1"/>
                </a:solidFill>
              </a:rPr>
              <a:t> medio nominal</a:t>
            </a:r>
            <a:endParaRPr sz="1000">
              <a:solidFill>
                <a:schemeClr val="dk1"/>
              </a:solidFill>
            </a:endParaRPr>
          </a:p>
        </p:txBody>
      </p:sp>
      <p:sp>
        <p:nvSpPr>
          <p:cNvPr id="307" name="Google Shape;307;p42"/>
          <p:cNvSpPr txBox="1"/>
          <p:nvPr/>
        </p:nvSpPr>
        <p:spPr>
          <a:xfrm>
            <a:off x="422025" y="1621400"/>
            <a:ext cx="1956900" cy="3078600"/>
          </a:xfrm>
          <a:prstGeom prst="rect">
            <a:avLst/>
          </a:prstGeom>
          <a:noFill/>
          <a:ln>
            <a:noFill/>
          </a:ln>
        </p:spPr>
        <p:txBody>
          <a:bodyPr anchorCtr="0" anchor="t" bIns="0" lIns="0" spcFirstLastPara="1" rIns="0" wrap="square" tIns="0">
            <a:spAutoFit/>
          </a:bodyPr>
          <a:lstStyle/>
          <a:p>
            <a:pPr indent="-149901" lvl="0" marL="136801" rtl="0" algn="l">
              <a:spcBef>
                <a:spcPts val="0"/>
              </a:spcBef>
              <a:spcAft>
                <a:spcPts val="0"/>
              </a:spcAft>
              <a:buClr>
                <a:schemeClr val="dk1"/>
              </a:buClr>
              <a:buSzPts val="1000"/>
              <a:buChar char="●"/>
            </a:pPr>
            <a:r>
              <a:rPr b="1" lang="es" sz="1000">
                <a:solidFill>
                  <a:schemeClr val="dk1"/>
                </a:solidFill>
              </a:rPr>
              <a:t>Índice de Seguimiento Económico (ISE)</a:t>
            </a:r>
            <a:r>
              <a:rPr lang="es" sz="1000">
                <a:solidFill>
                  <a:schemeClr val="dk1"/>
                </a:solidFill>
              </a:rPr>
              <a:t>, total y por sectores</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Índice de Producción Industrial (IPI)</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Producción Manufacturera</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Ventas al por menor</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Gobierno Nacional de Colombia (GNC): </a:t>
            </a:r>
            <a:r>
              <a:rPr lang="es" sz="1000">
                <a:solidFill>
                  <a:schemeClr val="dk1"/>
                </a:solidFill>
              </a:rPr>
              <a:t>ingresos, gastos y déficit</a:t>
            </a:r>
            <a:endParaRPr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Confianza industrial, comercial y del consumidor</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Población, desempleo y desocupación</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Credit Default Swap (CDS)</a:t>
            </a:r>
            <a:endParaRPr b="1" sz="1000">
              <a:solidFill>
                <a:schemeClr val="dk1"/>
              </a:solidFill>
            </a:endParaRPr>
          </a:p>
          <a:p>
            <a:pPr indent="-149901" lvl="0" marL="136801" rtl="0" algn="l">
              <a:spcBef>
                <a:spcPts val="0"/>
              </a:spcBef>
              <a:spcAft>
                <a:spcPts val="0"/>
              </a:spcAft>
              <a:buClr>
                <a:schemeClr val="dk1"/>
              </a:buClr>
              <a:buSzPts val="1000"/>
              <a:buChar char="●"/>
            </a:pPr>
            <a:r>
              <a:rPr b="1" lang="es" sz="1000">
                <a:solidFill>
                  <a:schemeClr val="dk1"/>
                </a:solidFill>
              </a:rPr>
              <a:t>Vivienda: </a:t>
            </a:r>
            <a:r>
              <a:rPr lang="es" sz="1000">
                <a:solidFill>
                  <a:schemeClr val="dk1"/>
                </a:solidFill>
              </a:rPr>
              <a:t>Unidades Terminadas sin Vender (UTV), Ventas totales y Rotación</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Tipo de cambio COP-USD promedio y de fin de mes</a:t>
            </a:r>
            <a:endParaRPr sz="10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11" name="Shape 311"/>
        <p:cNvGrpSpPr/>
        <p:nvPr/>
      </p:nvGrpSpPr>
      <p:grpSpPr>
        <a:xfrm>
          <a:off x="0" y="0"/>
          <a:ext cx="0" cy="0"/>
          <a:chOff x="0" y="0"/>
          <a:chExt cx="0" cy="0"/>
        </a:xfrm>
      </p:grpSpPr>
      <p:sp>
        <p:nvSpPr>
          <p:cNvPr id="312" name="Google Shape;312;p43"/>
          <p:cNvSpPr txBox="1"/>
          <p:nvPr/>
        </p:nvSpPr>
        <p:spPr>
          <a:xfrm>
            <a:off x="344875" y="4857700"/>
            <a:ext cx="7973100" cy="1725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PN: Persona Natural.</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Mayor detalle de estas variables en la metadata incluida más adelante.</a:t>
            </a:r>
            <a:endParaRPr b="0" i="0" sz="700" u="none" cap="none" strike="noStrike">
              <a:solidFill>
                <a:srgbClr val="46536D"/>
              </a:solidFill>
              <a:latin typeface="Arial"/>
              <a:ea typeface="Arial"/>
              <a:cs typeface="Arial"/>
              <a:sym typeface="Arial"/>
            </a:endParaRPr>
          </a:p>
        </p:txBody>
      </p:sp>
      <p:sp>
        <p:nvSpPr>
          <p:cNvPr id="313" name="Google Shape;313;p43"/>
          <p:cNvSpPr txBox="1"/>
          <p:nvPr/>
        </p:nvSpPr>
        <p:spPr>
          <a:xfrm>
            <a:off x="175825" y="1520018"/>
            <a:ext cx="1956900" cy="2770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800"/>
              <a:buFont typeface="Arial"/>
              <a:buNone/>
            </a:pPr>
            <a:r>
              <a:rPr b="1" i="1" lang="es" sz="1000">
                <a:solidFill>
                  <a:schemeClr val="dk1"/>
                </a:solidFill>
              </a:rPr>
              <a:t>Tradicionales</a:t>
            </a:r>
            <a:endParaRPr b="1" i="1"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12 rezagos de NPL comercial</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Cartera bruta comercial (t-16)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ISE act. terciarias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IPI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TPM (t-14)</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Tasa de interés comercial (t-11)</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Índice de confianza industrial (t-24)</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Inflación (t-20)</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Dummy COVID: Mar20-Jul22</a:t>
            </a:r>
            <a:endParaRPr sz="1000">
              <a:solidFill>
                <a:schemeClr val="dk1"/>
              </a:solidFill>
            </a:endParaRPr>
          </a:p>
          <a:p>
            <a:pPr indent="0" lvl="0" marL="0" rtl="0" algn="l">
              <a:spcBef>
                <a:spcPts val="0"/>
              </a:spcBef>
              <a:spcAft>
                <a:spcPts val="0"/>
              </a:spcAft>
              <a:buClr>
                <a:srgbClr val="000000"/>
              </a:buClr>
              <a:buSzPts val="800"/>
              <a:buFont typeface="Arial"/>
              <a:buNone/>
            </a:pPr>
            <a:r>
              <a:t/>
            </a:r>
            <a:endParaRPr sz="1000">
              <a:solidFill>
                <a:schemeClr val="dk1"/>
              </a:solidFill>
            </a:endParaRPr>
          </a:p>
          <a:p>
            <a:pPr indent="0" lvl="0" marL="0" rtl="0" algn="l">
              <a:spcBef>
                <a:spcPts val="0"/>
              </a:spcBef>
              <a:spcAft>
                <a:spcPts val="0"/>
              </a:spcAft>
              <a:buClr>
                <a:srgbClr val="000000"/>
              </a:buClr>
              <a:buSzPts val="800"/>
              <a:buFont typeface="Arial"/>
              <a:buNone/>
            </a:pPr>
            <a:r>
              <a:rPr b="1" i="1" lang="es" sz="1000">
                <a:solidFill>
                  <a:schemeClr val="dk1"/>
                </a:solidFill>
              </a:rPr>
              <a:t>NO tradicionales</a:t>
            </a:r>
            <a:endParaRPr b="1" i="1"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Intereses de compras con tarjeta de crédito (PN) (t-17)</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Índice </a:t>
            </a:r>
            <a:r>
              <a:rPr lang="es" sz="1000">
                <a:solidFill>
                  <a:schemeClr val="dk1"/>
                </a:solidFill>
              </a:rPr>
              <a:t>BBVA </a:t>
            </a:r>
            <a:r>
              <a:rPr lang="es" sz="1000">
                <a:solidFill>
                  <a:schemeClr val="dk1"/>
                </a:solidFill>
              </a:rPr>
              <a:t>de consumo real de alimentos (t-24)</a:t>
            </a:r>
            <a:endParaRPr b="1" sz="1000">
              <a:solidFill>
                <a:schemeClr val="dk1"/>
              </a:solidFill>
            </a:endParaRPr>
          </a:p>
          <a:p>
            <a:pPr indent="0" lvl="0" marL="0" marR="0" rtl="0" algn="l">
              <a:lnSpc>
                <a:spcPct val="100000"/>
              </a:lnSpc>
              <a:spcBef>
                <a:spcPts val="0"/>
              </a:spcBef>
              <a:spcAft>
                <a:spcPts val="0"/>
              </a:spcAft>
              <a:buClr>
                <a:srgbClr val="000000"/>
              </a:buClr>
              <a:buSzPts val="800"/>
              <a:buFont typeface="Arial"/>
              <a:buNone/>
            </a:pPr>
            <a:r>
              <a:t/>
            </a:r>
            <a:endParaRPr b="0" i="0" sz="1000" u="none" cap="none" strike="noStrike">
              <a:solidFill>
                <a:schemeClr val="dk1"/>
              </a:solidFill>
              <a:latin typeface="Arial"/>
              <a:ea typeface="Arial"/>
              <a:cs typeface="Arial"/>
              <a:sym typeface="Arial"/>
            </a:endParaRPr>
          </a:p>
        </p:txBody>
      </p:sp>
      <p:sp>
        <p:nvSpPr>
          <p:cNvPr id="314" name="Google Shape;314;p43"/>
          <p:cNvSpPr/>
          <p:nvPr/>
        </p:nvSpPr>
        <p:spPr>
          <a:xfrm>
            <a:off x="175825" y="927900"/>
            <a:ext cx="1956900" cy="483300"/>
          </a:xfrm>
          <a:prstGeom prst="roundRect">
            <a:avLst>
              <a:gd fmla="val 22986" name="adj"/>
            </a:avLst>
          </a:prstGeom>
          <a:solidFill>
            <a:schemeClr val="dk1"/>
          </a:solidFill>
          <a:ln>
            <a:noFill/>
          </a:ln>
        </p:spPr>
        <p:txBody>
          <a:bodyPr anchorCtr="0" anchor="ctr" bIns="0" lIns="10800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1200">
                <a:solidFill>
                  <a:srgbClr val="FFFFFF"/>
                </a:solidFill>
              </a:rPr>
              <a:t>NPL Comercial</a:t>
            </a:r>
            <a:endParaRPr b="1" i="0" sz="1200" u="none" cap="none" strike="noStrike">
              <a:solidFill>
                <a:srgbClr val="FFFFFF"/>
              </a:solidFill>
              <a:latin typeface="Arial"/>
              <a:ea typeface="Arial"/>
              <a:cs typeface="Arial"/>
              <a:sym typeface="Arial"/>
            </a:endParaRPr>
          </a:p>
        </p:txBody>
      </p:sp>
      <p:sp>
        <p:nvSpPr>
          <p:cNvPr id="315" name="Google Shape;315;p43"/>
          <p:cNvSpPr/>
          <p:nvPr/>
        </p:nvSpPr>
        <p:spPr>
          <a:xfrm>
            <a:off x="2290175" y="927900"/>
            <a:ext cx="1956900" cy="483300"/>
          </a:xfrm>
          <a:prstGeom prst="roundRect">
            <a:avLst>
              <a:gd fmla="val 22986" name="adj"/>
            </a:avLst>
          </a:prstGeom>
          <a:solidFill>
            <a:schemeClr val="dk1"/>
          </a:solidFill>
          <a:ln>
            <a:noFill/>
          </a:ln>
        </p:spPr>
        <p:txBody>
          <a:bodyPr anchorCtr="0" anchor="ctr" bIns="0" lIns="10800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1200">
                <a:solidFill>
                  <a:srgbClr val="FFFFFF"/>
                </a:solidFill>
              </a:rPr>
              <a:t>NPL Consumo</a:t>
            </a:r>
            <a:endParaRPr b="1" i="0" sz="1200" u="none" cap="none" strike="noStrike">
              <a:solidFill>
                <a:srgbClr val="FFFFFF"/>
              </a:solidFill>
              <a:latin typeface="Arial"/>
              <a:ea typeface="Arial"/>
              <a:cs typeface="Arial"/>
              <a:sym typeface="Arial"/>
            </a:endParaRPr>
          </a:p>
        </p:txBody>
      </p:sp>
      <p:sp>
        <p:nvSpPr>
          <p:cNvPr id="316" name="Google Shape;316;p43"/>
          <p:cNvSpPr txBox="1"/>
          <p:nvPr/>
        </p:nvSpPr>
        <p:spPr>
          <a:xfrm>
            <a:off x="2290177" y="1520018"/>
            <a:ext cx="1956900" cy="3078600"/>
          </a:xfrm>
          <a:prstGeom prst="rect">
            <a:avLst/>
          </a:prstGeom>
          <a:noFill/>
          <a:ln>
            <a:noFill/>
          </a:ln>
        </p:spPr>
        <p:txBody>
          <a:bodyPr anchorCtr="0" anchor="t" bIns="0" lIns="0" spcFirstLastPara="1" rIns="0" wrap="square" tIns="0">
            <a:spAutoFit/>
          </a:bodyPr>
          <a:lstStyle/>
          <a:p>
            <a:pPr indent="0" lvl="0" marL="0" marR="35999" rtl="0" algn="l">
              <a:spcBef>
                <a:spcPts val="0"/>
              </a:spcBef>
              <a:spcAft>
                <a:spcPts val="0"/>
              </a:spcAft>
              <a:buNone/>
            </a:pPr>
            <a:r>
              <a:rPr b="1" i="1" lang="es" sz="1000">
                <a:solidFill>
                  <a:schemeClr val="dk1"/>
                </a:solidFill>
              </a:rPr>
              <a:t>Tradicionales</a:t>
            </a:r>
            <a:endParaRPr b="1" i="1"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12 rezagos de NPL consumo</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Cartera bruta consumo (t-15)</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ISE act. terciarias (t-6)</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IPI (t-6)</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TPM (t-12)</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Ventas al por menor (t-6)</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Tasa de interés consumo (t-7)</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Inflación (t-18)</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Dummy COVID: Mar20-Jul22</a:t>
            </a:r>
            <a:endParaRPr sz="1000">
              <a:solidFill>
                <a:schemeClr val="dk1"/>
              </a:solidFill>
            </a:endParaRPr>
          </a:p>
          <a:p>
            <a:pPr indent="0" lvl="0" marL="0" marR="35999" rtl="0" algn="l">
              <a:spcBef>
                <a:spcPts val="0"/>
              </a:spcBef>
              <a:spcAft>
                <a:spcPts val="0"/>
              </a:spcAft>
              <a:buNone/>
            </a:pPr>
            <a:r>
              <a:t/>
            </a:r>
            <a:endParaRPr sz="1000">
              <a:solidFill>
                <a:schemeClr val="dk1"/>
              </a:solidFill>
            </a:endParaRPr>
          </a:p>
          <a:p>
            <a:pPr indent="0" lvl="0" marL="0" marR="35999" rtl="0" algn="l">
              <a:spcBef>
                <a:spcPts val="0"/>
              </a:spcBef>
              <a:spcAft>
                <a:spcPts val="0"/>
              </a:spcAft>
              <a:buNone/>
            </a:pPr>
            <a:r>
              <a:t/>
            </a:r>
            <a:endParaRPr sz="1000">
              <a:solidFill>
                <a:schemeClr val="dk1"/>
              </a:solidFill>
            </a:endParaRPr>
          </a:p>
          <a:p>
            <a:pPr indent="0" lvl="0" marL="0" marR="35999" rtl="0" algn="l">
              <a:spcBef>
                <a:spcPts val="0"/>
              </a:spcBef>
              <a:spcAft>
                <a:spcPts val="0"/>
              </a:spcAft>
              <a:buNone/>
            </a:pPr>
            <a:r>
              <a:rPr b="1" i="1" lang="es" sz="1000">
                <a:solidFill>
                  <a:schemeClr val="dk1"/>
                </a:solidFill>
              </a:rPr>
              <a:t>NO tradicionales</a:t>
            </a:r>
            <a:endParaRPr b="1" i="1"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Intereses de compras con tarjeta de crédito (PN) (t-13)</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Índice </a:t>
            </a:r>
            <a:r>
              <a:rPr lang="es" sz="1000">
                <a:solidFill>
                  <a:schemeClr val="dk1"/>
                </a:solidFill>
              </a:rPr>
              <a:t>BBVA </a:t>
            </a:r>
            <a:r>
              <a:rPr lang="es" sz="1000">
                <a:solidFill>
                  <a:schemeClr val="dk1"/>
                </a:solidFill>
              </a:rPr>
              <a:t>de consumo real de alimentos (t-23)</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GDELT* (t-13)</a:t>
            </a:r>
            <a:endParaRPr sz="1000">
              <a:solidFill>
                <a:schemeClr val="dk1"/>
              </a:solidFill>
            </a:endParaRPr>
          </a:p>
          <a:p>
            <a:pPr indent="-149901" lvl="0" marL="136801" marR="35999" rtl="0" algn="l">
              <a:spcBef>
                <a:spcPts val="0"/>
              </a:spcBef>
              <a:spcAft>
                <a:spcPts val="0"/>
              </a:spcAft>
              <a:buClr>
                <a:schemeClr val="dk1"/>
              </a:buClr>
              <a:buSzPts val="1000"/>
              <a:buChar char="●"/>
            </a:pPr>
            <a:r>
              <a:rPr lang="es" sz="1000">
                <a:solidFill>
                  <a:schemeClr val="dk1"/>
                </a:solidFill>
              </a:rPr>
              <a:t>Google Trends (Consumo)* (t-13)</a:t>
            </a:r>
            <a:endParaRPr sz="1000">
              <a:solidFill>
                <a:schemeClr val="dk1"/>
              </a:solidFill>
            </a:endParaRPr>
          </a:p>
        </p:txBody>
      </p:sp>
      <p:sp>
        <p:nvSpPr>
          <p:cNvPr id="317" name="Google Shape;317;p43"/>
          <p:cNvSpPr/>
          <p:nvPr/>
        </p:nvSpPr>
        <p:spPr>
          <a:xfrm>
            <a:off x="4404525" y="932625"/>
            <a:ext cx="1956900" cy="483300"/>
          </a:xfrm>
          <a:prstGeom prst="roundRect">
            <a:avLst>
              <a:gd fmla="val 22986" name="adj"/>
            </a:avLst>
          </a:prstGeom>
          <a:solidFill>
            <a:schemeClr val="dk1"/>
          </a:solidFill>
          <a:ln>
            <a:noFill/>
          </a:ln>
        </p:spPr>
        <p:txBody>
          <a:bodyPr anchorCtr="0" anchor="ctr" bIns="0" lIns="10800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1200">
                <a:solidFill>
                  <a:srgbClr val="FFFFFF"/>
                </a:solidFill>
              </a:rPr>
              <a:t>NPL Hipotecaria</a:t>
            </a:r>
            <a:endParaRPr b="1" i="0" sz="1200" u="none" cap="none" strike="noStrike">
              <a:solidFill>
                <a:srgbClr val="FFFFFF"/>
              </a:solidFill>
              <a:latin typeface="Arial"/>
              <a:ea typeface="Arial"/>
              <a:cs typeface="Arial"/>
              <a:sym typeface="Arial"/>
            </a:endParaRPr>
          </a:p>
        </p:txBody>
      </p:sp>
      <p:sp>
        <p:nvSpPr>
          <p:cNvPr id="318" name="Google Shape;318;p43"/>
          <p:cNvSpPr txBox="1"/>
          <p:nvPr/>
        </p:nvSpPr>
        <p:spPr>
          <a:xfrm>
            <a:off x="4404525" y="1515318"/>
            <a:ext cx="1956900" cy="323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800"/>
              <a:buFont typeface="Arial"/>
              <a:buNone/>
            </a:pPr>
            <a:r>
              <a:rPr b="1" i="1" lang="es" sz="1000">
                <a:solidFill>
                  <a:schemeClr val="dk1"/>
                </a:solidFill>
              </a:rPr>
              <a:t>Tradicionales</a:t>
            </a:r>
            <a:endParaRPr b="1" i="1"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12 rezagos de NPL hipotecaria</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Cartera bruta hipotecaria (t-18)</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ISE total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Tasa de interés hipotecaria (t-18)</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TES a 10 años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Índice de confianza consumidor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Tasa desocupación en las 13 ciudades principales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Unidades Terminadas sin Vender (Viviendas) (t-7)</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Dummy COVID: Mar20-Jul22</a:t>
            </a:r>
            <a:endParaRPr sz="1000">
              <a:solidFill>
                <a:schemeClr val="dk1"/>
              </a:solidFill>
            </a:endParaRPr>
          </a:p>
          <a:p>
            <a:pPr indent="0" lvl="0" marL="0" rtl="0" algn="l">
              <a:spcBef>
                <a:spcPts val="0"/>
              </a:spcBef>
              <a:spcAft>
                <a:spcPts val="0"/>
              </a:spcAft>
              <a:buClr>
                <a:srgbClr val="000000"/>
              </a:buClr>
              <a:buSzPts val="800"/>
              <a:buFont typeface="Arial"/>
              <a:buNone/>
            </a:pPr>
            <a:r>
              <a:t/>
            </a:r>
            <a:endParaRPr sz="1000">
              <a:solidFill>
                <a:schemeClr val="dk1"/>
              </a:solidFill>
            </a:endParaRPr>
          </a:p>
          <a:p>
            <a:pPr indent="0" lvl="0" marL="0" rtl="0" algn="l">
              <a:spcBef>
                <a:spcPts val="0"/>
              </a:spcBef>
              <a:spcAft>
                <a:spcPts val="0"/>
              </a:spcAft>
              <a:buClr>
                <a:srgbClr val="000000"/>
              </a:buClr>
              <a:buSzPts val="800"/>
              <a:buFont typeface="Arial"/>
              <a:buNone/>
            </a:pPr>
            <a:r>
              <a:rPr b="1" i="1" lang="es" sz="1000">
                <a:solidFill>
                  <a:schemeClr val="dk1"/>
                </a:solidFill>
              </a:rPr>
              <a:t>NO tradicionales</a:t>
            </a:r>
            <a:endParaRPr b="1" i="1"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GDELT* (Deuda) (t-12)</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Google Trends (Consumo)* (t-12)</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Intereses de compras con tarjeta de crédito (PN) (t-15)</a:t>
            </a:r>
            <a:endParaRPr sz="1000">
              <a:solidFill>
                <a:schemeClr val="dk1"/>
              </a:solidFill>
            </a:endParaRPr>
          </a:p>
        </p:txBody>
      </p:sp>
      <p:sp>
        <p:nvSpPr>
          <p:cNvPr id="319" name="Google Shape;319;p43"/>
          <p:cNvSpPr/>
          <p:nvPr/>
        </p:nvSpPr>
        <p:spPr>
          <a:xfrm>
            <a:off x="6518875" y="932600"/>
            <a:ext cx="1956900" cy="483300"/>
          </a:xfrm>
          <a:prstGeom prst="roundRect">
            <a:avLst>
              <a:gd fmla="val 22986" name="adj"/>
            </a:avLst>
          </a:prstGeom>
          <a:solidFill>
            <a:schemeClr val="dk1"/>
          </a:solidFill>
          <a:ln>
            <a:noFill/>
          </a:ln>
        </p:spPr>
        <p:txBody>
          <a:bodyPr anchorCtr="0" anchor="ctr" bIns="0" lIns="10800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1200">
                <a:solidFill>
                  <a:srgbClr val="FFFFFF"/>
                </a:solidFill>
              </a:rPr>
              <a:t>NPL Total Sin Microcrédito</a:t>
            </a:r>
            <a:endParaRPr b="1" i="0" sz="1200" u="none" cap="none" strike="noStrike">
              <a:solidFill>
                <a:srgbClr val="FFFFFF"/>
              </a:solidFill>
              <a:latin typeface="Arial"/>
              <a:ea typeface="Arial"/>
              <a:cs typeface="Arial"/>
              <a:sym typeface="Arial"/>
            </a:endParaRPr>
          </a:p>
        </p:txBody>
      </p:sp>
      <p:sp>
        <p:nvSpPr>
          <p:cNvPr id="320" name="Google Shape;320;p43"/>
          <p:cNvSpPr txBox="1"/>
          <p:nvPr/>
        </p:nvSpPr>
        <p:spPr>
          <a:xfrm>
            <a:off x="6518875" y="1515300"/>
            <a:ext cx="2054700" cy="323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800"/>
              <a:buFont typeface="Arial"/>
              <a:buNone/>
            </a:pPr>
            <a:r>
              <a:rPr b="1" i="1" lang="es" sz="1000">
                <a:solidFill>
                  <a:schemeClr val="dk1"/>
                </a:solidFill>
              </a:rPr>
              <a:t>Tradicionales</a:t>
            </a:r>
            <a:endParaRPr b="1" i="1"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12 rezagos de NPL total (sin microcrédito)</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Cartera bruta total sin microcrédito (t-17)</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ISE total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IPI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Tasa de interés de colocación total (t-24)</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Índice de confianza comercial (t-24)</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Ventas al por menor (t-24)</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Tasa desocupación en las 13 ciudades principales (t-6)</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D</a:t>
            </a:r>
            <a:r>
              <a:rPr lang="es" sz="1000">
                <a:solidFill>
                  <a:schemeClr val="dk1"/>
                </a:solidFill>
              </a:rPr>
              <a:t>ummy COVID: Mar20-Jul22</a:t>
            </a:r>
            <a:endParaRPr sz="1000">
              <a:solidFill>
                <a:schemeClr val="dk1"/>
              </a:solidFill>
              <a:highlight>
                <a:schemeClr val="accent4"/>
              </a:highlight>
            </a:endParaRPr>
          </a:p>
          <a:p>
            <a:pPr indent="0" lvl="0" marL="457200" rtl="0" algn="l">
              <a:spcBef>
                <a:spcPts val="0"/>
              </a:spcBef>
              <a:spcAft>
                <a:spcPts val="0"/>
              </a:spcAft>
              <a:buNone/>
            </a:pPr>
            <a:r>
              <a:t/>
            </a:r>
            <a:endParaRPr sz="1000">
              <a:solidFill>
                <a:schemeClr val="dk1"/>
              </a:solidFill>
            </a:endParaRPr>
          </a:p>
          <a:p>
            <a:pPr indent="0" lvl="0" marL="0" rtl="0" algn="l">
              <a:spcBef>
                <a:spcPts val="0"/>
              </a:spcBef>
              <a:spcAft>
                <a:spcPts val="0"/>
              </a:spcAft>
              <a:buClr>
                <a:srgbClr val="000000"/>
              </a:buClr>
              <a:buSzPts val="800"/>
              <a:buFont typeface="Arial"/>
              <a:buNone/>
            </a:pPr>
            <a:r>
              <a:rPr b="1" i="1" lang="es" sz="1000">
                <a:solidFill>
                  <a:schemeClr val="dk1"/>
                </a:solidFill>
              </a:rPr>
              <a:t>NO tradicionales</a:t>
            </a:r>
            <a:endParaRPr b="1" i="1"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Índice </a:t>
            </a:r>
            <a:r>
              <a:rPr lang="es" sz="1000">
                <a:solidFill>
                  <a:schemeClr val="dk1"/>
                </a:solidFill>
              </a:rPr>
              <a:t>BBVA </a:t>
            </a:r>
            <a:r>
              <a:rPr lang="es" sz="1000">
                <a:solidFill>
                  <a:schemeClr val="dk1"/>
                </a:solidFill>
              </a:rPr>
              <a:t>de consumo en hostelería* (t-23)</a:t>
            </a:r>
            <a:endParaRPr sz="1000">
              <a:solidFill>
                <a:schemeClr val="dk1"/>
              </a:solidFill>
            </a:endParaRPr>
          </a:p>
          <a:p>
            <a:pPr indent="-149901" lvl="0" marL="136801" rtl="0" algn="l">
              <a:spcBef>
                <a:spcPts val="0"/>
              </a:spcBef>
              <a:spcAft>
                <a:spcPts val="0"/>
              </a:spcAft>
              <a:buClr>
                <a:schemeClr val="dk1"/>
              </a:buClr>
              <a:buSzPts val="1000"/>
              <a:buChar char="●"/>
            </a:pPr>
            <a:r>
              <a:rPr lang="es" sz="1000">
                <a:solidFill>
                  <a:schemeClr val="dk1"/>
                </a:solidFill>
              </a:rPr>
              <a:t>Intereses de compras con tarjeta de crédito (PN) (t-12)</a:t>
            </a:r>
            <a:endParaRPr sz="1000">
              <a:solidFill>
                <a:schemeClr val="dk1"/>
              </a:solidFill>
            </a:endParaRPr>
          </a:p>
        </p:txBody>
      </p:sp>
      <p:sp>
        <p:nvSpPr>
          <p:cNvPr id="321" name="Google Shape;321;p43"/>
          <p:cNvSpPr txBox="1"/>
          <p:nvPr>
            <p:ph type="title"/>
          </p:nvPr>
        </p:nvSpPr>
        <p:spPr>
          <a:xfrm>
            <a:off x="346000" y="299962"/>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Las variables seleccionadas por cartera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nvSpPr>
        <p:spPr>
          <a:xfrm>
            <a:off x="344875" y="4857700"/>
            <a:ext cx="7973100" cy="2586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Fuente: BBVA Research</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Utilizando el criterio de máxima correlación de Kendall.</a:t>
            </a:r>
            <a:endParaRPr sz="700">
              <a:solidFill>
                <a:srgbClr val="46536D"/>
              </a:solidFill>
            </a:endParaRPr>
          </a:p>
        </p:txBody>
      </p:sp>
      <p:sp>
        <p:nvSpPr>
          <p:cNvPr id="327" name="Google Shape;327;p44"/>
          <p:cNvSpPr/>
          <p:nvPr/>
        </p:nvSpPr>
        <p:spPr>
          <a:xfrm>
            <a:off x="342000" y="671525"/>
            <a:ext cx="4118400" cy="20259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28" name="Google Shape;328;p44"/>
          <p:cNvSpPr/>
          <p:nvPr/>
        </p:nvSpPr>
        <p:spPr>
          <a:xfrm>
            <a:off x="4691076" y="671525"/>
            <a:ext cx="4117800" cy="2026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29" name="Google Shape;329;p44"/>
          <p:cNvSpPr txBox="1"/>
          <p:nvPr/>
        </p:nvSpPr>
        <p:spPr>
          <a:xfrm>
            <a:off x="410526" y="755200"/>
            <a:ext cx="30720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COMERCIAL</a:t>
            </a:r>
            <a:r>
              <a:rPr b="1" i="0" lang="es"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200" u="none" cap="none" strike="noStrike">
              <a:solidFill>
                <a:schemeClr val="dk1"/>
              </a:solidFill>
              <a:latin typeface="Arial"/>
              <a:ea typeface="Arial"/>
              <a:cs typeface="Arial"/>
              <a:sym typeface="Arial"/>
            </a:endParaRPr>
          </a:p>
        </p:txBody>
      </p:sp>
      <p:cxnSp>
        <p:nvCxnSpPr>
          <p:cNvPr id="330" name="Google Shape;330;p44"/>
          <p:cNvCxnSpPr/>
          <p:nvPr/>
        </p:nvCxnSpPr>
        <p:spPr>
          <a:xfrm flipH="1" rot="10800000">
            <a:off x="374094" y="979288"/>
            <a:ext cx="4054200" cy="24300"/>
          </a:xfrm>
          <a:prstGeom prst="straightConnector1">
            <a:avLst/>
          </a:prstGeom>
          <a:noFill/>
          <a:ln cap="flat" cmpd="sng" w="9525">
            <a:solidFill>
              <a:schemeClr val="dk1"/>
            </a:solidFill>
            <a:prstDash val="solid"/>
            <a:round/>
            <a:headEnd len="sm" w="sm" type="none"/>
            <a:tailEnd len="sm" w="sm" type="none"/>
          </a:ln>
        </p:spPr>
      </p:cxnSp>
      <p:sp>
        <p:nvSpPr>
          <p:cNvPr id="331" name="Google Shape;331;p44"/>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Correlaciones </a:t>
            </a:r>
            <a:r>
              <a:rPr lang="es"/>
              <a:t>de las variables seleccionadas*</a:t>
            </a:r>
            <a:endParaRPr baseline="30000"/>
          </a:p>
        </p:txBody>
      </p:sp>
      <p:sp>
        <p:nvSpPr>
          <p:cNvPr id="332" name="Google Shape;332;p44"/>
          <p:cNvSpPr txBox="1"/>
          <p:nvPr/>
        </p:nvSpPr>
        <p:spPr>
          <a:xfrm>
            <a:off x="4761368" y="755200"/>
            <a:ext cx="34242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CONSUMO</a:t>
            </a:r>
            <a:r>
              <a:rPr b="1" i="0" lang="es"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200" u="none" cap="none" strike="noStrike">
              <a:solidFill>
                <a:schemeClr val="dk1"/>
              </a:solidFill>
              <a:latin typeface="Arial"/>
              <a:ea typeface="Arial"/>
              <a:cs typeface="Arial"/>
              <a:sym typeface="Arial"/>
            </a:endParaRPr>
          </a:p>
        </p:txBody>
      </p:sp>
      <p:cxnSp>
        <p:nvCxnSpPr>
          <p:cNvPr id="333" name="Google Shape;333;p44"/>
          <p:cNvCxnSpPr/>
          <p:nvPr/>
        </p:nvCxnSpPr>
        <p:spPr>
          <a:xfrm>
            <a:off x="4737270" y="987513"/>
            <a:ext cx="4025400" cy="11100"/>
          </a:xfrm>
          <a:prstGeom prst="straightConnector1">
            <a:avLst/>
          </a:prstGeom>
          <a:noFill/>
          <a:ln cap="flat" cmpd="sng" w="9525">
            <a:solidFill>
              <a:schemeClr val="dk1"/>
            </a:solidFill>
            <a:prstDash val="solid"/>
            <a:round/>
            <a:headEnd len="sm" w="sm" type="none"/>
            <a:tailEnd len="sm" w="sm" type="none"/>
          </a:ln>
        </p:spPr>
      </p:cxnSp>
      <p:sp>
        <p:nvSpPr>
          <p:cNvPr id="334" name="Google Shape;334;p44"/>
          <p:cNvSpPr/>
          <p:nvPr/>
        </p:nvSpPr>
        <p:spPr>
          <a:xfrm>
            <a:off x="342000" y="2794772"/>
            <a:ext cx="4118400" cy="20259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35" name="Google Shape;335;p44"/>
          <p:cNvSpPr/>
          <p:nvPr/>
        </p:nvSpPr>
        <p:spPr>
          <a:xfrm>
            <a:off x="4691076" y="2794772"/>
            <a:ext cx="4117800" cy="2026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36" name="Google Shape;336;p44"/>
          <p:cNvSpPr txBox="1"/>
          <p:nvPr/>
        </p:nvSpPr>
        <p:spPr>
          <a:xfrm>
            <a:off x="410525" y="2831200"/>
            <a:ext cx="3072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HIPOTECARIA</a:t>
            </a:r>
            <a:endParaRPr b="0" i="0" sz="1200" u="none" cap="none" strike="noStrike">
              <a:solidFill>
                <a:schemeClr val="dk1"/>
              </a:solidFill>
              <a:latin typeface="Arial"/>
              <a:ea typeface="Arial"/>
              <a:cs typeface="Arial"/>
              <a:sym typeface="Arial"/>
            </a:endParaRPr>
          </a:p>
        </p:txBody>
      </p:sp>
      <p:cxnSp>
        <p:nvCxnSpPr>
          <p:cNvPr id="337" name="Google Shape;337;p44"/>
          <p:cNvCxnSpPr/>
          <p:nvPr/>
        </p:nvCxnSpPr>
        <p:spPr>
          <a:xfrm flipH="1" rot="10800000">
            <a:off x="374094" y="3055310"/>
            <a:ext cx="4054200" cy="24300"/>
          </a:xfrm>
          <a:prstGeom prst="straightConnector1">
            <a:avLst/>
          </a:prstGeom>
          <a:noFill/>
          <a:ln cap="flat" cmpd="sng" w="9525">
            <a:solidFill>
              <a:schemeClr val="dk1"/>
            </a:solidFill>
            <a:prstDash val="solid"/>
            <a:round/>
            <a:headEnd len="sm" w="sm" type="none"/>
            <a:tailEnd len="sm" w="sm" type="none"/>
          </a:ln>
        </p:spPr>
      </p:cxnSp>
      <p:sp>
        <p:nvSpPr>
          <p:cNvPr id="338" name="Google Shape;338;p44"/>
          <p:cNvSpPr txBox="1"/>
          <p:nvPr/>
        </p:nvSpPr>
        <p:spPr>
          <a:xfrm>
            <a:off x="4761368" y="2811997"/>
            <a:ext cx="34242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a:t>
            </a:r>
            <a:r>
              <a:rPr b="1" lang="es" sz="1200">
                <a:solidFill>
                  <a:schemeClr val="dk1"/>
                </a:solidFill>
              </a:rPr>
              <a:t>TOTAL </a:t>
            </a:r>
            <a:r>
              <a:rPr b="1" lang="es" sz="1200">
                <a:solidFill>
                  <a:schemeClr val="dk1"/>
                </a:solidFill>
              </a:rPr>
              <a:t>SIN MICROCRÉDITO</a:t>
            </a:r>
            <a:r>
              <a:rPr b="1" i="0" lang="es"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200" u="none" cap="none" strike="noStrike">
              <a:solidFill>
                <a:schemeClr val="dk1"/>
              </a:solidFill>
              <a:latin typeface="Arial"/>
              <a:ea typeface="Arial"/>
              <a:cs typeface="Arial"/>
              <a:sym typeface="Arial"/>
            </a:endParaRPr>
          </a:p>
        </p:txBody>
      </p:sp>
      <p:cxnSp>
        <p:nvCxnSpPr>
          <p:cNvPr id="339" name="Google Shape;339;p44"/>
          <p:cNvCxnSpPr/>
          <p:nvPr/>
        </p:nvCxnSpPr>
        <p:spPr>
          <a:xfrm>
            <a:off x="4737270" y="3061910"/>
            <a:ext cx="4025400" cy="11100"/>
          </a:xfrm>
          <a:prstGeom prst="straightConnector1">
            <a:avLst/>
          </a:prstGeom>
          <a:noFill/>
          <a:ln cap="flat" cmpd="sng" w="9525">
            <a:solidFill>
              <a:schemeClr val="dk1"/>
            </a:solidFill>
            <a:prstDash val="solid"/>
            <a:round/>
            <a:headEnd len="sm" w="sm" type="none"/>
            <a:tailEnd len="sm" w="sm" type="none"/>
          </a:ln>
        </p:spPr>
      </p:cxnSp>
      <p:pic>
        <p:nvPicPr>
          <p:cNvPr id="340" name="Google Shape;340;p44"/>
          <p:cNvPicPr preferRelativeResize="0"/>
          <p:nvPr/>
        </p:nvPicPr>
        <p:blipFill>
          <a:blip r:embed="rId3">
            <a:alphaModFix/>
          </a:blip>
          <a:stretch>
            <a:fillRect/>
          </a:stretch>
        </p:blipFill>
        <p:spPr>
          <a:xfrm>
            <a:off x="4769975" y="3153550"/>
            <a:ext cx="3960000" cy="1623600"/>
          </a:xfrm>
          <a:prstGeom prst="rect">
            <a:avLst/>
          </a:prstGeom>
          <a:noFill/>
          <a:ln>
            <a:noFill/>
          </a:ln>
        </p:spPr>
      </p:pic>
      <p:pic>
        <p:nvPicPr>
          <p:cNvPr id="341" name="Google Shape;341;p44"/>
          <p:cNvPicPr preferRelativeResize="0"/>
          <p:nvPr/>
        </p:nvPicPr>
        <p:blipFill>
          <a:blip r:embed="rId4">
            <a:alphaModFix/>
          </a:blip>
          <a:stretch>
            <a:fillRect/>
          </a:stretch>
        </p:blipFill>
        <p:spPr>
          <a:xfrm>
            <a:off x="428940" y="3136738"/>
            <a:ext cx="3960000" cy="1623600"/>
          </a:xfrm>
          <a:prstGeom prst="rect">
            <a:avLst/>
          </a:prstGeom>
          <a:noFill/>
          <a:ln>
            <a:noFill/>
          </a:ln>
        </p:spPr>
      </p:pic>
      <p:pic>
        <p:nvPicPr>
          <p:cNvPr id="342" name="Google Shape;342;p44"/>
          <p:cNvPicPr preferRelativeResize="0"/>
          <p:nvPr/>
        </p:nvPicPr>
        <p:blipFill>
          <a:blip r:embed="rId5">
            <a:alphaModFix/>
          </a:blip>
          <a:stretch>
            <a:fillRect/>
          </a:stretch>
        </p:blipFill>
        <p:spPr>
          <a:xfrm>
            <a:off x="4779047" y="1045528"/>
            <a:ext cx="3960000" cy="1623600"/>
          </a:xfrm>
          <a:prstGeom prst="rect">
            <a:avLst/>
          </a:prstGeom>
          <a:noFill/>
          <a:ln>
            <a:noFill/>
          </a:ln>
        </p:spPr>
      </p:pic>
      <p:pic>
        <p:nvPicPr>
          <p:cNvPr id="343" name="Google Shape;343;p44"/>
          <p:cNvPicPr preferRelativeResize="0"/>
          <p:nvPr/>
        </p:nvPicPr>
        <p:blipFill>
          <a:blip r:embed="rId6">
            <a:alphaModFix/>
          </a:blip>
          <a:stretch>
            <a:fillRect/>
          </a:stretch>
        </p:blipFill>
        <p:spPr>
          <a:xfrm>
            <a:off x="421200" y="1038350"/>
            <a:ext cx="3960000" cy="1623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5"/>
          <p:cNvSpPr/>
          <p:nvPr/>
        </p:nvSpPr>
        <p:spPr>
          <a:xfrm>
            <a:off x="342000" y="577322"/>
            <a:ext cx="4118400" cy="20259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49" name="Google Shape;349;p45"/>
          <p:cNvSpPr/>
          <p:nvPr/>
        </p:nvSpPr>
        <p:spPr>
          <a:xfrm>
            <a:off x="4691076" y="577322"/>
            <a:ext cx="4117800" cy="2026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50" name="Google Shape;350;p45"/>
          <p:cNvSpPr txBox="1"/>
          <p:nvPr/>
        </p:nvSpPr>
        <p:spPr>
          <a:xfrm>
            <a:off x="410526" y="613747"/>
            <a:ext cx="30720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COMERCIAL</a:t>
            </a:r>
            <a:r>
              <a:rPr b="1" i="0" lang="es"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Z-SCORE</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351" name="Google Shape;351;p45"/>
          <p:cNvCxnSpPr/>
          <p:nvPr/>
        </p:nvCxnSpPr>
        <p:spPr>
          <a:xfrm flipH="1" rot="10800000">
            <a:off x="375944" y="967435"/>
            <a:ext cx="4054200" cy="24300"/>
          </a:xfrm>
          <a:prstGeom prst="straightConnector1">
            <a:avLst/>
          </a:prstGeom>
          <a:noFill/>
          <a:ln cap="flat" cmpd="sng" w="9525">
            <a:solidFill>
              <a:schemeClr val="dk1"/>
            </a:solidFill>
            <a:prstDash val="solid"/>
            <a:round/>
            <a:headEnd len="sm" w="sm" type="none"/>
            <a:tailEnd len="sm" w="sm" type="none"/>
          </a:ln>
        </p:spPr>
      </p:cxnSp>
      <p:sp>
        <p:nvSpPr>
          <p:cNvPr id="352" name="Google Shape;352;p45"/>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NPL y las variables seleccionadas</a:t>
            </a:r>
            <a:r>
              <a:rPr baseline="30000" lang="es"/>
              <a:t>(*)</a:t>
            </a:r>
            <a:endParaRPr baseline="30000"/>
          </a:p>
        </p:txBody>
      </p:sp>
      <p:sp>
        <p:nvSpPr>
          <p:cNvPr id="353" name="Google Shape;353;p45"/>
          <p:cNvSpPr txBox="1"/>
          <p:nvPr/>
        </p:nvSpPr>
        <p:spPr>
          <a:xfrm>
            <a:off x="4761368" y="660997"/>
            <a:ext cx="34242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CONSUMO</a:t>
            </a:r>
            <a:r>
              <a:rPr b="1" i="0" lang="es"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Z-SCORE</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sp>
        <p:nvSpPr>
          <p:cNvPr id="354" name="Google Shape;354;p45"/>
          <p:cNvSpPr txBox="1"/>
          <p:nvPr/>
        </p:nvSpPr>
        <p:spPr>
          <a:xfrm>
            <a:off x="344875" y="4857700"/>
            <a:ext cx="7973100" cy="1725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NPL y las covariables fueron normalizados para asegurar comparabilidad. Adicionalmente, cada covariable se rezaga (t−x) según el desfase que maximiza su correlación con el NPL en t.</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Fuente: BBVA Research con datos de diferentes fuentes según metadata.</a:t>
            </a:r>
            <a:endParaRPr b="0" i="0" sz="700" u="none" cap="none" strike="noStrike">
              <a:solidFill>
                <a:srgbClr val="46536D"/>
              </a:solidFill>
              <a:latin typeface="Arial"/>
              <a:ea typeface="Arial"/>
              <a:cs typeface="Arial"/>
              <a:sym typeface="Arial"/>
            </a:endParaRPr>
          </a:p>
        </p:txBody>
      </p:sp>
      <p:cxnSp>
        <p:nvCxnSpPr>
          <p:cNvPr id="355" name="Google Shape;355;p45"/>
          <p:cNvCxnSpPr/>
          <p:nvPr/>
        </p:nvCxnSpPr>
        <p:spPr>
          <a:xfrm>
            <a:off x="4753195" y="1038985"/>
            <a:ext cx="4025400" cy="11100"/>
          </a:xfrm>
          <a:prstGeom prst="straightConnector1">
            <a:avLst/>
          </a:prstGeom>
          <a:noFill/>
          <a:ln cap="flat" cmpd="sng" w="9525">
            <a:solidFill>
              <a:schemeClr val="dk1"/>
            </a:solidFill>
            <a:prstDash val="solid"/>
            <a:round/>
            <a:headEnd len="sm" w="sm" type="none"/>
            <a:tailEnd len="sm" w="sm" type="none"/>
          </a:ln>
        </p:spPr>
      </p:cxnSp>
      <p:sp>
        <p:nvSpPr>
          <p:cNvPr id="356" name="Google Shape;356;p45"/>
          <p:cNvSpPr/>
          <p:nvPr/>
        </p:nvSpPr>
        <p:spPr>
          <a:xfrm>
            <a:off x="342000" y="2648233"/>
            <a:ext cx="4118400" cy="20259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57" name="Google Shape;357;p45"/>
          <p:cNvSpPr/>
          <p:nvPr/>
        </p:nvSpPr>
        <p:spPr>
          <a:xfrm>
            <a:off x="4691076" y="2648233"/>
            <a:ext cx="4117800" cy="2026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358" name="Google Shape;358;p45"/>
          <p:cNvSpPr txBox="1"/>
          <p:nvPr/>
        </p:nvSpPr>
        <p:spPr>
          <a:xfrm>
            <a:off x="410526" y="2684658"/>
            <a:ext cx="30720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HIPOTECARIA</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Z-SCORE</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359" name="Google Shape;359;p45"/>
          <p:cNvCxnSpPr/>
          <p:nvPr/>
        </p:nvCxnSpPr>
        <p:spPr>
          <a:xfrm flipH="1" rot="10800000">
            <a:off x="375944" y="3038346"/>
            <a:ext cx="4054200" cy="24300"/>
          </a:xfrm>
          <a:prstGeom prst="straightConnector1">
            <a:avLst/>
          </a:prstGeom>
          <a:noFill/>
          <a:ln cap="flat" cmpd="sng" w="9525">
            <a:solidFill>
              <a:schemeClr val="dk1"/>
            </a:solidFill>
            <a:prstDash val="solid"/>
            <a:round/>
            <a:headEnd len="sm" w="sm" type="none"/>
            <a:tailEnd len="sm" w="sm" type="none"/>
          </a:ln>
        </p:spPr>
      </p:cxnSp>
      <p:sp>
        <p:nvSpPr>
          <p:cNvPr id="360" name="Google Shape;360;p45"/>
          <p:cNvSpPr txBox="1"/>
          <p:nvPr/>
        </p:nvSpPr>
        <p:spPr>
          <a:xfrm>
            <a:off x="4761368" y="2731908"/>
            <a:ext cx="34242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 </a:t>
            </a:r>
            <a:r>
              <a:rPr b="1" lang="es" sz="1200">
                <a:solidFill>
                  <a:schemeClr val="dk1"/>
                </a:solidFill>
              </a:rPr>
              <a:t>TOTAL </a:t>
            </a:r>
            <a:r>
              <a:rPr b="1" lang="es" sz="1200">
                <a:solidFill>
                  <a:schemeClr val="dk1"/>
                </a:solidFill>
              </a:rPr>
              <a:t>SIN MICROCRÉDITO</a:t>
            </a:r>
            <a:r>
              <a:rPr b="1" i="0" lang="es"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Z-SCORE</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361" name="Google Shape;361;p45"/>
          <p:cNvCxnSpPr/>
          <p:nvPr/>
        </p:nvCxnSpPr>
        <p:spPr>
          <a:xfrm>
            <a:off x="4753195" y="3109896"/>
            <a:ext cx="4025400" cy="11100"/>
          </a:xfrm>
          <a:prstGeom prst="straightConnector1">
            <a:avLst/>
          </a:prstGeom>
          <a:noFill/>
          <a:ln cap="flat" cmpd="sng" w="9525">
            <a:solidFill>
              <a:schemeClr val="dk1"/>
            </a:solidFill>
            <a:prstDash val="solid"/>
            <a:round/>
            <a:headEnd len="sm" w="sm" type="none"/>
            <a:tailEnd len="sm" w="sm" type="none"/>
          </a:ln>
        </p:spPr>
      </p:cxnSp>
      <p:pic>
        <p:nvPicPr>
          <p:cNvPr id="362" name="Google Shape;362;p45"/>
          <p:cNvPicPr preferRelativeResize="0"/>
          <p:nvPr/>
        </p:nvPicPr>
        <p:blipFill>
          <a:blip r:embed="rId3">
            <a:alphaModFix/>
          </a:blip>
          <a:stretch>
            <a:fillRect/>
          </a:stretch>
        </p:blipFill>
        <p:spPr>
          <a:xfrm>
            <a:off x="4769963" y="1046997"/>
            <a:ext cx="3960000" cy="1504800"/>
          </a:xfrm>
          <a:prstGeom prst="rect">
            <a:avLst/>
          </a:prstGeom>
          <a:noFill/>
          <a:ln>
            <a:noFill/>
          </a:ln>
        </p:spPr>
      </p:pic>
      <p:pic>
        <p:nvPicPr>
          <p:cNvPr id="363" name="Google Shape;363;p45"/>
          <p:cNvPicPr preferRelativeResize="0"/>
          <p:nvPr/>
        </p:nvPicPr>
        <p:blipFill>
          <a:blip r:embed="rId4">
            <a:alphaModFix/>
          </a:blip>
          <a:stretch>
            <a:fillRect/>
          </a:stretch>
        </p:blipFill>
        <p:spPr>
          <a:xfrm>
            <a:off x="421188" y="1046997"/>
            <a:ext cx="3960000" cy="1504800"/>
          </a:xfrm>
          <a:prstGeom prst="rect">
            <a:avLst/>
          </a:prstGeom>
          <a:noFill/>
          <a:ln>
            <a:noFill/>
          </a:ln>
        </p:spPr>
      </p:pic>
      <p:pic>
        <p:nvPicPr>
          <p:cNvPr id="364" name="Google Shape;364;p45"/>
          <p:cNvPicPr preferRelativeResize="0"/>
          <p:nvPr/>
        </p:nvPicPr>
        <p:blipFill>
          <a:blip r:embed="rId5">
            <a:alphaModFix/>
          </a:blip>
          <a:stretch>
            <a:fillRect/>
          </a:stretch>
        </p:blipFill>
        <p:spPr>
          <a:xfrm>
            <a:off x="421200" y="3111833"/>
            <a:ext cx="3960000" cy="1504800"/>
          </a:xfrm>
          <a:prstGeom prst="rect">
            <a:avLst/>
          </a:prstGeom>
          <a:noFill/>
          <a:ln>
            <a:noFill/>
          </a:ln>
        </p:spPr>
      </p:pic>
      <p:pic>
        <p:nvPicPr>
          <p:cNvPr id="365" name="Google Shape;365;p45"/>
          <p:cNvPicPr preferRelativeResize="0"/>
          <p:nvPr/>
        </p:nvPicPr>
        <p:blipFill>
          <a:blip r:embed="rId6">
            <a:alphaModFix/>
          </a:blip>
          <a:stretch>
            <a:fillRect/>
          </a:stretch>
        </p:blipFill>
        <p:spPr>
          <a:xfrm>
            <a:off x="4769963" y="3119037"/>
            <a:ext cx="3960000" cy="1504800"/>
          </a:xfrm>
          <a:prstGeom prst="rect">
            <a:avLst/>
          </a:prstGeom>
          <a:noFill/>
          <a:ln>
            <a:noFill/>
          </a:ln>
        </p:spPr>
      </p:pic>
      <p:grpSp>
        <p:nvGrpSpPr>
          <p:cNvPr id="366" name="Google Shape;366;p45"/>
          <p:cNvGrpSpPr/>
          <p:nvPr/>
        </p:nvGrpSpPr>
        <p:grpSpPr>
          <a:xfrm>
            <a:off x="452574" y="4667653"/>
            <a:ext cx="3788600" cy="146913"/>
            <a:chOff x="2241700" y="4688750"/>
            <a:chExt cx="3788600" cy="146913"/>
          </a:xfrm>
        </p:grpSpPr>
        <p:cxnSp>
          <p:nvCxnSpPr>
            <p:cNvPr id="367" name="Google Shape;367;p45"/>
            <p:cNvCxnSpPr/>
            <p:nvPr/>
          </p:nvCxnSpPr>
          <p:spPr>
            <a:xfrm>
              <a:off x="2241700" y="4758059"/>
              <a:ext cx="274800" cy="0"/>
            </a:xfrm>
            <a:prstGeom prst="straightConnector1">
              <a:avLst/>
            </a:prstGeom>
            <a:noFill/>
            <a:ln cap="flat" cmpd="sng" w="19050">
              <a:solidFill>
                <a:schemeClr val="dk1"/>
              </a:solidFill>
              <a:prstDash val="solid"/>
              <a:round/>
              <a:headEnd len="med" w="med" type="none"/>
              <a:tailEnd len="med" w="med" type="none"/>
            </a:ln>
          </p:spPr>
        </p:cxnSp>
        <p:sp>
          <p:nvSpPr>
            <p:cNvPr id="368" name="Google Shape;368;p45"/>
            <p:cNvSpPr txBox="1"/>
            <p:nvPr/>
          </p:nvSpPr>
          <p:spPr>
            <a:xfrm>
              <a:off x="2565250" y="4688975"/>
              <a:ext cx="2973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 sz="900">
                  <a:solidFill>
                    <a:srgbClr val="666666"/>
                  </a:solidFill>
                </a:rPr>
                <a:t>NPL</a:t>
              </a:r>
              <a:endParaRPr sz="900">
                <a:solidFill>
                  <a:srgbClr val="666666"/>
                </a:solidFill>
              </a:endParaRPr>
            </a:p>
          </p:txBody>
        </p:sp>
        <p:cxnSp>
          <p:nvCxnSpPr>
            <p:cNvPr id="369" name="Google Shape;369;p45"/>
            <p:cNvCxnSpPr/>
            <p:nvPr/>
          </p:nvCxnSpPr>
          <p:spPr>
            <a:xfrm>
              <a:off x="2903925" y="4758059"/>
              <a:ext cx="274800" cy="0"/>
            </a:xfrm>
            <a:prstGeom prst="straightConnector1">
              <a:avLst/>
            </a:prstGeom>
            <a:noFill/>
            <a:ln cap="flat" cmpd="sng" w="19050">
              <a:solidFill>
                <a:srgbClr val="FF5252"/>
              </a:solidFill>
              <a:prstDash val="dash"/>
              <a:round/>
              <a:headEnd len="med" w="med" type="none"/>
              <a:tailEnd len="med" w="med" type="none"/>
            </a:ln>
          </p:spPr>
        </p:cxnSp>
        <p:sp>
          <p:nvSpPr>
            <p:cNvPr id="370" name="Google Shape;370;p45"/>
            <p:cNvSpPr txBox="1"/>
            <p:nvPr/>
          </p:nvSpPr>
          <p:spPr>
            <a:xfrm>
              <a:off x="3202600" y="4688750"/>
              <a:ext cx="10800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 sz="900">
                  <a:solidFill>
                    <a:srgbClr val="666666"/>
                  </a:solidFill>
                </a:rPr>
                <a:t>Dummy COVID-19</a:t>
              </a:r>
              <a:endParaRPr sz="900">
                <a:solidFill>
                  <a:srgbClr val="666666"/>
                </a:solidFill>
              </a:endParaRPr>
            </a:p>
          </p:txBody>
        </p:sp>
        <p:cxnSp>
          <p:nvCxnSpPr>
            <p:cNvPr id="371" name="Google Shape;371;p45"/>
            <p:cNvCxnSpPr/>
            <p:nvPr/>
          </p:nvCxnSpPr>
          <p:spPr>
            <a:xfrm>
              <a:off x="4258699" y="4758284"/>
              <a:ext cx="274800" cy="0"/>
            </a:xfrm>
            <a:prstGeom prst="straightConnector1">
              <a:avLst/>
            </a:prstGeom>
            <a:noFill/>
            <a:ln cap="flat" cmpd="sng" w="19050">
              <a:solidFill>
                <a:srgbClr val="CAD1D9"/>
              </a:solidFill>
              <a:prstDash val="solid"/>
              <a:round/>
              <a:headEnd len="med" w="med" type="none"/>
              <a:tailEnd len="med" w="med" type="none"/>
            </a:ln>
          </p:spPr>
        </p:cxnSp>
        <p:sp>
          <p:nvSpPr>
            <p:cNvPr id="372" name="Google Shape;372;p45"/>
            <p:cNvSpPr txBox="1"/>
            <p:nvPr/>
          </p:nvSpPr>
          <p:spPr>
            <a:xfrm>
              <a:off x="4553400" y="4697063"/>
              <a:ext cx="14769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 sz="900">
                  <a:solidFill>
                    <a:srgbClr val="666666"/>
                  </a:solidFill>
                </a:rPr>
                <a:t>Covariables seleccionadas</a:t>
              </a:r>
              <a:endParaRPr sz="900">
                <a:solidFill>
                  <a:srgbClr val="666666"/>
                </a:solidFil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76" name="Shape 376"/>
        <p:cNvGrpSpPr/>
        <p:nvPr/>
      </p:nvGrpSpPr>
      <p:grpSpPr>
        <a:xfrm>
          <a:off x="0" y="0"/>
          <a:ext cx="0" cy="0"/>
          <a:chOff x="0" y="0"/>
          <a:chExt cx="0" cy="0"/>
        </a:xfrm>
      </p:grpSpPr>
      <p:sp>
        <p:nvSpPr>
          <p:cNvPr id="377" name="Google Shape;377;p46"/>
          <p:cNvSpPr txBox="1"/>
          <p:nvPr/>
        </p:nvSpPr>
        <p:spPr>
          <a:xfrm>
            <a:off x="324000" y="3570800"/>
            <a:ext cx="8222700" cy="2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s" sz="1800">
                <a:solidFill>
                  <a:srgbClr val="001391"/>
                </a:solidFill>
              </a:rPr>
              <a:t>03</a:t>
            </a:r>
            <a:r>
              <a:rPr b="0" i="0" lang="es" sz="1800" u="none" cap="none" strike="noStrike">
                <a:solidFill>
                  <a:srgbClr val="001391"/>
                </a:solidFill>
                <a:latin typeface="Arial"/>
                <a:ea typeface="Arial"/>
                <a:cs typeface="Arial"/>
                <a:sym typeface="Arial"/>
              </a:rPr>
              <a:t>. </a:t>
            </a:r>
            <a:r>
              <a:rPr lang="es" sz="1800">
                <a:solidFill>
                  <a:srgbClr val="001391"/>
                </a:solidFill>
              </a:rPr>
              <a:t>Selección de variables y estrategia de estimación</a:t>
            </a:r>
            <a:endParaRPr b="0" sz="1800" u="none" cap="none" strike="noStrike">
              <a:solidFill>
                <a:srgbClr val="001391"/>
              </a:solidFill>
              <a:latin typeface="Arial"/>
              <a:ea typeface="Arial"/>
              <a:cs typeface="Arial"/>
              <a:sym typeface="Arial"/>
            </a:endParaRPr>
          </a:p>
        </p:txBody>
      </p:sp>
      <p:sp>
        <p:nvSpPr>
          <p:cNvPr id="378" name="Google Shape;378;p46"/>
          <p:cNvSpPr txBox="1"/>
          <p:nvPr>
            <p:ph type="title"/>
          </p:nvPr>
        </p:nvSpPr>
        <p:spPr>
          <a:xfrm>
            <a:off x="296724" y="4215247"/>
            <a:ext cx="8740800" cy="7734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SzPts val="5000"/>
              <a:buNone/>
            </a:pPr>
            <a:r>
              <a:rPr lang="es" sz="6700"/>
              <a:t>La metodología</a:t>
            </a:r>
            <a:endParaRPr sz="6700">
              <a:latin typeface="Georgia"/>
              <a:ea typeface="Georgia"/>
              <a:cs typeface="Georgia"/>
              <a:sym typeface="Georgi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2" name="Shape 382"/>
        <p:cNvGrpSpPr/>
        <p:nvPr/>
      </p:nvGrpSpPr>
      <p:grpSpPr>
        <a:xfrm>
          <a:off x="0" y="0"/>
          <a:ext cx="0" cy="0"/>
          <a:chOff x="0" y="0"/>
          <a:chExt cx="0" cy="0"/>
        </a:xfrm>
      </p:grpSpPr>
      <p:sp>
        <p:nvSpPr>
          <p:cNvPr id="383" name="Google Shape;383;p47"/>
          <p:cNvSpPr/>
          <p:nvPr/>
        </p:nvSpPr>
        <p:spPr>
          <a:xfrm>
            <a:off x="3641750" y="2866650"/>
            <a:ext cx="5425800" cy="1780800"/>
          </a:xfrm>
          <a:prstGeom prst="roundRect">
            <a:avLst>
              <a:gd fmla="val 16667" name="adj"/>
            </a:avLst>
          </a:prstGeom>
          <a:noFill/>
          <a:ln cap="flat" cmpd="sng" w="2857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84" name="Google Shape;384;p47"/>
          <p:cNvGrpSpPr/>
          <p:nvPr/>
        </p:nvGrpSpPr>
        <p:grpSpPr>
          <a:xfrm>
            <a:off x="228847" y="3028333"/>
            <a:ext cx="3255888" cy="1619128"/>
            <a:chOff x="846782" y="3537161"/>
            <a:chExt cx="4241646" cy="1647465"/>
          </a:xfrm>
        </p:grpSpPr>
        <p:sp>
          <p:nvSpPr>
            <p:cNvPr id="385" name="Google Shape;385;p47"/>
            <p:cNvSpPr/>
            <p:nvPr/>
          </p:nvSpPr>
          <p:spPr>
            <a:xfrm>
              <a:off x="846782" y="3537161"/>
              <a:ext cx="4126800" cy="1632300"/>
            </a:xfrm>
            <a:prstGeom prst="roundRect">
              <a:avLst>
                <a:gd fmla="val 16667" name="adj"/>
              </a:avLst>
            </a:prstGeom>
            <a:solidFill>
              <a:schemeClr val="dk1"/>
            </a:solidFill>
            <a:ln>
              <a:noFill/>
            </a:ln>
          </p:spPr>
          <p:txBody>
            <a:bodyPr anchorCtr="0" anchor="ctr" bIns="72700" lIns="72700" spcFirstLastPara="1" rIns="72700" wrap="square" tIns="72700">
              <a:noAutofit/>
            </a:bodyPr>
            <a:lstStyle/>
            <a:p>
              <a:pPr indent="0" lvl="0" marL="0" rtl="0" algn="ctr">
                <a:spcBef>
                  <a:spcPts val="0"/>
                </a:spcBef>
                <a:spcAft>
                  <a:spcPts val="0"/>
                </a:spcAft>
                <a:buNone/>
              </a:pPr>
              <a:r>
                <a:t/>
              </a:r>
              <a:endParaRPr sz="1113"/>
            </a:p>
          </p:txBody>
        </p:sp>
        <p:sp>
          <p:nvSpPr>
            <p:cNvPr id="386" name="Google Shape;386;p47"/>
            <p:cNvSpPr txBox="1"/>
            <p:nvPr/>
          </p:nvSpPr>
          <p:spPr>
            <a:xfrm>
              <a:off x="881698" y="3592347"/>
              <a:ext cx="4126800" cy="408000"/>
            </a:xfrm>
            <a:prstGeom prst="rect">
              <a:avLst/>
            </a:prstGeom>
            <a:noFill/>
            <a:ln>
              <a:noFill/>
            </a:ln>
          </p:spPr>
          <p:txBody>
            <a:bodyPr anchorCtr="0" anchor="t" bIns="72700" lIns="72700" spcFirstLastPara="1" rIns="72700" wrap="square" tIns="72700">
              <a:noAutofit/>
            </a:bodyPr>
            <a:lstStyle/>
            <a:p>
              <a:pPr indent="0" lvl="0" marL="0" rtl="0" algn="ctr">
                <a:spcBef>
                  <a:spcPts val="0"/>
                </a:spcBef>
                <a:spcAft>
                  <a:spcPts val="0"/>
                </a:spcAft>
                <a:buNone/>
              </a:pPr>
              <a:r>
                <a:rPr b="1" lang="es" sz="1034" u="sng">
                  <a:solidFill>
                    <a:schemeClr val="lt1"/>
                  </a:solidFill>
                </a:rPr>
                <a:t>MODELOS ESTIMADOS</a:t>
              </a:r>
              <a:endParaRPr b="1" sz="1034" u="sng">
                <a:solidFill>
                  <a:schemeClr val="lt1"/>
                </a:solidFill>
              </a:endParaRPr>
            </a:p>
          </p:txBody>
        </p:sp>
        <p:sp>
          <p:nvSpPr>
            <p:cNvPr id="387" name="Google Shape;387;p47"/>
            <p:cNvSpPr txBox="1"/>
            <p:nvPr/>
          </p:nvSpPr>
          <p:spPr>
            <a:xfrm>
              <a:off x="1236117" y="3921945"/>
              <a:ext cx="1823100" cy="106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934">
                  <a:solidFill>
                    <a:schemeClr val="accent3"/>
                  </a:solidFill>
                </a:rPr>
                <a:t>SARIMA</a:t>
              </a:r>
              <a:endParaRPr b="1" sz="934">
                <a:solidFill>
                  <a:schemeClr val="accent3"/>
                </a:solidFill>
              </a:endParaRPr>
            </a:p>
            <a:p>
              <a:pPr indent="0" lvl="0" marL="0" rtl="0" algn="l">
                <a:spcBef>
                  <a:spcPts val="0"/>
                </a:spcBef>
                <a:spcAft>
                  <a:spcPts val="0"/>
                </a:spcAft>
                <a:buNone/>
              </a:pPr>
              <a:r>
                <a:rPr b="1" lang="es" sz="934">
                  <a:solidFill>
                    <a:schemeClr val="accent3"/>
                  </a:solidFill>
                </a:rPr>
                <a:t>SARIMAX</a:t>
              </a:r>
              <a:endParaRPr b="1" sz="934">
                <a:solidFill>
                  <a:schemeClr val="accent3"/>
                </a:solidFill>
              </a:endParaRPr>
            </a:p>
            <a:p>
              <a:pPr indent="0" lvl="0" marL="0" rtl="0" algn="l">
                <a:spcBef>
                  <a:spcPts val="0"/>
                </a:spcBef>
                <a:spcAft>
                  <a:spcPts val="0"/>
                </a:spcAft>
                <a:buNone/>
              </a:pPr>
              <a:r>
                <a:rPr b="1" lang="es" sz="934">
                  <a:solidFill>
                    <a:schemeClr val="accent3"/>
                  </a:solidFill>
                </a:rPr>
                <a:t>Regresión lineal</a:t>
              </a:r>
              <a:endParaRPr b="1" sz="934">
                <a:solidFill>
                  <a:schemeClr val="accent3"/>
                </a:solidFill>
              </a:endParaRPr>
            </a:p>
            <a:p>
              <a:pPr indent="0" lvl="0" marL="0" rtl="0" algn="l">
                <a:spcBef>
                  <a:spcPts val="0"/>
                </a:spcBef>
                <a:spcAft>
                  <a:spcPts val="0"/>
                </a:spcAft>
                <a:buNone/>
              </a:pPr>
              <a:r>
                <a:rPr b="1" lang="es" sz="934">
                  <a:solidFill>
                    <a:schemeClr val="accent3"/>
                  </a:solidFill>
                </a:rPr>
                <a:t>Regresión cuantílica</a:t>
              </a:r>
              <a:endParaRPr b="1" sz="934">
                <a:solidFill>
                  <a:schemeClr val="accent3"/>
                </a:solidFill>
              </a:endParaRPr>
            </a:p>
            <a:p>
              <a:pPr indent="0" lvl="0" marL="0" rtl="0" algn="l">
                <a:spcBef>
                  <a:spcPts val="0"/>
                </a:spcBef>
                <a:spcAft>
                  <a:spcPts val="0"/>
                </a:spcAft>
                <a:buNone/>
              </a:pPr>
              <a:r>
                <a:rPr b="1" lang="es" sz="934">
                  <a:solidFill>
                    <a:schemeClr val="accent3"/>
                  </a:solidFill>
                </a:rPr>
                <a:t>Regresión Ridge</a:t>
              </a:r>
              <a:endParaRPr b="1" sz="934">
                <a:solidFill>
                  <a:schemeClr val="accent3"/>
                </a:solidFill>
              </a:endParaRPr>
            </a:p>
            <a:p>
              <a:pPr indent="0" lvl="0" marL="0" rtl="0" algn="l">
                <a:spcBef>
                  <a:spcPts val="0"/>
                </a:spcBef>
                <a:spcAft>
                  <a:spcPts val="0"/>
                </a:spcAft>
                <a:buNone/>
              </a:pPr>
              <a:r>
                <a:rPr b="1" lang="es" sz="934">
                  <a:solidFill>
                    <a:schemeClr val="accent3"/>
                  </a:solidFill>
                </a:rPr>
                <a:t>Ensemble Lineal</a:t>
              </a:r>
              <a:endParaRPr b="1" sz="934">
                <a:solidFill>
                  <a:schemeClr val="accent3"/>
                </a:solidFill>
              </a:endParaRPr>
            </a:p>
            <a:p>
              <a:pPr indent="0" lvl="0" marL="0" rtl="0" algn="l">
                <a:spcBef>
                  <a:spcPts val="0"/>
                </a:spcBef>
                <a:spcAft>
                  <a:spcPts val="0"/>
                </a:spcAft>
                <a:buNone/>
              </a:pPr>
              <a:r>
                <a:rPr b="1" lang="es" sz="934">
                  <a:solidFill>
                    <a:schemeClr val="accent3"/>
                  </a:solidFill>
                </a:rPr>
                <a:t>Ensemble Ridge</a:t>
              </a:r>
              <a:endParaRPr b="1" sz="934">
                <a:solidFill>
                  <a:schemeClr val="accent3"/>
                </a:solidFill>
              </a:endParaRPr>
            </a:p>
            <a:p>
              <a:pPr indent="0" lvl="0" marL="0" rtl="0" algn="l">
                <a:spcBef>
                  <a:spcPts val="0"/>
                </a:spcBef>
                <a:spcAft>
                  <a:spcPts val="0"/>
                </a:spcAft>
                <a:buNone/>
              </a:pPr>
              <a:r>
                <a:t/>
              </a:r>
              <a:endParaRPr b="1" sz="1034">
                <a:solidFill>
                  <a:schemeClr val="accent3"/>
                </a:solidFill>
              </a:endParaRPr>
            </a:p>
          </p:txBody>
        </p:sp>
        <p:sp>
          <p:nvSpPr>
            <p:cNvPr id="388" name="Google Shape;388;p47"/>
            <p:cNvSpPr txBox="1"/>
            <p:nvPr/>
          </p:nvSpPr>
          <p:spPr>
            <a:xfrm>
              <a:off x="3096428" y="3912026"/>
              <a:ext cx="1992000" cy="127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934">
                  <a:solidFill>
                    <a:schemeClr val="accent3"/>
                  </a:solidFill>
                </a:rPr>
                <a:t>Random forest</a:t>
              </a:r>
              <a:endParaRPr b="1" sz="934">
                <a:solidFill>
                  <a:schemeClr val="accent3"/>
                </a:solidFill>
              </a:endParaRPr>
            </a:p>
            <a:p>
              <a:pPr indent="0" lvl="0" marL="0" rtl="0" algn="l">
                <a:spcBef>
                  <a:spcPts val="0"/>
                </a:spcBef>
                <a:spcAft>
                  <a:spcPts val="0"/>
                </a:spcAft>
                <a:buNone/>
              </a:pPr>
              <a:r>
                <a:rPr b="1" lang="es" sz="934">
                  <a:solidFill>
                    <a:schemeClr val="accent3"/>
                  </a:solidFill>
                </a:rPr>
                <a:t>ExtraTreesRegressor</a:t>
              </a:r>
              <a:endParaRPr b="1" sz="934">
                <a:solidFill>
                  <a:schemeClr val="accent3"/>
                </a:solidFill>
              </a:endParaRPr>
            </a:p>
            <a:p>
              <a:pPr indent="0" lvl="0" marL="0" rtl="0" algn="l">
                <a:spcBef>
                  <a:spcPts val="0"/>
                </a:spcBef>
                <a:spcAft>
                  <a:spcPts val="0"/>
                </a:spcAft>
                <a:buNone/>
              </a:pPr>
              <a:r>
                <a:rPr b="1" lang="es" sz="934">
                  <a:solidFill>
                    <a:schemeClr val="accent3"/>
                  </a:solidFill>
                </a:rPr>
                <a:t>XGBoost</a:t>
              </a:r>
              <a:endParaRPr b="1" sz="934">
                <a:solidFill>
                  <a:schemeClr val="accent3"/>
                </a:solidFill>
              </a:endParaRPr>
            </a:p>
            <a:p>
              <a:pPr indent="0" lvl="0" marL="0" rtl="0" algn="l">
                <a:spcBef>
                  <a:spcPts val="0"/>
                </a:spcBef>
                <a:spcAft>
                  <a:spcPts val="0"/>
                </a:spcAft>
                <a:buNone/>
              </a:pPr>
              <a:r>
                <a:rPr b="1" lang="es" sz="934">
                  <a:solidFill>
                    <a:schemeClr val="accent3"/>
                  </a:solidFill>
                </a:rPr>
                <a:t>LightGBM</a:t>
              </a:r>
              <a:endParaRPr b="1" sz="934">
                <a:solidFill>
                  <a:schemeClr val="accent3"/>
                </a:solidFill>
              </a:endParaRPr>
            </a:p>
            <a:p>
              <a:pPr indent="0" lvl="0" marL="0" rtl="0" algn="l">
                <a:spcBef>
                  <a:spcPts val="0"/>
                </a:spcBef>
                <a:spcAft>
                  <a:spcPts val="0"/>
                </a:spcAft>
                <a:buNone/>
              </a:pPr>
              <a:r>
                <a:rPr b="1" lang="es" sz="934">
                  <a:solidFill>
                    <a:schemeClr val="accent3"/>
                  </a:solidFill>
                </a:rPr>
                <a:t>LSTM</a:t>
              </a:r>
              <a:endParaRPr b="1" sz="934">
                <a:solidFill>
                  <a:schemeClr val="accent3"/>
                </a:solidFill>
              </a:endParaRPr>
            </a:p>
            <a:p>
              <a:pPr indent="0" lvl="0" marL="0" rtl="0" algn="l">
                <a:spcBef>
                  <a:spcPts val="0"/>
                </a:spcBef>
                <a:spcAft>
                  <a:spcPts val="0"/>
                </a:spcAft>
                <a:buNone/>
              </a:pPr>
              <a:r>
                <a:rPr b="1" lang="es" sz="934">
                  <a:solidFill>
                    <a:schemeClr val="accent3"/>
                  </a:solidFill>
                </a:rPr>
                <a:t>Chronos-2</a:t>
              </a:r>
              <a:endParaRPr b="1" sz="934">
                <a:solidFill>
                  <a:schemeClr val="accent3"/>
                </a:solidFill>
              </a:endParaRPr>
            </a:p>
            <a:p>
              <a:pPr indent="0" lvl="0" marL="0" rtl="0" algn="l">
                <a:spcBef>
                  <a:spcPts val="0"/>
                </a:spcBef>
                <a:spcAft>
                  <a:spcPts val="0"/>
                </a:spcAft>
                <a:buNone/>
              </a:pPr>
              <a:r>
                <a:rPr b="1" lang="es" sz="934">
                  <a:solidFill>
                    <a:schemeClr val="accent3"/>
                  </a:solidFill>
                </a:rPr>
                <a:t>BSTS</a:t>
              </a:r>
              <a:endParaRPr b="1" sz="934">
                <a:solidFill>
                  <a:schemeClr val="accent3"/>
                </a:solidFill>
              </a:endParaRPr>
            </a:p>
          </p:txBody>
        </p:sp>
        <p:cxnSp>
          <p:nvCxnSpPr>
            <p:cNvPr id="389" name="Google Shape;389;p47"/>
            <p:cNvCxnSpPr/>
            <p:nvPr/>
          </p:nvCxnSpPr>
          <p:spPr>
            <a:xfrm>
              <a:off x="2886762" y="3921949"/>
              <a:ext cx="5100" cy="1065900"/>
            </a:xfrm>
            <a:prstGeom prst="straightConnector1">
              <a:avLst/>
            </a:prstGeom>
            <a:noFill/>
            <a:ln cap="flat" cmpd="sng" w="15125">
              <a:solidFill>
                <a:schemeClr val="accent3"/>
              </a:solidFill>
              <a:prstDash val="solid"/>
              <a:round/>
              <a:headEnd len="med" w="med" type="none"/>
              <a:tailEnd len="med" w="med" type="none"/>
            </a:ln>
          </p:spPr>
        </p:cxnSp>
      </p:grpSp>
      <p:grpSp>
        <p:nvGrpSpPr>
          <p:cNvPr id="390" name="Google Shape;390;p47"/>
          <p:cNvGrpSpPr/>
          <p:nvPr/>
        </p:nvGrpSpPr>
        <p:grpSpPr>
          <a:xfrm>
            <a:off x="190225" y="774100"/>
            <a:ext cx="1863300" cy="2052702"/>
            <a:chOff x="190225" y="1206048"/>
            <a:chExt cx="1863300" cy="2052702"/>
          </a:xfrm>
        </p:grpSpPr>
        <p:sp>
          <p:nvSpPr>
            <p:cNvPr id="391" name="Google Shape;391;p47"/>
            <p:cNvSpPr/>
            <p:nvPr/>
          </p:nvSpPr>
          <p:spPr>
            <a:xfrm>
              <a:off x="190225" y="1206048"/>
              <a:ext cx="1863300" cy="384300"/>
            </a:xfrm>
            <a:prstGeom prst="roundRect">
              <a:avLst>
                <a:gd fmla="val 10925" name="adj"/>
              </a:avLst>
            </a:prstGeom>
            <a:solidFill>
              <a:srgbClr val="00139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900">
                  <a:solidFill>
                    <a:srgbClr val="FFFFFF"/>
                  </a:solidFill>
                </a:rPr>
                <a:t>Recopilación de datos y procesamiento</a:t>
              </a:r>
              <a:endParaRPr b="1" sz="900">
                <a:solidFill>
                  <a:srgbClr val="FFFFFF"/>
                </a:solidFill>
              </a:endParaRPr>
            </a:p>
          </p:txBody>
        </p:sp>
        <p:sp>
          <p:nvSpPr>
            <p:cNvPr id="392" name="Google Shape;392;p47"/>
            <p:cNvSpPr txBox="1"/>
            <p:nvPr/>
          </p:nvSpPr>
          <p:spPr>
            <a:xfrm>
              <a:off x="190225" y="1719449"/>
              <a:ext cx="1863300" cy="1539300"/>
            </a:xfrm>
            <a:prstGeom prst="rect">
              <a:avLst/>
            </a:prstGeom>
            <a:noFill/>
            <a:ln>
              <a:noFill/>
            </a:ln>
          </p:spPr>
          <p:txBody>
            <a:bodyPr anchorCtr="0" anchor="t" bIns="0" lIns="108000" spcFirstLastPara="1" rIns="0" wrap="square" tIns="0">
              <a:spAutoFit/>
            </a:bodyPr>
            <a:lstStyle/>
            <a:p>
              <a:pPr indent="-139101" lvl="0" marL="75601" marR="0" rtl="0" algn="l">
                <a:lnSpc>
                  <a:spcPct val="100000"/>
                </a:lnSpc>
                <a:spcBef>
                  <a:spcPts val="0"/>
                </a:spcBef>
                <a:spcAft>
                  <a:spcPts val="0"/>
                </a:spcAft>
                <a:buClr>
                  <a:schemeClr val="dk1"/>
                </a:buClr>
                <a:buSzPts val="1000"/>
                <a:buChar char="●"/>
              </a:pPr>
              <a:r>
                <a:rPr lang="es" sz="1000">
                  <a:solidFill>
                    <a:schemeClr val="dk1"/>
                  </a:solidFill>
                </a:rPr>
                <a:t>Múltiples fuentes externas.</a:t>
              </a:r>
              <a:endParaRPr sz="1000">
                <a:solidFill>
                  <a:schemeClr val="dk1"/>
                </a:solidFill>
              </a:endParaRPr>
            </a:p>
            <a:p>
              <a:pPr indent="-139101" lvl="0" marL="75601" marR="0" rtl="0" algn="l">
                <a:lnSpc>
                  <a:spcPct val="100000"/>
                </a:lnSpc>
                <a:spcBef>
                  <a:spcPts val="0"/>
                </a:spcBef>
                <a:spcAft>
                  <a:spcPts val="0"/>
                </a:spcAft>
                <a:buClr>
                  <a:schemeClr val="dk1"/>
                </a:buClr>
                <a:buSzPts val="1000"/>
                <a:buChar char="●"/>
              </a:pPr>
              <a:r>
                <a:rPr lang="es" sz="1000">
                  <a:solidFill>
                    <a:schemeClr val="dk1"/>
                  </a:solidFill>
                </a:rPr>
                <a:t>La serie de </a:t>
              </a:r>
              <a:r>
                <a:rPr b="1" lang="es" sz="1000">
                  <a:solidFill>
                    <a:schemeClr val="dk1"/>
                  </a:solidFill>
                </a:rPr>
                <a:t>NPL fue modelada en diferencias interanuales.</a:t>
              </a:r>
              <a:r>
                <a:rPr lang="es" sz="1000">
                  <a:solidFill>
                    <a:schemeClr val="dk1"/>
                  </a:solidFill>
                </a:rPr>
                <a:t> Se evaluó la transformación logit como alternativa.</a:t>
              </a:r>
              <a:endParaRPr sz="1000">
                <a:solidFill>
                  <a:schemeClr val="dk1"/>
                </a:solidFill>
              </a:endParaRPr>
            </a:p>
            <a:p>
              <a:pPr indent="-139101" lvl="0" marL="75601" marR="0" rtl="0" algn="l">
                <a:lnSpc>
                  <a:spcPct val="100000"/>
                </a:lnSpc>
                <a:spcBef>
                  <a:spcPts val="0"/>
                </a:spcBef>
                <a:spcAft>
                  <a:spcPts val="0"/>
                </a:spcAft>
                <a:buClr>
                  <a:schemeClr val="dk1"/>
                </a:buClr>
                <a:buSzPts val="1000"/>
                <a:buChar char="●"/>
              </a:pPr>
              <a:r>
                <a:rPr lang="es" sz="1000">
                  <a:solidFill>
                    <a:schemeClr val="dk1"/>
                  </a:solidFill>
                </a:rPr>
                <a:t>Metadata documentada disponible </a:t>
              </a:r>
              <a:r>
                <a:rPr lang="es" sz="1000" u="sng">
                  <a:solidFill>
                    <a:schemeClr val="hlink"/>
                  </a:solidFill>
                  <a:hlinkClick r:id="rId3"/>
                </a:rPr>
                <a:t>aquí</a:t>
              </a:r>
              <a:r>
                <a:rPr lang="es" sz="1000">
                  <a:solidFill>
                    <a:schemeClr val="dk1"/>
                  </a:solidFill>
                </a:rPr>
                <a:t>.</a:t>
              </a:r>
              <a:endParaRPr sz="1000">
                <a:solidFill>
                  <a:schemeClr val="dk1"/>
                </a:solidFill>
              </a:endParaRPr>
            </a:p>
            <a:p>
              <a:pPr indent="-139101" lvl="0" marL="75601" marR="0" rtl="0" algn="l">
                <a:lnSpc>
                  <a:spcPct val="100000"/>
                </a:lnSpc>
                <a:spcBef>
                  <a:spcPts val="0"/>
                </a:spcBef>
                <a:spcAft>
                  <a:spcPts val="0"/>
                </a:spcAft>
                <a:buClr>
                  <a:schemeClr val="dk1"/>
                </a:buClr>
                <a:buSzPts val="1000"/>
                <a:buChar char="●"/>
              </a:pPr>
              <a:r>
                <a:rPr lang="es" sz="1000">
                  <a:solidFill>
                    <a:schemeClr val="dk1"/>
                  </a:solidFill>
                </a:rPr>
                <a:t>Disponibilidad: 2002M01 hasta 2025M11.</a:t>
              </a:r>
              <a:endParaRPr sz="1000">
                <a:solidFill>
                  <a:schemeClr val="dk1"/>
                </a:solidFill>
              </a:endParaRPr>
            </a:p>
          </p:txBody>
        </p:sp>
      </p:grpSp>
      <p:sp>
        <p:nvSpPr>
          <p:cNvPr id="393" name="Google Shape;393;p47"/>
          <p:cNvSpPr/>
          <p:nvPr/>
        </p:nvSpPr>
        <p:spPr>
          <a:xfrm>
            <a:off x="2537013" y="774100"/>
            <a:ext cx="1863300" cy="385200"/>
          </a:xfrm>
          <a:prstGeom prst="roundRect">
            <a:avLst>
              <a:gd fmla="val 10925" name="adj"/>
            </a:avLst>
          </a:prstGeom>
          <a:solidFill>
            <a:srgbClr val="00139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900">
                <a:solidFill>
                  <a:srgbClr val="FFFFFF"/>
                </a:solidFill>
              </a:rPr>
              <a:t>Selección de </a:t>
            </a:r>
            <a:r>
              <a:rPr b="1" lang="es" sz="900">
                <a:solidFill>
                  <a:srgbClr val="FFFFFF"/>
                </a:solidFill>
              </a:rPr>
              <a:t>variables</a:t>
            </a:r>
            <a:endParaRPr b="1" sz="900">
              <a:solidFill>
                <a:srgbClr val="FFFFFF"/>
              </a:solidFill>
            </a:endParaRPr>
          </a:p>
        </p:txBody>
      </p:sp>
      <p:sp>
        <p:nvSpPr>
          <p:cNvPr id="394" name="Google Shape;394;p47"/>
          <p:cNvSpPr txBox="1"/>
          <p:nvPr/>
        </p:nvSpPr>
        <p:spPr>
          <a:xfrm>
            <a:off x="2257175" y="1211725"/>
            <a:ext cx="2397900" cy="1539300"/>
          </a:xfrm>
          <a:prstGeom prst="rect">
            <a:avLst/>
          </a:prstGeom>
          <a:noFill/>
          <a:ln>
            <a:noFill/>
          </a:ln>
        </p:spPr>
        <p:txBody>
          <a:bodyPr anchorCtr="0" anchor="t" bIns="0" lIns="108000" spcFirstLastPara="1" rIns="0" wrap="square" tIns="0">
            <a:spAutoFit/>
          </a:bodyPr>
          <a:lstStyle/>
          <a:p>
            <a:pPr indent="-139101" lvl="0" marL="75601" rtl="0" algn="l">
              <a:spcBef>
                <a:spcPts val="0"/>
              </a:spcBef>
              <a:spcAft>
                <a:spcPts val="0"/>
              </a:spcAft>
              <a:buClr>
                <a:schemeClr val="dk1"/>
              </a:buClr>
              <a:buSzPts val="1000"/>
              <a:buChar char="●"/>
            </a:pPr>
            <a:r>
              <a:rPr lang="es" sz="1000">
                <a:solidFill>
                  <a:schemeClr val="dk1"/>
                </a:solidFill>
              </a:rPr>
              <a:t>Revisión de tres tipos de correlaciones (P</a:t>
            </a:r>
            <a:r>
              <a:rPr lang="es" sz="1000">
                <a:solidFill>
                  <a:schemeClr val="dk1"/>
                </a:solidFill>
              </a:rPr>
              <a:t>earson, </a:t>
            </a:r>
            <a:r>
              <a:rPr lang="es" sz="1000">
                <a:solidFill>
                  <a:schemeClr val="dk1"/>
                </a:solidFill>
              </a:rPr>
              <a:t>Spearman, y Kendall*) de las variables en t hasta t-24.</a:t>
            </a:r>
            <a:endParaRPr sz="1000">
              <a:solidFill>
                <a:schemeClr val="dk1"/>
              </a:solidFill>
            </a:endParaRPr>
          </a:p>
          <a:p>
            <a:pPr indent="-139101" lvl="0" marL="75601" rtl="0" algn="l">
              <a:spcBef>
                <a:spcPts val="0"/>
              </a:spcBef>
              <a:spcAft>
                <a:spcPts val="0"/>
              </a:spcAft>
              <a:buClr>
                <a:schemeClr val="dk1"/>
              </a:buClr>
              <a:buSzPts val="1000"/>
              <a:buChar char="●"/>
            </a:pPr>
            <a:r>
              <a:rPr lang="es" sz="1000">
                <a:solidFill>
                  <a:schemeClr val="dk1"/>
                </a:solidFill>
              </a:rPr>
              <a:t>Selección basada en </a:t>
            </a:r>
            <a:r>
              <a:rPr b="1" lang="es" sz="1000">
                <a:solidFill>
                  <a:schemeClr val="dk1"/>
                </a:solidFill>
              </a:rPr>
              <a:t>corr. Kendall + Sentido económico</a:t>
            </a:r>
            <a:r>
              <a:rPr lang="es" sz="1000">
                <a:solidFill>
                  <a:schemeClr val="dk1"/>
                </a:solidFill>
              </a:rPr>
              <a:t>.</a:t>
            </a:r>
            <a:endParaRPr sz="1000">
              <a:solidFill>
                <a:schemeClr val="dk1"/>
              </a:solidFill>
            </a:endParaRPr>
          </a:p>
          <a:p>
            <a:pPr indent="-139101" lvl="0" marL="75601" rtl="0" algn="l">
              <a:spcBef>
                <a:spcPts val="0"/>
              </a:spcBef>
              <a:spcAft>
                <a:spcPts val="0"/>
              </a:spcAft>
              <a:buClr>
                <a:schemeClr val="dk1"/>
              </a:buClr>
              <a:buSzPts val="1000"/>
              <a:buChar char="●"/>
            </a:pPr>
            <a:r>
              <a:rPr lang="es" sz="1000">
                <a:solidFill>
                  <a:schemeClr val="dk1"/>
                </a:solidFill>
              </a:rPr>
              <a:t>Sólo variables cuyas correlaciones sean </a:t>
            </a:r>
            <a:r>
              <a:rPr b="1" lang="es" sz="1000">
                <a:solidFill>
                  <a:schemeClr val="dk1"/>
                </a:solidFill>
              </a:rPr>
              <a:t>significativas y en rezagos &gt;= t-6</a:t>
            </a:r>
            <a:r>
              <a:rPr lang="es" sz="1000">
                <a:solidFill>
                  <a:schemeClr val="dk1"/>
                </a:solidFill>
              </a:rPr>
              <a:t>. Para evitar tener que tener valores predichos para predicciones de NPL hasta t+6.</a:t>
            </a:r>
            <a:endParaRPr sz="1000">
              <a:solidFill>
                <a:schemeClr val="dk1"/>
              </a:solidFill>
            </a:endParaRPr>
          </a:p>
        </p:txBody>
      </p:sp>
      <p:grpSp>
        <p:nvGrpSpPr>
          <p:cNvPr id="395" name="Google Shape;395;p47"/>
          <p:cNvGrpSpPr/>
          <p:nvPr/>
        </p:nvGrpSpPr>
        <p:grpSpPr>
          <a:xfrm>
            <a:off x="4712900" y="774550"/>
            <a:ext cx="2397900" cy="1807974"/>
            <a:chOff x="7454525" y="1136053"/>
            <a:chExt cx="2397900" cy="1807974"/>
          </a:xfrm>
        </p:grpSpPr>
        <p:sp>
          <p:nvSpPr>
            <p:cNvPr id="396" name="Google Shape;396;p47"/>
            <p:cNvSpPr/>
            <p:nvPr/>
          </p:nvSpPr>
          <p:spPr>
            <a:xfrm>
              <a:off x="7721826" y="1136053"/>
              <a:ext cx="1863300" cy="384300"/>
            </a:xfrm>
            <a:prstGeom prst="roundRect">
              <a:avLst>
                <a:gd fmla="val 10925" name="adj"/>
              </a:avLst>
            </a:prstGeom>
            <a:solidFill>
              <a:srgbClr val="00139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900">
                  <a:solidFill>
                    <a:srgbClr val="FFFFFF"/>
                  </a:solidFill>
                </a:rPr>
                <a:t>Estimación de modelos</a:t>
              </a:r>
              <a:endParaRPr b="1" sz="900">
                <a:solidFill>
                  <a:srgbClr val="FFFFFF"/>
                </a:solidFill>
              </a:endParaRPr>
            </a:p>
          </p:txBody>
        </p:sp>
        <p:sp>
          <p:nvSpPr>
            <p:cNvPr id="397" name="Google Shape;397;p47"/>
            <p:cNvSpPr txBox="1"/>
            <p:nvPr/>
          </p:nvSpPr>
          <p:spPr>
            <a:xfrm>
              <a:off x="7454525" y="1558627"/>
              <a:ext cx="2397900" cy="1385400"/>
            </a:xfrm>
            <a:prstGeom prst="rect">
              <a:avLst/>
            </a:prstGeom>
            <a:noFill/>
            <a:ln>
              <a:noFill/>
            </a:ln>
          </p:spPr>
          <p:txBody>
            <a:bodyPr anchorCtr="0" anchor="t" bIns="0" lIns="108000" spcFirstLastPara="1" rIns="0" wrap="square" tIns="0">
              <a:spAutoFit/>
            </a:bodyPr>
            <a:lstStyle/>
            <a:p>
              <a:pPr indent="-139101" lvl="0" marL="75601" marR="35999" rtl="0" algn="l">
                <a:lnSpc>
                  <a:spcPct val="100000"/>
                </a:lnSpc>
                <a:spcBef>
                  <a:spcPts val="0"/>
                </a:spcBef>
                <a:spcAft>
                  <a:spcPts val="0"/>
                </a:spcAft>
                <a:buClr>
                  <a:schemeClr val="dk1"/>
                </a:buClr>
                <a:buSzPts val="1000"/>
                <a:buChar char="●"/>
              </a:pPr>
              <a:r>
                <a:rPr b="1" lang="es" sz="1000">
                  <a:solidFill>
                    <a:schemeClr val="dk1"/>
                  </a:solidFill>
                </a:rPr>
                <a:t>14 modelos</a:t>
              </a:r>
              <a:r>
                <a:rPr lang="es" sz="1000">
                  <a:solidFill>
                    <a:schemeClr val="dk1"/>
                  </a:solidFill>
                </a:rPr>
                <a:t> estudiados por cada tipo de cartera.</a:t>
              </a:r>
              <a:endParaRPr sz="1000">
                <a:solidFill>
                  <a:schemeClr val="dk1"/>
                </a:solidFill>
              </a:endParaRPr>
            </a:p>
            <a:p>
              <a:pPr indent="-139101" lvl="0" marL="75601" marR="35999" rtl="0" algn="l">
                <a:lnSpc>
                  <a:spcPct val="100000"/>
                </a:lnSpc>
                <a:spcBef>
                  <a:spcPts val="0"/>
                </a:spcBef>
                <a:spcAft>
                  <a:spcPts val="0"/>
                </a:spcAft>
                <a:buClr>
                  <a:schemeClr val="dk1"/>
                </a:buClr>
                <a:buSzPts val="1000"/>
                <a:buChar char="●"/>
              </a:pPr>
              <a:r>
                <a:rPr lang="es" sz="1000">
                  <a:solidFill>
                    <a:schemeClr val="dk1"/>
                  </a:solidFill>
                </a:rPr>
                <a:t>Tanto </a:t>
              </a:r>
              <a:r>
                <a:rPr b="1" lang="es" sz="1000">
                  <a:solidFill>
                    <a:schemeClr val="dk1"/>
                  </a:solidFill>
                </a:rPr>
                <a:t>modelos tradicionales como de Machine Learning</a:t>
              </a:r>
              <a:r>
                <a:rPr lang="es" sz="1000">
                  <a:solidFill>
                    <a:schemeClr val="dk1"/>
                  </a:solidFill>
                </a:rPr>
                <a:t>.</a:t>
              </a:r>
              <a:endParaRPr sz="1000">
                <a:solidFill>
                  <a:schemeClr val="dk1"/>
                </a:solidFill>
              </a:endParaRPr>
            </a:p>
            <a:p>
              <a:pPr indent="-139101" lvl="0" marL="75601" marR="35999" rtl="0" algn="l">
                <a:lnSpc>
                  <a:spcPct val="100000"/>
                </a:lnSpc>
                <a:spcBef>
                  <a:spcPts val="0"/>
                </a:spcBef>
                <a:spcAft>
                  <a:spcPts val="0"/>
                </a:spcAft>
                <a:buClr>
                  <a:schemeClr val="dk1"/>
                </a:buClr>
                <a:buSzPts val="1000"/>
                <a:buChar char="●"/>
              </a:pPr>
              <a:r>
                <a:rPr b="1" lang="es" sz="1000">
                  <a:solidFill>
                    <a:schemeClr val="dk1"/>
                  </a:solidFill>
                </a:rPr>
                <a:t>Estimación de </a:t>
              </a:r>
              <a:r>
                <a:rPr b="1" i="1" lang="es" sz="1000">
                  <a:solidFill>
                    <a:schemeClr val="dk1"/>
                  </a:solidFill>
                </a:rPr>
                <a:t>ensembles**</a:t>
              </a:r>
              <a:r>
                <a:rPr i="1" lang="es" sz="1000">
                  <a:solidFill>
                    <a:schemeClr val="dk1"/>
                  </a:solidFill>
                </a:rPr>
                <a:t> </a:t>
              </a:r>
              <a:r>
                <a:rPr lang="es" sz="1000">
                  <a:solidFill>
                    <a:schemeClr val="dk1"/>
                  </a:solidFill>
                </a:rPr>
                <a:t>de diferentes modelos para explotar el mayor número de variables disponibles a pesar de sus diferentes disponibilidades temporales.</a:t>
              </a:r>
              <a:endParaRPr sz="1000">
                <a:solidFill>
                  <a:schemeClr val="dk1"/>
                </a:solidFill>
              </a:endParaRPr>
            </a:p>
          </p:txBody>
        </p:sp>
      </p:grpSp>
      <p:grpSp>
        <p:nvGrpSpPr>
          <p:cNvPr id="398" name="Google Shape;398;p47"/>
          <p:cNvGrpSpPr/>
          <p:nvPr/>
        </p:nvGrpSpPr>
        <p:grpSpPr>
          <a:xfrm>
            <a:off x="5983671" y="3032874"/>
            <a:ext cx="2903790" cy="1350247"/>
            <a:chOff x="4987575" y="3500821"/>
            <a:chExt cx="3518466" cy="1551829"/>
          </a:xfrm>
        </p:grpSpPr>
        <p:sp>
          <p:nvSpPr>
            <p:cNvPr id="399" name="Google Shape;399;p47"/>
            <p:cNvSpPr/>
            <p:nvPr/>
          </p:nvSpPr>
          <p:spPr>
            <a:xfrm>
              <a:off x="4987575" y="3512750"/>
              <a:ext cx="3518400" cy="1539900"/>
            </a:xfrm>
            <a:prstGeom prst="roundRect">
              <a:avLst>
                <a:gd fmla="val 16667" name="adj"/>
              </a:avLst>
            </a:prstGeom>
            <a:solidFill>
              <a:srgbClr val="108C97"/>
            </a:solidFill>
            <a:ln>
              <a:noFill/>
            </a:ln>
          </p:spPr>
          <p:txBody>
            <a:bodyPr anchorCtr="0" anchor="ctr" bIns="78200" lIns="78200" spcFirstLastPara="1" rIns="78200" wrap="square" tIns="78200">
              <a:noAutofit/>
            </a:bodyPr>
            <a:lstStyle/>
            <a:p>
              <a:pPr indent="0" lvl="0" marL="0" rtl="0" algn="ctr">
                <a:spcBef>
                  <a:spcPts val="0"/>
                </a:spcBef>
                <a:spcAft>
                  <a:spcPts val="0"/>
                </a:spcAft>
                <a:buNone/>
              </a:pPr>
              <a:r>
                <a:t/>
              </a:r>
              <a:endParaRPr sz="1197"/>
            </a:p>
          </p:txBody>
        </p:sp>
        <p:sp>
          <p:nvSpPr>
            <p:cNvPr id="400" name="Google Shape;400;p47"/>
            <p:cNvSpPr txBox="1"/>
            <p:nvPr/>
          </p:nvSpPr>
          <p:spPr>
            <a:xfrm>
              <a:off x="5108541" y="3500821"/>
              <a:ext cx="3397500" cy="384900"/>
            </a:xfrm>
            <a:prstGeom prst="rect">
              <a:avLst/>
            </a:prstGeom>
            <a:noFill/>
            <a:ln>
              <a:noFill/>
            </a:ln>
          </p:spPr>
          <p:txBody>
            <a:bodyPr anchorCtr="0" anchor="t" bIns="78200" lIns="78200" spcFirstLastPara="1" rIns="78200" wrap="square" tIns="78200">
              <a:noAutofit/>
            </a:bodyPr>
            <a:lstStyle/>
            <a:p>
              <a:pPr indent="0" lvl="0" marL="0" rtl="0" algn="l">
                <a:spcBef>
                  <a:spcPts val="0"/>
                </a:spcBef>
                <a:spcAft>
                  <a:spcPts val="0"/>
                </a:spcAft>
                <a:buNone/>
              </a:pPr>
              <a:r>
                <a:rPr b="1" lang="es" sz="1012" u="sng">
                  <a:solidFill>
                    <a:schemeClr val="lt1"/>
                  </a:solidFill>
                </a:rPr>
                <a:t>DISEÑO DE VALIDACIÓN Y SELECCIÓN</a:t>
              </a:r>
              <a:endParaRPr b="1" sz="1012" u="sng">
                <a:solidFill>
                  <a:schemeClr val="lt1"/>
                </a:solidFill>
              </a:endParaRPr>
            </a:p>
          </p:txBody>
        </p:sp>
        <p:sp>
          <p:nvSpPr>
            <p:cNvPr id="401" name="Google Shape;401;p47"/>
            <p:cNvSpPr/>
            <p:nvPr/>
          </p:nvSpPr>
          <p:spPr>
            <a:xfrm>
              <a:off x="5101100" y="3866425"/>
              <a:ext cx="1621500" cy="464700"/>
            </a:xfrm>
            <a:prstGeom prst="roundRect">
              <a:avLst>
                <a:gd fmla="val 16667" name="adj"/>
              </a:avLst>
            </a:prstGeom>
            <a:solidFill>
              <a:srgbClr val="FFC55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197"/>
            </a:p>
          </p:txBody>
        </p:sp>
        <p:sp>
          <p:nvSpPr>
            <p:cNvPr id="402" name="Google Shape;402;p47"/>
            <p:cNvSpPr/>
            <p:nvPr/>
          </p:nvSpPr>
          <p:spPr>
            <a:xfrm>
              <a:off x="6779100" y="3866425"/>
              <a:ext cx="1621500" cy="464700"/>
            </a:xfrm>
            <a:prstGeom prst="roundRect">
              <a:avLst>
                <a:gd fmla="val 16667" name="adj"/>
              </a:avLst>
            </a:prstGeom>
            <a:solidFill>
              <a:srgbClr val="FFC55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197"/>
            </a:p>
          </p:txBody>
        </p:sp>
        <p:sp>
          <p:nvSpPr>
            <p:cNvPr id="403" name="Google Shape;403;p47"/>
            <p:cNvSpPr/>
            <p:nvPr/>
          </p:nvSpPr>
          <p:spPr>
            <a:xfrm>
              <a:off x="5115937" y="4469575"/>
              <a:ext cx="1621500" cy="464700"/>
            </a:xfrm>
            <a:prstGeom prst="roundRect">
              <a:avLst>
                <a:gd fmla="val 16667" name="adj"/>
              </a:avLst>
            </a:prstGeom>
            <a:solidFill>
              <a:srgbClr val="FFC55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197"/>
            </a:p>
          </p:txBody>
        </p:sp>
        <p:sp>
          <p:nvSpPr>
            <p:cNvPr id="404" name="Google Shape;404;p47"/>
            <p:cNvSpPr/>
            <p:nvPr/>
          </p:nvSpPr>
          <p:spPr>
            <a:xfrm>
              <a:off x="6779100" y="4469575"/>
              <a:ext cx="1621500" cy="464700"/>
            </a:xfrm>
            <a:prstGeom prst="roundRect">
              <a:avLst>
                <a:gd fmla="val 16667" name="adj"/>
              </a:avLst>
            </a:prstGeom>
            <a:solidFill>
              <a:srgbClr val="FFC552"/>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197"/>
            </a:p>
          </p:txBody>
        </p:sp>
        <p:sp>
          <p:nvSpPr>
            <p:cNvPr id="405" name="Google Shape;405;p47"/>
            <p:cNvSpPr txBox="1"/>
            <p:nvPr/>
          </p:nvSpPr>
          <p:spPr>
            <a:xfrm>
              <a:off x="5161400" y="3921775"/>
              <a:ext cx="1500900" cy="369300"/>
            </a:xfrm>
            <a:prstGeom prst="rect">
              <a:avLst/>
            </a:prstGeom>
            <a:noFill/>
            <a:ln>
              <a:noFill/>
            </a:ln>
          </p:spPr>
          <p:txBody>
            <a:bodyPr anchorCtr="0" anchor="t" bIns="0" lIns="0" spcFirstLastPara="1" rIns="78200" wrap="square" tIns="0">
              <a:noAutofit/>
            </a:bodyPr>
            <a:lstStyle/>
            <a:p>
              <a:pPr indent="0" lvl="0" marL="0" rtl="0" algn="l">
                <a:spcBef>
                  <a:spcPts val="0"/>
                </a:spcBef>
                <a:spcAft>
                  <a:spcPts val="0"/>
                </a:spcAft>
                <a:buNone/>
              </a:pPr>
              <a:r>
                <a:rPr b="1" lang="es" sz="941">
                  <a:solidFill>
                    <a:srgbClr val="999999"/>
                  </a:solidFill>
                </a:rPr>
                <a:t>Método</a:t>
              </a:r>
              <a:endParaRPr b="1" sz="941">
                <a:solidFill>
                  <a:srgbClr val="999999"/>
                </a:solidFill>
              </a:endParaRPr>
            </a:p>
            <a:p>
              <a:pPr indent="0" lvl="0" marL="0" rtl="0" algn="l">
                <a:spcBef>
                  <a:spcPts val="0"/>
                </a:spcBef>
                <a:spcAft>
                  <a:spcPts val="0"/>
                </a:spcAft>
                <a:buNone/>
              </a:pPr>
              <a:r>
                <a:rPr lang="es" sz="1012">
                  <a:solidFill>
                    <a:schemeClr val="dk1"/>
                  </a:solidFill>
                </a:rPr>
                <a:t>Rolling-window val.</a:t>
              </a:r>
              <a:endParaRPr sz="1012">
                <a:solidFill>
                  <a:schemeClr val="dk1"/>
                </a:solidFill>
              </a:endParaRPr>
            </a:p>
          </p:txBody>
        </p:sp>
        <p:sp>
          <p:nvSpPr>
            <p:cNvPr id="406" name="Google Shape;406;p47"/>
            <p:cNvSpPr txBox="1"/>
            <p:nvPr/>
          </p:nvSpPr>
          <p:spPr>
            <a:xfrm>
              <a:off x="6839400" y="3914125"/>
              <a:ext cx="1500900" cy="369300"/>
            </a:xfrm>
            <a:prstGeom prst="rect">
              <a:avLst/>
            </a:prstGeom>
            <a:noFill/>
            <a:ln>
              <a:noFill/>
            </a:ln>
          </p:spPr>
          <p:txBody>
            <a:bodyPr anchorCtr="0" anchor="t" bIns="0" lIns="0" spcFirstLastPara="1" rIns="78200" wrap="square" tIns="0">
              <a:noAutofit/>
            </a:bodyPr>
            <a:lstStyle/>
            <a:p>
              <a:pPr indent="0" lvl="0" marL="0" rtl="0" algn="l">
                <a:spcBef>
                  <a:spcPts val="0"/>
                </a:spcBef>
                <a:spcAft>
                  <a:spcPts val="0"/>
                </a:spcAft>
                <a:buNone/>
              </a:pPr>
              <a:r>
                <a:rPr b="1" lang="es" sz="941">
                  <a:solidFill>
                    <a:srgbClr val="999999"/>
                  </a:solidFill>
                </a:rPr>
                <a:t>Ventanas</a:t>
              </a:r>
              <a:endParaRPr b="1" sz="941">
                <a:solidFill>
                  <a:srgbClr val="999999"/>
                </a:solidFill>
              </a:endParaRPr>
            </a:p>
            <a:p>
              <a:pPr indent="0" lvl="0" marL="0" rtl="0" algn="l">
                <a:spcBef>
                  <a:spcPts val="0"/>
                </a:spcBef>
                <a:spcAft>
                  <a:spcPts val="0"/>
                </a:spcAft>
                <a:buNone/>
              </a:pPr>
              <a:r>
                <a:rPr lang="es" sz="1012">
                  <a:solidFill>
                    <a:schemeClr val="dk1"/>
                  </a:solidFill>
                </a:rPr>
                <a:t>12 iteraciones</a:t>
              </a:r>
              <a:endParaRPr sz="1012">
                <a:solidFill>
                  <a:schemeClr val="dk1"/>
                </a:solidFill>
              </a:endParaRPr>
            </a:p>
          </p:txBody>
        </p:sp>
        <p:sp>
          <p:nvSpPr>
            <p:cNvPr id="407" name="Google Shape;407;p47"/>
            <p:cNvSpPr txBox="1"/>
            <p:nvPr/>
          </p:nvSpPr>
          <p:spPr>
            <a:xfrm>
              <a:off x="5176225" y="4517275"/>
              <a:ext cx="1500900" cy="369300"/>
            </a:xfrm>
            <a:prstGeom prst="rect">
              <a:avLst/>
            </a:prstGeom>
            <a:noFill/>
            <a:ln>
              <a:noFill/>
            </a:ln>
          </p:spPr>
          <p:txBody>
            <a:bodyPr anchorCtr="0" anchor="t" bIns="0" lIns="0" spcFirstLastPara="1" rIns="78200" wrap="square" tIns="0">
              <a:noAutofit/>
            </a:bodyPr>
            <a:lstStyle/>
            <a:p>
              <a:pPr indent="0" lvl="0" marL="0" rtl="0" algn="l">
                <a:spcBef>
                  <a:spcPts val="0"/>
                </a:spcBef>
                <a:spcAft>
                  <a:spcPts val="0"/>
                </a:spcAft>
                <a:buNone/>
              </a:pPr>
              <a:r>
                <a:rPr b="1" lang="es" sz="941">
                  <a:solidFill>
                    <a:srgbClr val="999999"/>
                  </a:solidFill>
                </a:rPr>
                <a:t>Horizonte</a:t>
              </a:r>
              <a:endParaRPr b="1" sz="941">
                <a:solidFill>
                  <a:srgbClr val="999999"/>
                </a:solidFill>
              </a:endParaRPr>
            </a:p>
            <a:p>
              <a:pPr indent="0" lvl="0" marL="0" rtl="0" algn="l">
                <a:spcBef>
                  <a:spcPts val="0"/>
                </a:spcBef>
                <a:spcAft>
                  <a:spcPts val="0"/>
                </a:spcAft>
                <a:buNone/>
              </a:pPr>
              <a:r>
                <a:rPr lang="es" sz="1012">
                  <a:solidFill>
                    <a:schemeClr val="dk1"/>
                  </a:solidFill>
                </a:rPr>
                <a:t>6 meses</a:t>
              </a:r>
              <a:endParaRPr sz="1012">
                <a:solidFill>
                  <a:schemeClr val="dk1"/>
                </a:solidFill>
              </a:endParaRPr>
            </a:p>
          </p:txBody>
        </p:sp>
        <p:sp>
          <p:nvSpPr>
            <p:cNvPr id="408" name="Google Shape;408;p47"/>
            <p:cNvSpPr txBox="1"/>
            <p:nvPr/>
          </p:nvSpPr>
          <p:spPr>
            <a:xfrm>
              <a:off x="6839391" y="4517286"/>
              <a:ext cx="1665600" cy="369300"/>
            </a:xfrm>
            <a:prstGeom prst="rect">
              <a:avLst/>
            </a:prstGeom>
            <a:noFill/>
            <a:ln>
              <a:noFill/>
            </a:ln>
          </p:spPr>
          <p:txBody>
            <a:bodyPr anchorCtr="0" anchor="t" bIns="0" lIns="0" spcFirstLastPara="1" rIns="78200" wrap="square" tIns="0">
              <a:noAutofit/>
            </a:bodyPr>
            <a:lstStyle/>
            <a:p>
              <a:pPr indent="0" lvl="0" marL="0" rtl="0" algn="l">
                <a:spcBef>
                  <a:spcPts val="0"/>
                </a:spcBef>
                <a:spcAft>
                  <a:spcPts val="0"/>
                </a:spcAft>
                <a:buNone/>
              </a:pPr>
              <a:r>
                <a:rPr b="1" lang="es" sz="941">
                  <a:solidFill>
                    <a:srgbClr val="999999"/>
                  </a:solidFill>
                </a:rPr>
                <a:t>Periodo</a:t>
              </a:r>
              <a:endParaRPr b="1" sz="941">
                <a:solidFill>
                  <a:srgbClr val="999999"/>
                </a:solidFill>
              </a:endParaRPr>
            </a:p>
            <a:p>
              <a:pPr indent="0" lvl="0" marL="0" rtl="0" algn="l">
                <a:spcBef>
                  <a:spcPts val="0"/>
                </a:spcBef>
                <a:spcAft>
                  <a:spcPts val="0"/>
                </a:spcAft>
                <a:buNone/>
              </a:pPr>
              <a:r>
                <a:rPr lang="es" sz="1012">
                  <a:solidFill>
                    <a:schemeClr val="dk1"/>
                  </a:solidFill>
                </a:rPr>
                <a:t>2024M07 - 20205M11</a:t>
              </a:r>
              <a:endParaRPr sz="1012">
                <a:solidFill>
                  <a:schemeClr val="dk1"/>
                </a:solidFill>
              </a:endParaRPr>
            </a:p>
          </p:txBody>
        </p:sp>
      </p:grpSp>
      <p:grpSp>
        <p:nvGrpSpPr>
          <p:cNvPr id="409" name="Google Shape;409;p47"/>
          <p:cNvGrpSpPr/>
          <p:nvPr/>
        </p:nvGrpSpPr>
        <p:grpSpPr>
          <a:xfrm>
            <a:off x="7225675" y="750425"/>
            <a:ext cx="1863300" cy="1528600"/>
            <a:chOff x="7163550" y="3272410"/>
            <a:chExt cx="1863300" cy="1528600"/>
          </a:xfrm>
        </p:grpSpPr>
        <p:sp>
          <p:nvSpPr>
            <p:cNvPr id="410" name="Google Shape;410;p47"/>
            <p:cNvSpPr/>
            <p:nvPr/>
          </p:nvSpPr>
          <p:spPr>
            <a:xfrm>
              <a:off x="7163550" y="3272410"/>
              <a:ext cx="1863300" cy="384300"/>
            </a:xfrm>
            <a:prstGeom prst="roundRect">
              <a:avLst>
                <a:gd fmla="val 10925" name="adj"/>
              </a:avLst>
            </a:prstGeom>
            <a:solidFill>
              <a:schemeClr val="accent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900">
                  <a:solidFill>
                    <a:srgbClr val="FFFFFF"/>
                  </a:solidFill>
                </a:rPr>
                <a:t>Forecast final</a:t>
              </a:r>
              <a:endParaRPr b="1" sz="900">
                <a:solidFill>
                  <a:srgbClr val="FFFFFF"/>
                </a:solidFill>
              </a:endParaRPr>
            </a:p>
          </p:txBody>
        </p:sp>
        <p:sp>
          <p:nvSpPr>
            <p:cNvPr id="411" name="Google Shape;411;p47"/>
            <p:cNvSpPr txBox="1"/>
            <p:nvPr/>
          </p:nvSpPr>
          <p:spPr>
            <a:xfrm>
              <a:off x="7163550" y="3723410"/>
              <a:ext cx="1841400" cy="1077600"/>
            </a:xfrm>
            <a:prstGeom prst="rect">
              <a:avLst/>
            </a:prstGeom>
            <a:noFill/>
            <a:ln>
              <a:noFill/>
            </a:ln>
          </p:spPr>
          <p:txBody>
            <a:bodyPr anchorCtr="0" anchor="t" bIns="0" lIns="108000" spcFirstLastPara="1" rIns="0" wrap="square" tIns="0">
              <a:spAutoFit/>
            </a:bodyPr>
            <a:lstStyle/>
            <a:p>
              <a:pPr indent="-139101" lvl="0" marL="75601" rtl="0" algn="l">
                <a:spcBef>
                  <a:spcPts val="0"/>
                </a:spcBef>
                <a:spcAft>
                  <a:spcPts val="0"/>
                </a:spcAft>
                <a:buClr>
                  <a:schemeClr val="dk1"/>
                </a:buClr>
                <a:buSzPts val="1000"/>
                <a:buChar char="●"/>
              </a:pPr>
              <a:r>
                <a:rPr lang="es" sz="1000">
                  <a:solidFill>
                    <a:schemeClr val="dk1"/>
                  </a:solidFill>
                </a:rPr>
                <a:t>Tras la selección del modelo, se realiza la predicción fuera de muestra </a:t>
              </a:r>
              <a:r>
                <a:rPr b="1" lang="es" sz="1000">
                  <a:solidFill>
                    <a:schemeClr val="dk1"/>
                  </a:solidFill>
                </a:rPr>
                <a:t>seis meses adelante </a:t>
              </a:r>
              <a:r>
                <a:rPr lang="es" sz="1000">
                  <a:solidFill>
                    <a:schemeClr val="dk1"/>
                  </a:solidFill>
                </a:rPr>
                <a:t>para cada cartera</a:t>
              </a:r>
              <a:r>
                <a:rPr lang="es" sz="1000">
                  <a:solidFill>
                    <a:schemeClr val="dk1"/>
                  </a:solidFill>
                </a:rPr>
                <a:t>.</a:t>
              </a:r>
              <a:endParaRPr sz="1000">
                <a:solidFill>
                  <a:schemeClr val="dk1"/>
                </a:solidFill>
              </a:endParaRPr>
            </a:p>
            <a:p>
              <a:pPr indent="-139101" lvl="0" marL="75601" rtl="0" algn="l">
                <a:spcBef>
                  <a:spcPts val="0"/>
                </a:spcBef>
                <a:spcAft>
                  <a:spcPts val="0"/>
                </a:spcAft>
                <a:buClr>
                  <a:schemeClr val="dk1"/>
                </a:buClr>
                <a:buSzPts val="1000"/>
                <a:buChar char="●"/>
              </a:pPr>
              <a:r>
                <a:rPr lang="es" sz="1000">
                  <a:solidFill>
                    <a:schemeClr val="dk1"/>
                  </a:solidFill>
                </a:rPr>
                <a:t>Luego de pronosticar </a:t>
              </a:r>
              <a:r>
                <a:rPr b="1" lang="es" sz="1000">
                  <a:solidFill>
                    <a:schemeClr val="dk1"/>
                  </a:solidFill>
                </a:rPr>
                <a:t>la diferencia del NPL</a:t>
              </a:r>
              <a:r>
                <a:rPr lang="es" sz="1000">
                  <a:solidFill>
                    <a:schemeClr val="dk1"/>
                  </a:solidFill>
                </a:rPr>
                <a:t>, se recupera el nivel de la serie.</a:t>
              </a:r>
              <a:endParaRPr sz="1000">
                <a:solidFill>
                  <a:schemeClr val="dk1"/>
                </a:solidFill>
              </a:endParaRPr>
            </a:p>
          </p:txBody>
        </p:sp>
      </p:grpSp>
      <p:sp>
        <p:nvSpPr>
          <p:cNvPr id="412" name="Google Shape;412;p47"/>
          <p:cNvSpPr/>
          <p:nvPr/>
        </p:nvSpPr>
        <p:spPr>
          <a:xfrm>
            <a:off x="3965377" y="3068700"/>
            <a:ext cx="1863300" cy="384300"/>
          </a:xfrm>
          <a:prstGeom prst="roundRect">
            <a:avLst>
              <a:gd fmla="val 10925" name="adj"/>
            </a:avLst>
          </a:prstGeom>
          <a:solidFill>
            <a:srgbClr val="00139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lang="es" sz="900">
                <a:solidFill>
                  <a:srgbClr val="FFFFFF"/>
                </a:solidFill>
              </a:rPr>
              <a:t>Selección de modelo</a:t>
            </a:r>
            <a:endParaRPr b="1" sz="900">
              <a:solidFill>
                <a:srgbClr val="FFFFFF"/>
              </a:solidFill>
            </a:endParaRPr>
          </a:p>
        </p:txBody>
      </p:sp>
      <p:sp>
        <p:nvSpPr>
          <p:cNvPr id="413" name="Google Shape;413;p47"/>
          <p:cNvSpPr txBox="1"/>
          <p:nvPr/>
        </p:nvSpPr>
        <p:spPr>
          <a:xfrm>
            <a:off x="3766325" y="3556275"/>
            <a:ext cx="2145600" cy="923400"/>
          </a:xfrm>
          <a:prstGeom prst="rect">
            <a:avLst/>
          </a:prstGeom>
          <a:noFill/>
          <a:ln>
            <a:noFill/>
          </a:ln>
        </p:spPr>
        <p:txBody>
          <a:bodyPr anchorCtr="0" anchor="t" bIns="0" lIns="108000" spcFirstLastPara="1" rIns="0" wrap="square" tIns="0">
            <a:spAutoFit/>
          </a:bodyPr>
          <a:lstStyle/>
          <a:p>
            <a:pPr indent="0" lvl="0" marL="0" marR="0" rtl="0" algn="l">
              <a:lnSpc>
                <a:spcPct val="100000"/>
              </a:lnSpc>
              <a:spcBef>
                <a:spcPts val="0"/>
              </a:spcBef>
              <a:spcAft>
                <a:spcPts val="0"/>
              </a:spcAft>
              <a:buNone/>
            </a:pPr>
            <a:r>
              <a:rPr lang="es" sz="1000">
                <a:solidFill>
                  <a:schemeClr val="dk1"/>
                </a:solidFill>
              </a:rPr>
              <a:t>Usando </a:t>
            </a:r>
            <a:r>
              <a:rPr b="1" lang="es" sz="1000">
                <a:solidFill>
                  <a:schemeClr val="dk1"/>
                </a:solidFill>
              </a:rPr>
              <a:t>rolling-window validation </a:t>
            </a:r>
            <a:r>
              <a:rPr lang="es" sz="1000">
                <a:solidFill>
                  <a:schemeClr val="dk1"/>
                </a:solidFill>
              </a:rPr>
              <a:t>para asegurar que el mejor modelo no es sensible al punto inicial de predicción, se elige el </a:t>
            </a:r>
            <a:r>
              <a:rPr b="1" lang="es" sz="1000">
                <a:solidFill>
                  <a:schemeClr val="dk1"/>
                </a:solidFill>
              </a:rPr>
              <a:t>modelo con menor RMSE </a:t>
            </a:r>
            <a:r>
              <a:rPr lang="es" sz="1000">
                <a:solidFill>
                  <a:schemeClr val="dk1"/>
                </a:solidFill>
              </a:rPr>
              <a:t>(promedio de las ventanas).</a:t>
            </a:r>
            <a:endParaRPr sz="1000">
              <a:solidFill>
                <a:schemeClr val="dk1"/>
              </a:solidFill>
            </a:endParaRPr>
          </a:p>
        </p:txBody>
      </p:sp>
      <p:cxnSp>
        <p:nvCxnSpPr>
          <p:cNvPr id="414" name="Google Shape;414;p47"/>
          <p:cNvCxnSpPr>
            <a:stCxn id="391" idx="3"/>
            <a:endCxn id="393" idx="1"/>
          </p:cNvCxnSpPr>
          <p:nvPr/>
        </p:nvCxnSpPr>
        <p:spPr>
          <a:xfrm>
            <a:off x="2053525" y="966250"/>
            <a:ext cx="483600" cy="300"/>
          </a:xfrm>
          <a:prstGeom prst="straightConnector1">
            <a:avLst/>
          </a:prstGeom>
          <a:noFill/>
          <a:ln cap="flat" cmpd="sng" w="28575">
            <a:solidFill>
              <a:srgbClr val="FF8585"/>
            </a:solidFill>
            <a:prstDash val="solid"/>
            <a:round/>
            <a:headEnd len="med" w="med" type="none"/>
            <a:tailEnd len="med" w="med" type="triangle"/>
          </a:ln>
        </p:spPr>
      </p:cxnSp>
      <p:cxnSp>
        <p:nvCxnSpPr>
          <p:cNvPr id="415" name="Google Shape;415;p47"/>
          <p:cNvCxnSpPr>
            <a:stCxn id="393" idx="3"/>
            <a:endCxn id="396" idx="1"/>
          </p:cNvCxnSpPr>
          <p:nvPr/>
        </p:nvCxnSpPr>
        <p:spPr>
          <a:xfrm>
            <a:off x="4400313" y="966700"/>
            <a:ext cx="579900" cy="0"/>
          </a:xfrm>
          <a:prstGeom prst="straightConnector1">
            <a:avLst/>
          </a:prstGeom>
          <a:noFill/>
          <a:ln cap="flat" cmpd="sng" w="28575">
            <a:solidFill>
              <a:srgbClr val="FF8585"/>
            </a:solidFill>
            <a:prstDash val="solid"/>
            <a:round/>
            <a:headEnd len="med" w="med" type="none"/>
            <a:tailEnd len="med" w="med" type="triangle"/>
          </a:ln>
        </p:spPr>
      </p:cxnSp>
      <p:cxnSp>
        <p:nvCxnSpPr>
          <p:cNvPr id="416" name="Google Shape;416;p47"/>
          <p:cNvCxnSpPr>
            <a:endCxn id="383" idx="0"/>
          </p:cNvCxnSpPr>
          <p:nvPr/>
        </p:nvCxnSpPr>
        <p:spPr>
          <a:xfrm flipH="1">
            <a:off x="6354650" y="2655750"/>
            <a:ext cx="751500" cy="210900"/>
          </a:xfrm>
          <a:prstGeom prst="bentConnector2">
            <a:avLst/>
          </a:prstGeom>
          <a:noFill/>
          <a:ln cap="flat" cmpd="sng" w="28575">
            <a:solidFill>
              <a:srgbClr val="FF8585"/>
            </a:solidFill>
            <a:prstDash val="solid"/>
            <a:round/>
            <a:headEnd len="med" w="med" type="none"/>
            <a:tailEnd len="med" w="med" type="none"/>
          </a:ln>
        </p:spPr>
      </p:cxnSp>
      <p:cxnSp>
        <p:nvCxnSpPr>
          <p:cNvPr id="417" name="Google Shape;417;p47"/>
          <p:cNvCxnSpPr>
            <a:endCxn id="396" idx="3"/>
          </p:cNvCxnSpPr>
          <p:nvPr/>
        </p:nvCxnSpPr>
        <p:spPr>
          <a:xfrm flipH="1" rot="5400000">
            <a:off x="6139551" y="1670650"/>
            <a:ext cx="1675200" cy="267300"/>
          </a:xfrm>
          <a:prstGeom prst="bentConnector2">
            <a:avLst/>
          </a:prstGeom>
          <a:noFill/>
          <a:ln cap="flat" cmpd="sng" w="28575">
            <a:solidFill>
              <a:srgbClr val="FF8585"/>
            </a:solidFill>
            <a:prstDash val="solid"/>
            <a:round/>
            <a:headEnd len="med" w="med" type="none"/>
            <a:tailEnd len="med" w="med" type="none"/>
          </a:ln>
        </p:spPr>
      </p:cxnSp>
      <p:cxnSp>
        <p:nvCxnSpPr>
          <p:cNvPr id="418" name="Google Shape;418;p47"/>
          <p:cNvCxnSpPr/>
          <p:nvPr/>
        </p:nvCxnSpPr>
        <p:spPr>
          <a:xfrm flipH="1" rot="10800000">
            <a:off x="8143225" y="2374275"/>
            <a:ext cx="4800" cy="498000"/>
          </a:xfrm>
          <a:prstGeom prst="straightConnector1">
            <a:avLst/>
          </a:prstGeom>
          <a:noFill/>
          <a:ln cap="flat" cmpd="sng" w="28575">
            <a:solidFill>
              <a:srgbClr val="FF8585"/>
            </a:solidFill>
            <a:prstDash val="solid"/>
            <a:round/>
            <a:headEnd len="med" w="med" type="none"/>
            <a:tailEnd len="med" w="med" type="triangle"/>
          </a:ln>
        </p:spPr>
      </p:cxnSp>
      <p:sp>
        <p:nvSpPr>
          <p:cNvPr id="419" name="Google Shape;419;p47"/>
          <p:cNvSpPr txBox="1"/>
          <p:nvPr/>
        </p:nvSpPr>
        <p:spPr>
          <a:xfrm>
            <a:off x="117475" y="4819936"/>
            <a:ext cx="8971500" cy="1725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Se utilizan correlaciones de Kendall por su mayor robustez frente a valores atípicos y cambios estructurales (p. ej., COVID 19). </a:t>
            </a:r>
            <a:endParaRPr sz="700">
              <a:solidFill>
                <a:srgbClr val="46536D"/>
              </a:solidFill>
            </a:endParaRPr>
          </a:p>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El ensemble combina variantes del mismo modelo con distinta disponibilidad temporal de variables, ponderadas según su desempeño predictivo (RMSE a 6 meses), maximizando el uso de la información disponible.</a:t>
            </a:r>
            <a:endParaRPr sz="700">
              <a:solidFill>
                <a:srgbClr val="46536D"/>
              </a:solidFill>
            </a:endParaRPr>
          </a:p>
        </p:txBody>
      </p:sp>
      <p:sp>
        <p:nvSpPr>
          <p:cNvPr id="420" name="Google Shape;420;p47"/>
          <p:cNvSpPr/>
          <p:nvPr/>
        </p:nvSpPr>
        <p:spPr>
          <a:xfrm>
            <a:off x="116825" y="679352"/>
            <a:ext cx="216000" cy="2160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lt1"/>
                </a:solidFill>
              </a:rPr>
              <a:t>1</a:t>
            </a:r>
            <a:endParaRPr b="1">
              <a:solidFill>
                <a:schemeClr val="lt1"/>
              </a:solidFill>
            </a:endParaRPr>
          </a:p>
        </p:txBody>
      </p:sp>
      <p:sp>
        <p:nvSpPr>
          <p:cNvPr id="421" name="Google Shape;421;p47"/>
          <p:cNvSpPr/>
          <p:nvPr/>
        </p:nvSpPr>
        <p:spPr>
          <a:xfrm>
            <a:off x="2448625" y="679350"/>
            <a:ext cx="216000" cy="2160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lt1"/>
                </a:solidFill>
              </a:rPr>
              <a:t>2</a:t>
            </a:r>
            <a:endParaRPr b="1">
              <a:solidFill>
                <a:schemeClr val="lt1"/>
              </a:solidFill>
            </a:endParaRPr>
          </a:p>
        </p:txBody>
      </p:sp>
      <p:sp>
        <p:nvSpPr>
          <p:cNvPr id="422" name="Google Shape;422;p47"/>
          <p:cNvSpPr/>
          <p:nvPr/>
        </p:nvSpPr>
        <p:spPr>
          <a:xfrm>
            <a:off x="4877350" y="679347"/>
            <a:ext cx="216000" cy="2160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lt1"/>
                </a:solidFill>
              </a:rPr>
              <a:t>3</a:t>
            </a:r>
            <a:endParaRPr b="1">
              <a:solidFill>
                <a:schemeClr val="lt1"/>
              </a:solidFill>
            </a:endParaRPr>
          </a:p>
        </p:txBody>
      </p:sp>
      <p:sp>
        <p:nvSpPr>
          <p:cNvPr id="423" name="Google Shape;423;p47"/>
          <p:cNvSpPr/>
          <p:nvPr/>
        </p:nvSpPr>
        <p:spPr>
          <a:xfrm>
            <a:off x="7306075" y="675615"/>
            <a:ext cx="216000" cy="2160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lt1"/>
                </a:solidFill>
              </a:rPr>
              <a:t>5</a:t>
            </a:r>
            <a:endParaRPr b="1">
              <a:solidFill>
                <a:schemeClr val="lt1"/>
              </a:solidFill>
            </a:endParaRPr>
          </a:p>
        </p:txBody>
      </p:sp>
      <p:sp>
        <p:nvSpPr>
          <p:cNvPr id="424" name="Google Shape;424;p47"/>
          <p:cNvSpPr/>
          <p:nvPr/>
        </p:nvSpPr>
        <p:spPr>
          <a:xfrm>
            <a:off x="3766325" y="3098852"/>
            <a:ext cx="324000" cy="324000"/>
          </a:xfrm>
          <a:prstGeom prst="ellipse">
            <a:avLst/>
          </a:prstGeom>
          <a:solidFill>
            <a:schemeClr val="accent6"/>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lt1"/>
                </a:solidFill>
              </a:rPr>
              <a:t>4</a:t>
            </a:r>
            <a:endParaRPr b="1">
              <a:solidFill>
                <a:schemeClr val="lt1"/>
              </a:solidFill>
            </a:endParaRPr>
          </a:p>
        </p:txBody>
      </p:sp>
      <p:sp>
        <p:nvSpPr>
          <p:cNvPr id="425" name="Google Shape;425;p47"/>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Metodología: Estrategia de Modelado y Validación (I)</a:t>
            </a:r>
            <a:endParaRPr baseline="30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9" name="Shape 429"/>
        <p:cNvGrpSpPr/>
        <p:nvPr/>
      </p:nvGrpSpPr>
      <p:grpSpPr>
        <a:xfrm>
          <a:off x="0" y="0"/>
          <a:ext cx="0" cy="0"/>
          <a:chOff x="0" y="0"/>
          <a:chExt cx="0" cy="0"/>
        </a:xfrm>
      </p:grpSpPr>
      <p:sp>
        <p:nvSpPr>
          <p:cNvPr id="430" name="Google Shape;430;p48"/>
          <p:cNvSpPr txBox="1"/>
          <p:nvPr/>
        </p:nvSpPr>
        <p:spPr>
          <a:xfrm>
            <a:off x="4654800" y="3099164"/>
            <a:ext cx="4264500" cy="1923900"/>
          </a:xfrm>
          <a:prstGeom prst="rect">
            <a:avLst/>
          </a:prstGeom>
          <a:noFill/>
          <a:ln cap="flat" cmpd="sng" w="19050">
            <a:solidFill>
              <a:schemeClr val="accent3"/>
            </a:solidFill>
            <a:prstDash val="solid"/>
            <a:round/>
            <a:headEnd len="sm" w="sm" type="none"/>
            <a:tailEnd len="sm" w="sm" type="none"/>
          </a:ln>
        </p:spPr>
        <p:txBody>
          <a:bodyPr anchorCtr="0" anchor="t" bIns="0" lIns="225000" spcFirstLastPara="1" rIns="0" wrap="square" tIns="0">
            <a:spAutoFit/>
          </a:bodyPr>
          <a:lstStyle/>
          <a:p>
            <a:pPr indent="-101600" lvl="0" marL="0" rtl="0" algn="l">
              <a:spcBef>
                <a:spcPts val="0"/>
              </a:spcBef>
              <a:spcAft>
                <a:spcPts val="0"/>
              </a:spcAft>
              <a:buClr>
                <a:schemeClr val="dk1"/>
              </a:buClr>
              <a:buSzPts val="1000"/>
              <a:buChar char="★"/>
            </a:pPr>
            <a:r>
              <a:rPr lang="es" sz="1000">
                <a:solidFill>
                  <a:schemeClr val="dk1"/>
                </a:solidFill>
              </a:rPr>
              <a:t>Se </a:t>
            </a:r>
            <a:r>
              <a:rPr lang="es" sz="1000">
                <a:solidFill>
                  <a:schemeClr val="dk1"/>
                </a:solidFill>
              </a:rPr>
              <a:t>estimaron</a:t>
            </a:r>
            <a:r>
              <a:rPr lang="es" sz="1000">
                <a:solidFill>
                  <a:schemeClr val="dk1"/>
                </a:solidFill>
              </a:rPr>
              <a:t> correlaciones Kendall para las 3 transformaciones. Cada cartera adopta el conjunto de variables con mayor número de correlaciones significativas en rezago ≥ t-6.</a:t>
            </a:r>
            <a:endParaRPr sz="1000">
              <a:solidFill>
                <a:schemeClr val="dk1"/>
              </a:solidFill>
            </a:endParaRPr>
          </a:p>
          <a:p>
            <a:pPr indent="0" lvl="0" marL="0" rtl="0" algn="l">
              <a:spcBef>
                <a:spcPts val="0"/>
              </a:spcBef>
              <a:spcAft>
                <a:spcPts val="0"/>
              </a:spcAft>
              <a:buNone/>
            </a:pPr>
            <a:r>
              <a:t/>
            </a:r>
            <a:endParaRPr sz="5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600">
              <a:solidFill>
                <a:schemeClr val="dk1"/>
              </a:solidFill>
            </a:endParaRPr>
          </a:p>
          <a:p>
            <a:pPr indent="0" lvl="0" marL="0" rtl="0" algn="l">
              <a:spcBef>
                <a:spcPts val="0"/>
              </a:spcBef>
              <a:spcAft>
                <a:spcPts val="0"/>
              </a:spcAft>
              <a:buNone/>
            </a:pPr>
            <a:r>
              <a:t/>
            </a:r>
            <a:endParaRPr b="1" sz="400">
              <a:solidFill>
                <a:schemeClr val="lt1"/>
              </a:solidFill>
              <a:highlight>
                <a:schemeClr val="accent3"/>
              </a:highlight>
            </a:endParaRPr>
          </a:p>
          <a:p>
            <a:pPr indent="0" lvl="0" marL="0" rtl="0" algn="l">
              <a:spcBef>
                <a:spcPts val="0"/>
              </a:spcBef>
              <a:spcAft>
                <a:spcPts val="0"/>
              </a:spcAft>
              <a:buNone/>
            </a:pPr>
            <a:r>
              <a:t/>
            </a:r>
            <a:endParaRPr b="1" sz="1000">
              <a:solidFill>
                <a:schemeClr val="lt1"/>
              </a:solidFill>
              <a:highlight>
                <a:schemeClr val="accent3"/>
              </a:highlight>
            </a:endParaRPr>
          </a:p>
          <a:p>
            <a:pPr indent="0" lvl="0" marL="0" rtl="0" algn="l">
              <a:spcBef>
                <a:spcPts val="0"/>
              </a:spcBef>
              <a:spcAft>
                <a:spcPts val="0"/>
              </a:spcAft>
              <a:buNone/>
            </a:pPr>
            <a:r>
              <a:t/>
            </a:r>
            <a:endParaRPr b="1" sz="1000">
              <a:solidFill>
                <a:schemeClr val="lt1"/>
              </a:solidFill>
              <a:highlight>
                <a:schemeClr val="accent3"/>
              </a:highlight>
            </a:endParaRPr>
          </a:p>
          <a:p>
            <a:pPr indent="0" lvl="0" marL="0" rtl="0" algn="l">
              <a:spcBef>
                <a:spcPts val="0"/>
              </a:spcBef>
              <a:spcAft>
                <a:spcPts val="0"/>
              </a:spcAft>
              <a:buNone/>
            </a:pPr>
            <a:r>
              <a:rPr b="1" lang="es" sz="1000">
                <a:solidFill>
                  <a:schemeClr val="lt1"/>
                </a:solidFill>
                <a:highlight>
                  <a:schemeClr val="accent3"/>
                </a:highlight>
              </a:rPr>
              <a:t>Decisión</a:t>
            </a:r>
            <a:r>
              <a:rPr b="1" lang="es" sz="1000">
                <a:solidFill>
                  <a:schemeClr val="lt1"/>
                </a:solidFill>
                <a:highlight>
                  <a:schemeClr val="accent3"/>
                </a:highlight>
              </a:rPr>
              <a:t>:</a:t>
            </a:r>
            <a:r>
              <a:rPr b="1" lang="es" sz="1000">
                <a:solidFill>
                  <a:schemeClr val="lt1"/>
                </a:solidFill>
              </a:rPr>
              <a:t> </a:t>
            </a:r>
            <a:r>
              <a:rPr lang="es" sz="1000">
                <a:solidFill>
                  <a:schemeClr val="dk1"/>
                </a:solidFill>
              </a:rPr>
              <a:t>No se impone una única transformación. La elección es empírica y específica a cada cartera. Solo se retienen variables con rezago ≥ t-6 (sin necesidad de forecast adicional de las covariables) para las predicciones condicionales 6 meses adelante.</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
        <p:nvSpPr>
          <p:cNvPr id="431" name="Google Shape;431;p48"/>
          <p:cNvSpPr/>
          <p:nvPr/>
        </p:nvSpPr>
        <p:spPr>
          <a:xfrm>
            <a:off x="0" y="0"/>
            <a:ext cx="2945100" cy="344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a:solidFill>
                  <a:schemeClr val="lt1"/>
                </a:solidFill>
              </a:rPr>
              <a:t>Zoom in: Selección de variables</a:t>
            </a:r>
            <a:endParaRPr b="1">
              <a:solidFill>
                <a:schemeClr val="lt1"/>
              </a:solidFill>
            </a:endParaRPr>
          </a:p>
          <a:p>
            <a:pPr indent="0" lvl="0" marL="0" rtl="0" algn="l">
              <a:spcBef>
                <a:spcPts val="0"/>
              </a:spcBef>
              <a:spcAft>
                <a:spcPts val="0"/>
              </a:spcAft>
              <a:buNone/>
            </a:pPr>
            <a:r>
              <a:rPr b="1" lang="es" sz="1000">
                <a:solidFill>
                  <a:srgbClr val="E2E6EA"/>
                </a:solidFill>
              </a:rPr>
              <a:t>Decisiones metodológicas</a:t>
            </a:r>
            <a:endParaRPr b="1" sz="1000">
              <a:solidFill>
                <a:srgbClr val="E2E6EA"/>
              </a:solidFill>
            </a:endParaRPr>
          </a:p>
        </p:txBody>
      </p:sp>
      <p:grpSp>
        <p:nvGrpSpPr>
          <p:cNvPr id="432" name="Google Shape;432;p48"/>
          <p:cNvGrpSpPr/>
          <p:nvPr/>
        </p:nvGrpSpPr>
        <p:grpSpPr>
          <a:xfrm>
            <a:off x="221450" y="2596240"/>
            <a:ext cx="4264500" cy="1926037"/>
            <a:chOff x="391675" y="1367300"/>
            <a:chExt cx="4264500" cy="1926037"/>
          </a:xfrm>
        </p:grpSpPr>
        <p:sp>
          <p:nvSpPr>
            <p:cNvPr id="433" name="Google Shape;433;p48"/>
            <p:cNvSpPr txBox="1"/>
            <p:nvPr/>
          </p:nvSpPr>
          <p:spPr>
            <a:xfrm>
              <a:off x="391675" y="1754037"/>
              <a:ext cx="4264500" cy="1539300"/>
            </a:xfrm>
            <a:prstGeom prst="rect">
              <a:avLst/>
            </a:prstGeom>
            <a:noFill/>
            <a:ln cap="flat" cmpd="sng" w="19050">
              <a:solidFill>
                <a:schemeClr val="accent1"/>
              </a:solidFill>
              <a:prstDash val="solid"/>
              <a:round/>
              <a:headEnd len="sm" w="sm" type="none"/>
              <a:tailEnd len="sm" w="sm" type="none"/>
            </a:ln>
          </p:spPr>
          <p:txBody>
            <a:bodyPr anchorCtr="0" anchor="t" bIns="0" lIns="225000" spcFirstLastPara="1" rIns="0" wrap="square" tIns="0">
              <a:spAutoFit/>
            </a:bodyPr>
            <a:lstStyle/>
            <a:p>
              <a:pPr indent="-101600" lvl="0" marL="0" rtl="0" algn="l">
                <a:spcBef>
                  <a:spcPts val="0"/>
                </a:spcBef>
                <a:spcAft>
                  <a:spcPts val="0"/>
                </a:spcAft>
                <a:buClr>
                  <a:schemeClr val="dk1"/>
                </a:buClr>
                <a:buSzPts val="1000"/>
                <a:buChar char="★"/>
              </a:pPr>
              <a:r>
                <a:rPr lang="es" sz="1000">
                  <a:solidFill>
                    <a:schemeClr val="dk1"/>
                  </a:solidFill>
                </a:rPr>
                <a:t>Decisión de cómo tratar el período de COVID-19.</a:t>
              </a:r>
              <a:endParaRPr sz="1000">
                <a:solidFill>
                  <a:schemeClr val="dk1"/>
                </a:solidFill>
              </a:endParaRPr>
            </a:p>
            <a:p>
              <a:pPr indent="-101600" lvl="0" marL="0" rtl="0" algn="l">
                <a:spcBef>
                  <a:spcPts val="0"/>
                </a:spcBef>
                <a:spcAft>
                  <a:spcPts val="0"/>
                </a:spcAft>
                <a:buClr>
                  <a:schemeClr val="dk1"/>
                </a:buClr>
                <a:buSzPts val="1000"/>
                <a:buChar char="★"/>
              </a:pPr>
              <a:r>
                <a:rPr lang="es" sz="1000">
                  <a:solidFill>
                    <a:schemeClr val="dk1"/>
                  </a:solidFill>
                </a:rPr>
                <a:t>T</a:t>
              </a:r>
              <a:r>
                <a:rPr lang="es" sz="1000">
                  <a:solidFill>
                    <a:schemeClr val="dk1"/>
                  </a:solidFill>
                </a:rPr>
                <a:t>res medidas de asociación entre variables evaluadas* de t a t-24: </a:t>
              </a:r>
              <a:endParaRPr sz="1000">
                <a:solidFill>
                  <a:schemeClr val="dk1"/>
                </a:solidFill>
              </a:endParaRPr>
            </a:p>
            <a:p>
              <a:pPr indent="-168275" lvl="1" marL="135000" rtl="0" algn="l">
                <a:spcBef>
                  <a:spcPts val="0"/>
                </a:spcBef>
                <a:spcAft>
                  <a:spcPts val="0"/>
                </a:spcAft>
                <a:buClr>
                  <a:schemeClr val="dk1"/>
                </a:buClr>
                <a:buSzPts val="1000"/>
                <a:buChar char="○"/>
              </a:pPr>
              <a:r>
                <a:rPr b="1" lang="es" sz="1000">
                  <a:solidFill>
                    <a:schemeClr val="dk1"/>
                  </a:solidFill>
                </a:rPr>
                <a:t>Pearson: </a:t>
              </a:r>
              <a:r>
                <a:rPr lang="es" sz="1000">
                  <a:solidFill>
                    <a:schemeClr val="dk1"/>
                  </a:solidFill>
                </a:rPr>
                <a:t>Lineal y sensible a outliers.</a:t>
              </a:r>
              <a:endParaRPr sz="1000">
                <a:solidFill>
                  <a:schemeClr val="dk1"/>
                </a:solidFill>
              </a:endParaRPr>
            </a:p>
            <a:p>
              <a:pPr indent="-168275" lvl="1" marL="135000" rtl="0" algn="l">
                <a:spcBef>
                  <a:spcPts val="0"/>
                </a:spcBef>
                <a:spcAft>
                  <a:spcPts val="0"/>
                </a:spcAft>
                <a:buClr>
                  <a:schemeClr val="dk1"/>
                </a:buClr>
                <a:buSzPts val="1000"/>
                <a:buChar char="○"/>
              </a:pPr>
              <a:r>
                <a:rPr b="1" lang="es" sz="1000">
                  <a:solidFill>
                    <a:schemeClr val="dk1"/>
                  </a:solidFill>
                </a:rPr>
                <a:t>Spearman:</a:t>
              </a:r>
              <a:r>
                <a:rPr lang="es" sz="1000">
                  <a:solidFill>
                    <a:schemeClr val="dk1"/>
                  </a:solidFill>
                </a:rPr>
                <a:t> Por rangos y robusto a outliers.</a:t>
              </a:r>
              <a:endParaRPr sz="1000">
                <a:solidFill>
                  <a:schemeClr val="dk1"/>
                </a:solidFill>
              </a:endParaRPr>
            </a:p>
            <a:p>
              <a:pPr indent="-168275" lvl="1" marL="135000" rtl="0" algn="l">
                <a:spcBef>
                  <a:spcPts val="0"/>
                </a:spcBef>
                <a:spcAft>
                  <a:spcPts val="0"/>
                </a:spcAft>
                <a:buClr>
                  <a:schemeClr val="dk1"/>
                </a:buClr>
                <a:buSzPts val="1000"/>
                <a:buChar char="○"/>
              </a:pPr>
              <a:r>
                <a:rPr b="1" lang="es" sz="1000">
                  <a:solidFill>
                    <a:schemeClr val="dk1"/>
                  </a:solidFill>
                </a:rPr>
                <a:t>Kendall:</a:t>
              </a:r>
              <a:r>
                <a:rPr lang="es" sz="1000">
                  <a:solidFill>
                    <a:schemeClr val="dk1"/>
                  </a:solidFill>
                </a:rPr>
                <a:t> Medida de concordancia y más robusta en muestras pequeñas.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s" sz="1000">
                  <a:solidFill>
                    <a:schemeClr val="lt1"/>
                  </a:solidFill>
                  <a:highlight>
                    <a:schemeClr val="accent1"/>
                  </a:highlight>
                </a:rPr>
                <a:t>Solución:</a:t>
              </a:r>
              <a:r>
                <a:rPr b="1" lang="es" sz="1000">
                  <a:solidFill>
                    <a:schemeClr val="lt1"/>
                  </a:solidFill>
                </a:rPr>
                <a:t> </a:t>
              </a:r>
              <a:r>
                <a:rPr lang="es" sz="1000">
                  <a:solidFill>
                    <a:schemeClr val="dk1"/>
                  </a:solidFill>
                </a:rPr>
                <a:t>Se utiliza la medida de Kendall por ser robusta a los valores atípicos del período, por lo que no es necesario excluir el </a:t>
              </a:r>
              <a:r>
                <a:rPr lang="es" sz="1000">
                  <a:solidFill>
                    <a:schemeClr val="dk1"/>
                  </a:solidFill>
                </a:rPr>
                <a:t>COVID</a:t>
              </a:r>
              <a:r>
                <a:rPr lang="es" sz="1000">
                  <a:solidFill>
                    <a:schemeClr val="dk1"/>
                  </a:solidFill>
                </a:rPr>
                <a:t>-19.</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
          <p:nvSpPr>
            <p:cNvPr id="434" name="Google Shape;434;p48"/>
            <p:cNvSpPr/>
            <p:nvPr/>
          </p:nvSpPr>
          <p:spPr>
            <a:xfrm>
              <a:off x="391675" y="1367300"/>
              <a:ext cx="4264500" cy="385200"/>
            </a:xfrm>
            <a:prstGeom prst="round2SameRect">
              <a:avLst>
                <a:gd fmla="val 15026" name="adj1"/>
                <a:gd fmla="val 0" name="adj2"/>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5" name="Google Shape;435;p48"/>
          <p:cNvSpPr/>
          <p:nvPr/>
        </p:nvSpPr>
        <p:spPr>
          <a:xfrm>
            <a:off x="4656550" y="1009512"/>
            <a:ext cx="4266000" cy="385200"/>
          </a:xfrm>
          <a:prstGeom prst="round2SameRect">
            <a:avLst>
              <a:gd fmla="val 15026" name="adj1"/>
              <a:gd fmla="val 0" name="adj2"/>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4654800" y="1398205"/>
            <a:ext cx="4264500" cy="1231500"/>
          </a:xfrm>
          <a:prstGeom prst="rect">
            <a:avLst/>
          </a:prstGeom>
          <a:noFill/>
          <a:ln cap="flat" cmpd="sng" w="19050">
            <a:solidFill>
              <a:schemeClr val="accent5"/>
            </a:solidFill>
            <a:prstDash val="solid"/>
            <a:round/>
            <a:headEnd len="sm" w="sm" type="none"/>
            <a:tailEnd len="sm" w="sm" type="none"/>
          </a:ln>
        </p:spPr>
        <p:txBody>
          <a:bodyPr anchorCtr="0" anchor="t" bIns="0" lIns="225000" spcFirstLastPara="1" rIns="0" wrap="square" tIns="0">
            <a:spAutoFit/>
          </a:bodyPr>
          <a:lstStyle/>
          <a:p>
            <a:pPr indent="-101600" lvl="0" marL="0" rtl="0" algn="l">
              <a:spcBef>
                <a:spcPts val="0"/>
              </a:spcBef>
              <a:spcAft>
                <a:spcPts val="0"/>
              </a:spcAft>
              <a:buClr>
                <a:schemeClr val="dk1"/>
              </a:buClr>
              <a:buSzPts val="1000"/>
              <a:buChar char="★"/>
            </a:pPr>
            <a:r>
              <a:rPr lang="es" sz="1000">
                <a:solidFill>
                  <a:schemeClr val="dk1"/>
                </a:solidFill>
              </a:rPr>
              <a:t>Las covariables se transforman como diferencias interanuales o crecimientos interanuales para lograr que sean estacionarias. </a:t>
            </a:r>
            <a:endParaRPr sz="1000">
              <a:solidFill>
                <a:schemeClr val="dk1"/>
              </a:solidFill>
            </a:endParaRPr>
          </a:p>
          <a:p>
            <a:pPr indent="-101600" lvl="0" marL="0" rtl="0" algn="l">
              <a:spcBef>
                <a:spcPts val="0"/>
              </a:spcBef>
              <a:spcAft>
                <a:spcPts val="0"/>
              </a:spcAft>
              <a:buClr>
                <a:schemeClr val="dk1"/>
              </a:buClr>
              <a:buSzPts val="1000"/>
              <a:buChar char="★"/>
            </a:pPr>
            <a:r>
              <a:rPr lang="es" sz="1000">
                <a:solidFill>
                  <a:schemeClr val="dk1"/>
                </a:solidFill>
              </a:rPr>
              <a:t>La selección de variables se realiza con las métricas de asociación sobre las series de NPL en:</a:t>
            </a:r>
            <a:endParaRPr sz="1000">
              <a:solidFill>
                <a:schemeClr val="dk1"/>
              </a:solidFill>
            </a:endParaRPr>
          </a:p>
          <a:p>
            <a:pPr indent="-153500" lvl="1" marL="180000" rtl="0" algn="l">
              <a:spcBef>
                <a:spcPts val="0"/>
              </a:spcBef>
              <a:spcAft>
                <a:spcPts val="0"/>
              </a:spcAft>
              <a:buClr>
                <a:schemeClr val="dk1"/>
              </a:buClr>
              <a:buSzPts val="1000"/>
              <a:buChar char="○"/>
            </a:pPr>
            <a:r>
              <a:rPr lang="es" sz="1000">
                <a:solidFill>
                  <a:schemeClr val="dk1"/>
                </a:solidFill>
              </a:rPr>
              <a:t>Niveles (</a:t>
            </a:r>
            <a:r>
              <a:rPr lang="es" sz="1000">
                <a:solidFill>
                  <a:schemeClr val="dk1"/>
                </a:solidFill>
              </a:rPr>
              <a:t>puede</a:t>
            </a:r>
            <a:r>
              <a:rPr lang="es" sz="1000">
                <a:solidFill>
                  <a:schemeClr val="dk1"/>
                </a:solidFill>
              </a:rPr>
              <a:t> ser no estacionaria).</a:t>
            </a:r>
            <a:endParaRPr sz="1000">
              <a:solidFill>
                <a:schemeClr val="dk1"/>
              </a:solidFill>
            </a:endParaRPr>
          </a:p>
          <a:p>
            <a:pPr indent="-153500" lvl="1" marL="180000" rtl="0" algn="l">
              <a:spcBef>
                <a:spcPts val="0"/>
              </a:spcBef>
              <a:spcAft>
                <a:spcPts val="0"/>
              </a:spcAft>
              <a:buClr>
                <a:schemeClr val="dk1"/>
              </a:buClr>
              <a:buSzPts val="1000"/>
              <a:buChar char="○"/>
            </a:pPr>
            <a:r>
              <a:rPr lang="es" sz="1000">
                <a:solidFill>
                  <a:schemeClr val="dk1"/>
                </a:solidFill>
              </a:rPr>
              <a:t>Diferencias interanuales del nivel.</a:t>
            </a:r>
            <a:endParaRPr sz="1000">
              <a:solidFill>
                <a:schemeClr val="dk1"/>
              </a:solidFill>
            </a:endParaRPr>
          </a:p>
          <a:p>
            <a:pPr indent="-153500" lvl="1" marL="180000" rtl="0" algn="l">
              <a:spcBef>
                <a:spcPts val="0"/>
              </a:spcBef>
              <a:spcAft>
                <a:spcPts val="0"/>
              </a:spcAft>
              <a:buClr>
                <a:schemeClr val="dk1"/>
              </a:buClr>
              <a:buSzPts val="1000"/>
              <a:buChar char="○"/>
            </a:pPr>
            <a:r>
              <a:rPr lang="es" sz="1000">
                <a:solidFill>
                  <a:schemeClr val="dk1"/>
                </a:solidFill>
              </a:rPr>
              <a:t>Diferencias interanuales de la transformación ogit** de la serie.</a:t>
            </a:r>
            <a:endParaRPr sz="1000">
              <a:solidFill>
                <a:schemeClr val="dk1"/>
              </a:solidFill>
            </a:endParaRPr>
          </a:p>
          <a:p>
            <a:pPr indent="0" lvl="0" marL="914400" rtl="0" algn="l">
              <a:spcBef>
                <a:spcPts val="0"/>
              </a:spcBef>
              <a:spcAft>
                <a:spcPts val="0"/>
              </a:spcAft>
              <a:buNone/>
            </a:pPr>
            <a:r>
              <a:t/>
            </a:r>
            <a:endParaRPr sz="1000">
              <a:solidFill>
                <a:schemeClr val="dk1"/>
              </a:solidFill>
            </a:endParaRPr>
          </a:p>
        </p:txBody>
      </p:sp>
      <p:sp>
        <p:nvSpPr>
          <p:cNvPr id="437" name="Google Shape;437;p48"/>
          <p:cNvSpPr txBox="1"/>
          <p:nvPr/>
        </p:nvSpPr>
        <p:spPr>
          <a:xfrm>
            <a:off x="222349" y="4739657"/>
            <a:ext cx="4266000" cy="2586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Evaluada solo sobre el periodo disponible en </a:t>
            </a:r>
            <a:r>
              <a:rPr lang="es" sz="700">
                <a:solidFill>
                  <a:srgbClr val="46536D"/>
                </a:solidFill>
              </a:rPr>
              <a:t>común entre la covariable y el NPL.</a:t>
            </a:r>
            <a:endParaRPr sz="700">
              <a:solidFill>
                <a:srgbClr val="46536D"/>
              </a:solidFill>
            </a:endParaRPr>
          </a:p>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a:t>
            </a:r>
            <a:r>
              <a:rPr b="1" lang="es" sz="700">
                <a:solidFill>
                  <a:srgbClr val="46536D"/>
                </a:solidFill>
              </a:rPr>
              <a:t>Transformación logit:</a:t>
            </a:r>
            <a:r>
              <a:rPr lang="es" sz="700">
                <a:solidFill>
                  <a:srgbClr val="46536D"/>
                </a:solidFill>
              </a:rPr>
              <a:t> convierte el NPL (ratio acotado en [0,1]) en una variable no acotada. Esto estabiliza la varianza y permite modelar linealmente sin restricciones de rango.</a:t>
            </a:r>
            <a:endParaRPr sz="700">
              <a:solidFill>
                <a:srgbClr val="46536D"/>
              </a:solidFill>
            </a:endParaRPr>
          </a:p>
        </p:txBody>
      </p:sp>
      <p:sp>
        <p:nvSpPr>
          <p:cNvPr id="438" name="Google Shape;438;p48"/>
          <p:cNvSpPr/>
          <p:nvPr/>
        </p:nvSpPr>
        <p:spPr>
          <a:xfrm>
            <a:off x="4656550" y="2720195"/>
            <a:ext cx="4266000" cy="385200"/>
          </a:xfrm>
          <a:prstGeom prst="round2SameRect">
            <a:avLst>
              <a:gd fmla="val 15026" name="adj1"/>
              <a:gd fmla="val 0" name="adj2"/>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9" name="Google Shape;439;p48"/>
          <p:cNvCxnSpPr/>
          <p:nvPr/>
        </p:nvCxnSpPr>
        <p:spPr>
          <a:xfrm>
            <a:off x="4925125" y="3866369"/>
            <a:ext cx="3635700" cy="11700"/>
          </a:xfrm>
          <a:prstGeom prst="straightConnector1">
            <a:avLst/>
          </a:prstGeom>
          <a:noFill/>
          <a:ln cap="flat" cmpd="sng" w="28575">
            <a:solidFill>
              <a:schemeClr val="accent3"/>
            </a:solidFill>
            <a:prstDash val="solid"/>
            <a:round/>
            <a:headEnd len="med" w="med" type="none"/>
            <a:tailEnd len="med" w="med" type="none"/>
          </a:ln>
        </p:spPr>
      </p:cxnSp>
      <p:cxnSp>
        <p:nvCxnSpPr>
          <p:cNvPr id="440" name="Google Shape;440;p48"/>
          <p:cNvCxnSpPr/>
          <p:nvPr/>
        </p:nvCxnSpPr>
        <p:spPr>
          <a:xfrm>
            <a:off x="5286850" y="3866369"/>
            <a:ext cx="3276000" cy="13200"/>
          </a:xfrm>
          <a:prstGeom prst="straightConnector1">
            <a:avLst/>
          </a:prstGeom>
          <a:noFill/>
          <a:ln cap="flat" cmpd="sng" w="28575">
            <a:solidFill>
              <a:srgbClr val="FF5252"/>
            </a:solidFill>
            <a:prstDash val="solid"/>
            <a:round/>
            <a:headEnd len="med" w="med" type="none"/>
            <a:tailEnd len="med" w="med" type="none"/>
          </a:ln>
        </p:spPr>
      </p:cxnSp>
      <p:sp>
        <p:nvSpPr>
          <p:cNvPr id="441" name="Google Shape;441;p48"/>
          <p:cNvSpPr txBox="1"/>
          <p:nvPr/>
        </p:nvSpPr>
        <p:spPr>
          <a:xfrm>
            <a:off x="4764700" y="3780644"/>
            <a:ext cx="1242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 sz="1200">
                <a:solidFill>
                  <a:schemeClr val="dk1"/>
                </a:solidFill>
              </a:rPr>
              <a:t>t</a:t>
            </a:r>
            <a:endParaRPr sz="1200">
              <a:solidFill>
                <a:schemeClr val="dk1"/>
              </a:solidFill>
            </a:endParaRPr>
          </a:p>
        </p:txBody>
      </p:sp>
      <p:sp>
        <p:nvSpPr>
          <p:cNvPr id="442" name="Google Shape;442;p48"/>
          <p:cNvSpPr txBox="1"/>
          <p:nvPr/>
        </p:nvSpPr>
        <p:spPr>
          <a:xfrm>
            <a:off x="8583775" y="3764519"/>
            <a:ext cx="3255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 sz="1200">
                <a:solidFill>
                  <a:schemeClr val="dk1"/>
                </a:solidFill>
              </a:rPr>
              <a:t>t-24</a:t>
            </a:r>
            <a:endParaRPr sz="1200">
              <a:solidFill>
                <a:schemeClr val="dk1"/>
              </a:solidFill>
            </a:endParaRPr>
          </a:p>
        </p:txBody>
      </p:sp>
      <p:sp>
        <p:nvSpPr>
          <p:cNvPr id="443" name="Google Shape;443;p48"/>
          <p:cNvSpPr txBox="1"/>
          <p:nvPr/>
        </p:nvSpPr>
        <p:spPr>
          <a:xfrm>
            <a:off x="5223687" y="3879569"/>
            <a:ext cx="325500" cy="12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 sz="800">
                <a:solidFill>
                  <a:schemeClr val="dk1"/>
                </a:solidFill>
              </a:rPr>
              <a:t>t-6</a:t>
            </a:r>
            <a:endParaRPr sz="800">
              <a:solidFill>
                <a:schemeClr val="dk1"/>
              </a:solidFill>
            </a:endParaRPr>
          </a:p>
        </p:txBody>
      </p:sp>
      <p:sp>
        <p:nvSpPr>
          <p:cNvPr id="444" name="Google Shape;444;p48"/>
          <p:cNvSpPr txBox="1"/>
          <p:nvPr/>
        </p:nvSpPr>
        <p:spPr>
          <a:xfrm>
            <a:off x="4764700" y="3598898"/>
            <a:ext cx="17778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 sz="1000">
                <a:solidFill>
                  <a:schemeClr val="lt1"/>
                </a:solidFill>
                <a:highlight>
                  <a:schemeClr val="accent3"/>
                </a:highlight>
              </a:rPr>
              <a:t>Ventana de correlación</a:t>
            </a:r>
            <a:endParaRPr sz="1000">
              <a:solidFill>
                <a:schemeClr val="lt1"/>
              </a:solidFill>
              <a:highlight>
                <a:schemeClr val="accent3"/>
              </a:highlight>
            </a:endParaRPr>
          </a:p>
        </p:txBody>
      </p:sp>
      <p:grpSp>
        <p:nvGrpSpPr>
          <p:cNvPr id="445" name="Google Shape;445;p48"/>
          <p:cNvGrpSpPr/>
          <p:nvPr/>
        </p:nvGrpSpPr>
        <p:grpSpPr>
          <a:xfrm>
            <a:off x="223100" y="1000972"/>
            <a:ext cx="4264500" cy="1467465"/>
            <a:chOff x="223100" y="1254972"/>
            <a:chExt cx="4264500" cy="1467465"/>
          </a:xfrm>
        </p:grpSpPr>
        <p:grpSp>
          <p:nvGrpSpPr>
            <p:cNvPr id="446" name="Google Shape;446;p48"/>
            <p:cNvGrpSpPr/>
            <p:nvPr/>
          </p:nvGrpSpPr>
          <p:grpSpPr>
            <a:xfrm>
              <a:off x="223100" y="1264203"/>
              <a:ext cx="4264500" cy="1458235"/>
              <a:chOff x="426450" y="3404791"/>
              <a:chExt cx="4264500" cy="1458235"/>
            </a:xfrm>
          </p:grpSpPr>
          <p:sp>
            <p:nvSpPr>
              <p:cNvPr id="447" name="Google Shape;447;p48"/>
              <p:cNvSpPr/>
              <p:nvPr/>
            </p:nvSpPr>
            <p:spPr>
              <a:xfrm>
                <a:off x="426450" y="3404791"/>
                <a:ext cx="4264500" cy="384300"/>
              </a:xfrm>
              <a:prstGeom prst="round2SameRect">
                <a:avLst>
                  <a:gd fmla="val 15026" name="adj1"/>
                  <a:gd fmla="val 0" name="adj2"/>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8"/>
              <p:cNvSpPr txBox="1"/>
              <p:nvPr/>
            </p:nvSpPr>
            <p:spPr>
              <a:xfrm>
                <a:off x="426450" y="3785425"/>
                <a:ext cx="4264500" cy="1077600"/>
              </a:xfrm>
              <a:prstGeom prst="rect">
                <a:avLst/>
              </a:prstGeom>
              <a:noFill/>
              <a:ln cap="flat" cmpd="sng" w="19050">
                <a:solidFill>
                  <a:schemeClr val="accent6"/>
                </a:solidFill>
                <a:prstDash val="solid"/>
                <a:round/>
                <a:headEnd len="sm" w="sm" type="none"/>
                <a:tailEnd len="sm" w="sm" type="none"/>
              </a:ln>
            </p:spPr>
            <p:txBody>
              <a:bodyPr anchorCtr="0" anchor="t" bIns="0" lIns="225000" spcFirstLastPara="1" rIns="0" wrap="square" tIns="0">
                <a:spAutoFit/>
              </a:bodyPr>
              <a:lstStyle/>
              <a:p>
                <a:pPr indent="-101600" lvl="0" marL="0" rtl="0" algn="l">
                  <a:spcBef>
                    <a:spcPts val="0"/>
                  </a:spcBef>
                  <a:spcAft>
                    <a:spcPts val="0"/>
                  </a:spcAft>
                  <a:buClr>
                    <a:schemeClr val="dk1"/>
                  </a:buClr>
                  <a:buSzPts val="1000"/>
                  <a:buChar char="★"/>
                </a:pPr>
                <a:r>
                  <a:rPr lang="es" sz="1000">
                    <a:solidFill>
                      <a:schemeClr val="dk1"/>
                    </a:solidFill>
                  </a:rPr>
                  <a:t>El período de datos disponibles es desde 2002M01 hasta 2025M11.</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s" sz="1000">
                    <a:solidFill>
                      <a:schemeClr val="lt1"/>
                    </a:solidFill>
                    <a:highlight>
                      <a:schemeClr val="accent6"/>
                    </a:highlight>
                  </a:rPr>
                  <a:t>Justificación</a:t>
                </a:r>
                <a:r>
                  <a:rPr b="1" lang="es" sz="1000">
                    <a:solidFill>
                      <a:schemeClr val="lt1"/>
                    </a:solidFill>
                    <a:highlight>
                      <a:schemeClr val="accent6"/>
                    </a:highlight>
                  </a:rPr>
                  <a:t>:</a:t>
                </a:r>
                <a:r>
                  <a:rPr b="1" lang="es" sz="1000">
                    <a:solidFill>
                      <a:schemeClr val="lt1"/>
                    </a:solidFill>
                  </a:rPr>
                  <a:t> </a:t>
                </a:r>
                <a:r>
                  <a:rPr lang="es" sz="1000">
                    <a:solidFill>
                      <a:schemeClr val="dk1"/>
                    </a:solidFill>
                  </a:rPr>
                  <a:t>El período anterior a 2002 corresponde a la crisis financiera colombiana (~1998–2001). La dinámica del NPL en ese período responde a un régimen estructuralmente distinto al actual y </a:t>
                </a:r>
                <a:r>
                  <a:rPr lang="es" sz="1000">
                    <a:solidFill>
                      <a:schemeClr val="dk1"/>
                    </a:solidFill>
                  </a:rPr>
                  <a:t>distorsionaba</a:t>
                </a:r>
                <a:r>
                  <a:rPr lang="es" sz="1000">
                    <a:solidFill>
                      <a:schemeClr val="dk1"/>
                    </a:solidFill>
                  </a:rPr>
                  <a:t> las correlaciones.</a:t>
                </a:r>
                <a:endParaRPr sz="1000">
                  <a:solidFill>
                    <a:schemeClr val="dk1"/>
                  </a:solidFill>
                </a:endParaRPr>
              </a:p>
              <a:p>
                <a:pPr indent="0" lvl="0" marL="0" rtl="0" algn="l">
                  <a:spcBef>
                    <a:spcPts val="0"/>
                  </a:spcBef>
                  <a:spcAft>
                    <a:spcPts val="0"/>
                  </a:spcAft>
                  <a:buNone/>
                </a:pPr>
                <a:r>
                  <a:t/>
                </a:r>
                <a:endParaRPr sz="1000">
                  <a:solidFill>
                    <a:schemeClr val="lt2"/>
                  </a:solidFill>
                  <a:highlight>
                    <a:schemeClr val="accent6"/>
                  </a:highlight>
                </a:endParaRPr>
              </a:p>
            </p:txBody>
          </p:sp>
        </p:grpSp>
        <p:sp>
          <p:nvSpPr>
            <p:cNvPr id="449" name="Google Shape;449;p48"/>
            <p:cNvSpPr/>
            <p:nvPr/>
          </p:nvSpPr>
          <p:spPr>
            <a:xfrm>
              <a:off x="382175" y="1304905"/>
              <a:ext cx="324000" cy="3240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accent6"/>
                  </a:solidFill>
                </a:rPr>
                <a:t>A</a:t>
              </a:r>
              <a:endParaRPr b="1">
                <a:solidFill>
                  <a:schemeClr val="accent6"/>
                </a:solidFill>
              </a:endParaRPr>
            </a:p>
          </p:txBody>
        </p:sp>
        <p:sp>
          <p:nvSpPr>
            <p:cNvPr id="450" name="Google Shape;450;p48"/>
            <p:cNvSpPr txBox="1"/>
            <p:nvPr/>
          </p:nvSpPr>
          <p:spPr>
            <a:xfrm>
              <a:off x="786850" y="1254972"/>
              <a:ext cx="340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lt1"/>
                  </a:solidFill>
                </a:rPr>
                <a:t>Selección de la muestra</a:t>
              </a:r>
              <a:endParaRPr b="1">
                <a:solidFill>
                  <a:schemeClr val="lt1"/>
                </a:solidFill>
              </a:endParaRPr>
            </a:p>
          </p:txBody>
        </p:sp>
      </p:grpSp>
      <p:sp>
        <p:nvSpPr>
          <p:cNvPr id="451" name="Google Shape;451;p48"/>
          <p:cNvSpPr txBox="1"/>
          <p:nvPr/>
        </p:nvSpPr>
        <p:spPr>
          <a:xfrm>
            <a:off x="788400" y="2586496"/>
            <a:ext cx="340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lt1"/>
                </a:solidFill>
              </a:rPr>
              <a:t>¿Cómo tratar el COVID-19?</a:t>
            </a:r>
            <a:endParaRPr b="1">
              <a:solidFill>
                <a:schemeClr val="lt1"/>
              </a:solidFill>
            </a:endParaRPr>
          </a:p>
        </p:txBody>
      </p:sp>
      <p:sp>
        <p:nvSpPr>
          <p:cNvPr id="452" name="Google Shape;452;p48"/>
          <p:cNvSpPr/>
          <p:nvPr/>
        </p:nvSpPr>
        <p:spPr>
          <a:xfrm>
            <a:off x="381600" y="2635124"/>
            <a:ext cx="324000" cy="3240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accent1"/>
                </a:solidFill>
              </a:rPr>
              <a:t>B</a:t>
            </a:r>
            <a:endParaRPr b="1">
              <a:solidFill>
                <a:schemeClr val="accent1"/>
              </a:solidFill>
            </a:endParaRPr>
          </a:p>
        </p:txBody>
      </p:sp>
      <p:sp>
        <p:nvSpPr>
          <p:cNvPr id="453" name="Google Shape;453;p48"/>
          <p:cNvSpPr txBox="1"/>
          <p:nvPr/>
        </p:nvSpPr>
        <p:spPr>
          <a:xfrm>
            <a:off x="5148000" y="1002400"/>
            <a:ext cx="396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lt1"/>
                </a:solidFill>
              </a:rPr>
              <a:t>Transformaciones de las variables</a:t>
            </a:r>
            <a:endParaRPr b="1">
              <a:solidFill>
                <a:schemeClr val="lt1"/>
              </a:solidFill>
            </a:endParaRPr>
          </a:p>
        </p:txBody>
      </p:sp>
      <p:sp>
        <p:nvSpPr>
          <p:cNvPr id="454" name="Google Shape;454;p48"/>
          <p:cNvSpPr/>
          <p:nvPr/>
        </p:nvSpPr>
        <p:spPr>
          <a:xfrm>
            <a:off x="4817400" y="1049200"/>
            <a:ext cx="324000" cy="3240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accent5"/>
                </a:solidFill>
              </a:rPr>
              <a:t>C</a:t>
            </a:r>
            <a:endParaRPr b="1">
              <a:solidFill>
                <a:schemeClr val="accent5"/>
              </a:solidFill>
            </a:endParaRPr>
          </a:p>
        </p:txBody>
      </p:sp>
      <p:sp>
        <p:nvSpPr>
          <p:cNvPr id="455" name="Google Shape;455;p48"/>
          <p:cNvSpPr txBox="1"/>
          <p:nvPr/>
        </p:nvSpPr>
        <p:spPr>
          <a:xfrm>
            <a:off x="5148000" y="2709395"/>
            <a:ext cx="340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lt1"/>
                </a:solidFill>
              </a:rPr>
              <a:t>Selección</a:t>
            </a:r>
            <a:r>
              <a:rPr b="1" lang="es">
                <a:solidFill>
                  <a:schemeClr val="lt1"/>
                </a:solidFill>
              </a:rPr>
              <a:t> de las variables</a:t>
            </a:r>
            <a:endParaRPr b="1">
              <a:solidFill>
                <a:schemeClr val="lt1"/>
              </a:solidFill>
            </a:endParaRPr>
          </a:p>
        </p:txBody>
      </p:sp>
      <p:sp>
        <p:nvSpPr>
          <p:cNvPr id="456" name="Google Shape;456;p48"/>
          <p:cNvSpPr/>
          <p:nvPr/>
        </p:nvSpPr>
        <p:spPr>
          <a:xfrm>
            <a:off x="4816800" y="2759795"/>
            <a:ext cx="324000" cy="3240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a:solidFill>
                  <a:schemeClr val="accent3"/>
                </a:solidFill>
              </a:rPr>
              <a:t>D</a:t>
            </a:r>
            <a:endParaRPr b="1">
              <a:solidFill>
                <a:schemeClr val="accent3"/>
              </a:solidFill>
            </a:endParaRPr>
          </a:p>
        </p:txBody>
      </p:sp>
      <p:sp>
        <p:nvSpPr>
          <p:cNvPr id="457" name="Google Shape;457;p48"/>
          <p:cNvSpPr txBox="1"/>
          <p:nvPr>
            <p:ph type="title"/>
          </p:nvPr>
        </p:nvSpPr>
        <p:spPr>
          <a:xfrm>
            <a:off x="338549" y="448362"/>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Metodología: Estrategia de Modelado y Validación (II)</a:t>
            </a:r>
            <a:endParaRPr baseline="30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9"/>
          <p:cNvSpPr txBox="1"/>
          <p:nvPr>
            <p:ph type="title"/>
          </p:nvPr>
        </p:nvSpPr>
        <p:spPr>
          <a:xfrm>
            <a:off x="341150" y="833162"/>
            <a:ext cx="8467800" cy="3843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Metodología: estrategia de modelado y validación (III)</a:t>
            </a:r>
            <a:endParaRPr i="1"/>
          </a:p>
        </p:txBody>
      </p:sp>
      <p:sp>
        <p:nvSpPr>
          <p:cNvPr id="463" name="Google Shape;463;p49"/>
          <p:cNvSpPr/>
          <p:nvPr/>
        </p:nvSpPr>
        <p:spPr>
          <a:xfrm flipH="1" rot="5400000">
            <a:off x="3166900" y="-790600"/>
            <a:ext cx="3668700" cy="76848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9"/>
          <p:cNvSpPr/>
          <p:nvPr/>
        </p:nvSpPr>
        <p:spPr>
          <a:xfrm rot="-5400000">
            <a:off x="-1078650" y="2649500"/>
            <a:ext cx="3668700" cy="8046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465" name="Google Shape;465;p49"/>
          <p:cNvGraphicFramePr/>
          <p:nvPr/>
        </p:nvGraphicFramePr>
        <p:xfrm>
          <a:off x="444850" y="1332471"/>
          <a:ext cx="3000000" cy="3000000"/>
        </p:xfrm>
        <a:graphic>
          <a:graphicData uri="http://schemas.openxmlformats.org/drawingml/2006/table">
            <a:tbl>
              <a:tblPr>
                <a:noFill/>
                <a:tableStyleId>{A069F133-5441-4E84-8760-2D4338416851}</a:tableStyleId>
              </a:tblPr>
              <a:tblGrid>
                <a:gridCol w="712675"/>
                <a:gridCol w="4170650"/>
                <a:gridCol w="591050"/>
                <a:gridCol w="880875"/>
                <a:gridCol w="2043550"/>
              </a:tblGrid>
              <a:tr h="274575">
                <a:tc>
                  <a:txBody>
                    <a:bodyPr/>
                    <a:lstStyle/>
                    <a:p>
                      <a:pPr indent="0" lvl="0" marL="0" marR="0" rtl="0" algn="l">
                        <a:lnSpc>
                          <a:spcPct val="100000"/>
                        </a:lnSpc>
                        <a:spcBef>
                          <a:spcPts val="0"/>
                        </a:spcBef>
                        <a:spcAft>
                          <a:spcPts val="0"/>
                        </a:spcAft>
                        <a:buClr>
                          <a:srgbClr val="000000"/>
                        </a:buClr>
                        <a:buSzPts val="700"/>
                        <a:buFont typeface="Arial"/>
                        <a:buNone/>
                      </a:pPr>
                      <a:r>
                        <a:rPr b="1" lang="es" sz="800">
                          <a:solidFill>
                            <a:schemeClr val="lt1"/>
                          </a:solidFill>
                        </a:rPr>
                        <a:t>Modelo</a:t>
                      </a:r>
                      <a:endParaRPr b="1" sz="8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Descripción</a:t>
                      </a:r>
                      <a:endParaRPr b="1"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s" sz="800">
                          <a:solidFill>
                            <a:schemeClr val="dk1"/>
                          </a:solidFill>
                        </a:rPr>
                        <a:t>Tipo</a:t>
                      </a:r>
                      <a:endParaRPr b="1"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Configuración</a:t>
                      </a:r>
                      <a:endParaRPr b="1"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Fórmula/Fuente</a:t>
                      </a:r>
                      <a:endParaRPr b="1"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573625">
                <a:tc>
                  <a:txBody>
                    <a:bodyPr/>
                    <a:lstStyle/>
                    <a:p>
                      <a:pPr indent="0" lvl="0" marL="0" marR="0" rtl="0" algn="l">
                        <a:lnSpc>
                          <a:spcPct val="100000"/>
                        </a:lnSpc>
                        <a:spcBef>
                          <a:spcPts val="0"/>
                        </a:spcBef>
                        <a:spcAft>
                          <a:spcPts val="0"/>
                        </a:spcAft>
                        <a:buClr>
                          <a:srgbClr val="000000"/>
                        </a:buClr>
                        <a:buSzPts val="700"/>
                        <a:buFont typeface="Arial"/>
                        <a:buNone/>
                      </a:pPr>
                      <a:r>
                        <a:rPr b="1" lang="es" sz="900">
                          <a:solidFill>
                            <a:schemeClr val="lt1"/>
                          </a:solidFill>
                        </a:rPr>
                        <a:t>Regresión lineal</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Modelo estadístico que explica una variable dependiente como combinación lineal de múltiples variables independientes.</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Clásico</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09450">
                <a:tc>
                  <a:txBody>
                    <a:bodyPr/>
                    <a:lstStyle/>
                    <a:p>
                      <a:pPr indent="0" lvl="0" marL="0" marR="0" rtl="0" algn="l">
                        <a:lnSpc>
                          <a:spcPct val="100000"/>
                        </a:lnSpc>
                        <a:spcBef>
                          <a:spcPts val="0"/>
                        </a:spcBef>
                        <a:spcAft>
                          <a:spcPts val="0"/>
                        </a:spcAft>
                        <a:buNone/>
                      </a:pPr>
                      <a:r>
                        <a:rPr b="1" lang="es" sz="900">
                          <a:solidFill>
                            <a:schemeClr val="lt1"/>
                          </a:solidFill>
                        </a:rPr>
                        <a:t>Ensemble linear</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Combina varias regresiones lineales entrenadas con diferentes ventanas temporales y conjuntos de variables disponibles. La predicción final es un promedio ponderado por el inverso del RMSE.</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Machine Learning</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Potencia de los pesos (p) = 2</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752325">
                <a:tc>
                  <a:txBody>
                    <a:bodyPr/>
                    <a:lstStyle/>
                    <a:p>
                      <a:pPr indent="0" lvl="0" marL="0" marR="0" rtl="0" algn="l">
                        <a:lnSpc>
                          <a:spcPct val="100000"/>
                        </a:lnSpc>
                        <a:spcBef>
                          <a:spcPts val="0"/>
                        </a:spcBef>
                        <a:spcAft>
                          <a:spcPts val="0"/>
                        </a:spcAft>
                        <a:buNone/>
                      </a:pPr>
                      <a:r>
                        <a:rPr b="1" lang="es" sz="900">
                          <a:solidFill>
                            <a:schemeClr val="lt1"/>
                          </a:solidFill>
                        </a:rPr>
                        <a:t>Regresión Ridge</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Extensión regularizada de la regresión lineal que penaliza el tamaño de los coeficientes para reducir overfitting y multicolinealidad. Introduce penalización L2 en la función de coste.</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Clásico</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Alpha </a:t>
                      </a:r>
                      <a:r>
                        <a:rPr lang="es" sz="900">
                          <a:latin typeface="Times New Roman"/>
                          <a:ea typeface="Times New Roman"/>
                          <a:cs typeface="Times New Roman"/>
                          <a:sym typeface="Times New Roman"/>
                        </a:rPr>
                        <a:t>(α) = 2</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614350">
                <a:tc>
                  <a:txBody>
                    <a:bodyPr/>
                    <a:lstStyle/>
                    <a:p>
                      <a:pPr indent="0" lvl="0" marL="0" marR="0" rtl="0" algn="l">
                        <a:lnSpc>
                          <a:spcPct val="100000"/>
                        </a:lnSpc>
                        <a:spcBef>
                          <a:spcPts val="0"/>
                        </a:spcBef>
                        <a:spcAft>
                          <a:spcPts val="0"/>
                        </a:spcAft>
                        <a:buNone/>
                      </a:pPr>
                      <a:r>
                        <a:rPr b="1" lang="es" sz="900">
                          <a:solidFill>
                            <a:schemeClr val="lt1"/>
                          </a:solidFill>
                        </a:rPr>
                        <a:t>Ensemble Ridge</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Combina varias regresiones Ridge entrenadas con diferentes ventanas temporales y conjuntos de variables disponibles. La predicción final es un promedio ponderado por el inverso del RMSE.</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Machine Learning</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Potencia de los pesos (p) = 2;</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Alpha (α) = 2</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614350">
                <a:tc>
                  <a:txBody>
                    <a:bodyPr/>
                    <a:lstStyle/>
                    <a:p>
                      <a:pPr indent="0" lvl="0" marL="0" marR="0" rtl="0" algn="l">
                        <a:lnSpc>
                          <a:spcPct val="100000"/>
                        </a:lnSpc>
                        <a:spcBef>
                          <a:spcPts val="0"/>
                        </a:spcBef>
                        <a:spcAft>
                          <a:spcPts val="0"/>
                        </a:spcAft>
                        <a:buNone/>
                      </a:pPr>
                      <a:r>
                        <a:rPr b="1" lang="es" sz="900">
                          <a:solidFill>
                            <a:schemeClr val="lt1"/>
                          </a:solidFill>
                        </a:rPr>
                        <a:t>Regresión cuantílica</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Método de regresión que estima cuantiles condicionales en lugar de la media. Permite modelar la distribución completa de la variable objetivo.</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900"/>
                        <a:t>Clásico</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Cuantil: 0.5 </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alpha val="0"/>
                        </a:srgbClr>
                      </a:solidFill>
                      <a:prstDash val="solid"/>
                      <a:round/>
                      <a:headEnd len="sm" w="sm" type="none"/>
                      <a:tailEnd len="sm" w="sm" type="none"/>
                    </a:lnB>
                  </a:tcPr>
                </a:tc>
              </a:tr>
            </a:tbl>
          </a:graphicData>
        </a:graphic>
      </p:graphicFrame>
      <p:pic>
        <p:nvPicPr>
          <p:cNvPr id="466" name="Google Shape;466;p49"/>
          <p:cNvPicPr preferRelativeResize="0"/>
          <p:nvPr/>
        </p:nvPicPr>
        <p:blipFill>
          <a:blip r:embed="rId3">
            <a:alphaModFix/>
          </a:blip>
          <a:stretch>
            <a:fillRect/>
          </a:stretch>
        </p:blipFill>
        <p:spPr>
          <a:xfrm>
            <a:off x="6793450" y="2243925"/>
            <a:ext cx="2050200" cy="450327"/>
          </a:xfrm>
          <a:prstGeom prst="rect">
            <a:avLst/>
          </a:prstGeom>
          <a:noFill/>
          <a:ln>
            <a:noFill/>
          </a:ln>
        </p:spPr>
      </p:pic>
      <p:pic>
        <p:nvPicPr>
          <p:cNvPr id="467" name="Google Shape;467;p49"/>
          <p:cNvPicPr preferRelativeResize="0"/>
          <p:nvPr/>
        </p:nvPicPr>
        <p:blipFill>
          <a:blip r:embed="rId4">
            <a:alphaModFix/>
          </a:blip>
          <a:stretch>
            <a:fillRect/>
          </a:stretch>
        </p:blipFill>
        <p:spPr>
          <a:xfrm>
            <a:off x="6793450" y="3603685"/>
            <a:ext cx="2050200" cy="414289"/>
          </a:xfrm>
          <a:prstGeom prst="rect">
            <a:avLst/>
          </a:prstGeom>
          <a:noFill/>
          <a:ln>
            <a:noFill/>
          </a:ln>
        </p:spPr>
      </p:pic>
      <p:pic>
        <p:nvPicPr>
          <p:cNvPr id="468" name="Google Shape;468;p49"/>
          <p:cNvPicPr preferRelativeResize="0"/>
          <p:nvPr/>
        </p:nvPicPr>
        <p:blipFill>
          <a:blip r:embed="rId5">
            <a:alphaModFix/>
          </a:blip>
          <a:stretch>
            <a:fillRect/>
          </a:stretch>
        </p:blipFill>
        <p:spPr>
          <a:xfrm>
            <a:off x="6793450" y="4348116"/>
            <a:ext cx="2050200" cy="357759"/>
          </a:xfrm>
          <a:prstGeom prst="rect">
            <a:avLst/>
          </a:prstGeom>
          <a:noFill/>
          <a:ln>
            <a:noFill/>
          </a:ln>
        </p:spPr>
      </p:pic>
      <p:pic>
        <p:nvPicPr>
          <p:cNvPr id="469" name="Google Shape;469;p49"/>
          <p:cNvPicPr preferRelativeResize="0"/>
          <p:nvPr/>
        </p:nvPicPr>
        <p:blipFill>
          <a:blip r:embed="rId6">
            <a:alphaModFix/>
          </a:blip>
          <a:stretch>
            <a:fillRect/>
          </a:stretch>
        </p:blipFill>
        <p:spPr>
          <a:xfrm>
            <a:off x="6800100" y="2882387"/>
            <a:ext cx="2008849" cy="512375"/>
          </a:xfrm>
          <a:prstGeom prst="rect">
            <a:avLst/>
          </a:prstGeom>
          <a:noFill/>
          <a:ln>
            <a:noFill/>
          </a:ln>
        </p:spPr>
      </p:pic>
      <p:pic>
        <p:nvPicPr>
          <p:cNvPr id="470" name="Google Shape;470;p49"/>
          <p:cNvPicPr preferRelativeResize="0"/>
          <p:nvPr/>
        </p:nvPicPr>
        <p:blipFill>
          <a:blip r:embed="rId7">
            <a:alphaModFix/>
          </a:blip>
          <a:stretch>
            <a:fillRect/>
          </a:stretch>
        </p:blipFill>
        <p:spPr>
          <a:xfrm>
            <a:off x="6820253" y="1701817"/>
            <a:ext cx="1454132" cy="414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0"/>
          <p:cNvSpPr txBox="1"/>
          <p:nvPr>
            <p:ph type="title"/>
          </p:nvPr>
        </p:nvSpPr>
        <p:spPr>
          <a:xfrm>
            <a:off x="341150" y="833162"/>
            <a:ext cx="8467800" cy="3843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Metodología: estrategia de modelado y validación (III)</a:t>
            </a:r>
            <a:endParaRPr i="1"/>
          </a:p>
        </p:txBody>
      </p:sp>
      <p:sp>
        <p:nvSpPr>
          <p:cNvPr id="476" name="Google Shape;476;p50"/>
          <p:cNvSpPr/>
          <p:nvPr/>
        </p:nvSpPr>
        <p:spPr>
          <a:xfrm flipH="1" rot="5400000">
            <a:off x="3454300" y="-1077925"/>
            <a:ext cx="3093900" cy="76848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0"/>
          <p:cNvSpPr/>
          <p:nvPr/>
        </p:nvSpPr>
        <p:spPr>
          <a:xfrm rot="-5400000">
            <a:off x="-1109250" y="2680050"/>
            <a:ext cx="3729900" cy="8046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478" name="Google Shape;478;p50"/>
          <p:cNvGraphicFramePr/>
          <p:nvPr/>
        </p:nvGraphicFramePr>
        <p:xfrm>
          <a:off x="444850" y="1332471"/>
          <a:ext cx="3000000" cy="3000000"/>
        </p:xfrm>
        <a:graphic>
          <a:graphicData uri="http://schemas.openxmlformats.org/drawingml/2006/table">
            <a:tbl>
              <a:tblPr>
                <a:noFill/>
                <a:tableStyleId>{A069F133-5441-4E84-8760-2D4338416851}</a:tableStyleId>
              </a:tblPr>
              <a:tblGrid>
                <a:gridCol w="712675"/>
                <a:gridCol w="4170650"/>
                <a:gridCol w="591050"/>
                <a:gridCol w="1442025"/>
                <a:gridCol w="1482400"/>
              </a:tblGrid>
              <a:tr h="281775">
                <a:tc>
                  <a:txBody>
                    <a:bodyPr/>
                    <a:lstStyle/>
                    <a:p>
                      <a:pPr indent="0" lvl="0" marL="0" marR="0" rtl="0" algn="l">
                        <a:lnSpc>
                          <a:spcPct val="100000"/>
                        </a:lnSpc>
                        <a:spcBef>
                          <a:spcPts val="0"/>
                        </a:spcBef>
                        <a:spcAft>
                          <a:spcPts val="0"/>
                        </a:spcAft>
                        <a:buClr>
                          <a:srgbClr val="000000"/>
                        </a:buClr>
                        <a:buSzPts val="700"/>
                        <a:buFont typeface="Arial"/>
                        <a:buNone/>
                      </a:pPr>
                      <a:r>
                        <a:rPr b="1" lang="es" sz="800">
                          <a:solidFill>
                            <a:schemeClr val="lt1"/>
                          </a:solidFill>
                        </a:rPr>
                        <a:t>Modelo</a:t>
                      </a:r>
                      <a:endParaRPr b="1" sz="8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Descripción</a:t>
                      </a:r>
                      <a:endParaRPr b="1"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s" sz="800">
                          <a:solidFill>
                            <a:schemeClr val="dk1"/>
                          </a:solidFill>
                        </a:rPr>
                        <a:t>Tipo</a:t>
                      </a:r>
                      <a:endParaRPr b="1"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Configuración</a:t>
                      </a:r>
                      <a:endParaRPr b="1"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Fórmula/Fuente</a:t>
                      </a:r>
                      <a:endParaRPr b="1"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928100">
                <a:tc>
                  <a:txBody>
                    <a:bodyPr/>
                    <a:lstStyle/>
                    <a:p>
                      <a:pPr indent="0" lvl="0" marL="0" marR="0" rtl="0" algn="l">
                        <a:lnSpc>
                          <a:spcPct val="100000"/>
                        </a:lnSpc>
                        <a:spcBef>
                          <a:spcPts val="0"/>
                        </a:spcBef>
                        <a:spcAft>
                          <a:spcPts val="0"/>
                        </a:spcAft>
                        <a:buClr>
                          <a:srgbClr val="000000"/>
                        </a:buClr>
                        <a:buSzPts val="700"/>
                        <a:buFont typeface="Arial"/>
                        <a:buNone/>
                      </a:pPr>
                      <a:r>
                        <a:rPr b="1" lang="es" sz="900">
                          <a:solidFill>
                            <a:schemeClr val="lt1"/>
                          </a:solidFill>
                        </a:rPr>
                        <a:t>Random Forest</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Algoritmo de bagging (bootstrap aggregating)  que combina múltiples árboles de decisión entrenados sobre subconjuntos aleatorios de datos y variables para mejorar la generalización. Produce predicciones mediante promedio de los árboles.</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Machine Learning</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n_estimators = 300</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max_depth = 5</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min_samples_split = 4</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min_samples_leaf = 1</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random_state = 42</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i="1" lang="es" sz="900"/>
                        <a:t>Breiman, “Random Forests” (2001).</a:t>
                      </a:r>
                      <a:endParaRPr i="1"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625450">
                <a:tc>
                  <a:txBody>
                    <a:bodyPr/>
                    <a:lstStyle/>
                    <a:p>
                      <a:pPr indent="0" lvl="0" marL="0" marR="0" rtl="0" algn="l">
                        <a:lnSpc>
                          <a:spcPct val="100000"/>
                        </a:lnSpc>
                        <a:spcBef>
                          <a:spcPts val="0"/>
                        </a:spcBef>
                        <a:spcAft>
                          <a:spcPts val="0"/>
                        </a:spcAft>
                        <a:buNone/>
                      </a:pPr>
                      <a:r>
                        <a:rPr b="1" lang="es" sz="900">
                          <a:solidFill>
                            <a:schemeClr val="lt1"/>
                          </a:solidFill>
                        </a:rPr>
                        <a:t>ExtraTreesRegressor</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Similar a Random Forest pero introduce mayor aleatoriedad al elegir los puntos de división en los árboles, lo que reduce varianza y aumenta diversidad del ensemble.</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Machine Learning</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n_estimators = 300</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max_depth = 5</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min_samples_split = 4</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min_samples_leaf = 1</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bootstrap = True</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random_state = 42</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i="1" lang="es" sz="900"/>
                        <a:t>Geurts et al., “Extremely Randomized Trees” (2006)</a:t>
                      </a:r>
                      <a:endParaRPr i="1"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747000">
                <a:tc>
                  <a:txBody>
                    <a:bodyPr/>
                    <a:lstStyle/>
                    <a:p>
                      <a:pPr indent="0" lvl="0" marL="0" marR="0" rtl="0" algn="l">
                        <a:lnSpc>
                          <a:spcPct val="100000"/>
                        </a:lnSpc>
                        <a:spcBef>
                          <a:spcPts val="0"/>
                        </a:spcBef>
                        <a:spcAft>
                          <a:spcPts val="0"/>
                        </a:spcAft>
                        <a:buNone/>
                      </a:pPr>
                      <a:r>
                        <a:rPr b="1" lang="es" sz="900">
                          <a:solidFill>
                            <a:schemeClr val="lt1"/>
                          </a:solidFill>
                        </a:rPr>
                        <a:t>XGBoost</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Algoritmo de gradient boosting altamente optimizado que construye árboles secuencialmente minimizando una función de pérdida regularizada. Es uno de los modelos más usados en competiciones de ML.</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Machine Learning</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learning_rate = 0.01</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n_estimators = 500</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i="1" lang="es" sz="900"/>
                        <a:t>Chen &amp; Guestrin (2016), “XGBoost: A Scalable Tree Boosting System”</a:t>
                      </a:r>
                      <a:endParaRPr i="1"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636925">
                <a:tc>
                  <a:txBody>
                    <a:bodyPr/>
                    <a:lstStyle/>
                    <a:p>
                      <a:pPr indent="0" lvl="0" marL="0" marR="0" rtl="0" algn="l">
                        <a:lnSpc>
                          <a:spcPct val="100000"/>
                        </a:lnSpc>
                        <a:spcBef>
                          <a:spcPts val="0"/>
                        </a:spcBef>
                        <a:spcAft>
                          <a:spcPts val="0"/>
                        </a:spcAft>
                        <a:buNone/>
                      </a:pPr>
                      <a:r>
                        <a:rPr b="1" lang="es" sz="900">
                          <a:solidFill>
                            <a:schemeClr val="lt1"/>
                          </a:solidFill>
                        </a:rPr>
                        <a:t>LightGBM</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Algoritmo de gradient boosting que optimiza la eficiencia mediante un crecimiento de árboles por hojas (leaf-wise) en lugar de por niveles. A diferencia de XGBoost, reduce drásticamente el tiempo de cómputo y el uso de memoria en grandes volúmenes de datos sin sacrificar precisión.</a:t>
                      </a:r>
                      <a:endParaRPr sz="7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Machine Learning</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learning_rate = 0.03</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n_estimators = 300</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max_depth = 3</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min_child_samples = 5</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random_state = 42</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i="1" lang="es" sz="900"/>
                        <a:t>Ke et al. (2017), “LightGBM: A Highly Efficient Gradient Boosting Decision Tree”.</a:t>
                      </a:r>
                      <a:endParaRPr i="1"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bl>
          </a:graphicData>
        </a:graphic>
      </p:graphicFrame>
      <p:graphicFrame>
        <p:nvGraphicFramePr>
          <p:cNvPr id="479" name="Google Shape;479;p50"/>
          <p:cNvGraphicFramePr/>
          <p:nvPr/>
        </p:nvGraphicFramePr>
        <p:xfrm>
          <a:off x="152400" y="1524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1"/>
          <p:cNvSpPr txBox="1"/>
          <p:nvPr>
            <p:ph type="title"/>
          </p:nvPr>
        </p:nvSpPr>
        <p:spPr>
          <a:xfrm>
            <a:off x="341150" y="833162"/>
            <a:ext cx="8467800" cy="3843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Metodología: estrategia de modelado y validación (III)</a:t>
            </a:r>
            <a:endParaRPr i="1"/>
          </a:p>
        </p:txBody>
      </p:sp>
      <p:sp>
        <p:nvSpPr>
          <p:cNvPr id="485" name="Google Shape;485;p51"/>
          <p:cNvSpPr/>
          <p:nvPr/>
        </p:nvSpPr>
        <p:spPr>
          <a:xfrm flipH="1" rot="5400000">
            <a:off x="3809650" y="-1043199"/>
            <a:ext cx="2383200" cy="7684800"/>
          </a:xfrm>
          <a:prstGeom prst="round2SameRect">
            <a:avLst>
              <a:gd fmla="val 3571"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rot="-5400000">
            <a:off x="-673800" y="2634650"/>
            <a:ext cx="2859000" cy="804600"/>
          </a:xfrm>
          <a:prstGeom prst="round2Same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487" name="Google Shape;487;p51"/>
          <p:cNvGraphicFramePr/>
          <p:nvPr/>
        </p:nvGraphicFramePr>
        <p:xfrm>
          <a:off x="444850" y="1722652"/>
          <a:ext cx="3000000" cy="3000000"/>
        </p:xfrm>
        <a:graphic>
          <a:graphicData uri="http://schemas.openxmlformats.org/drawingml/2006/table">
            <a:tbl>
              <a:tblPr>
                <a:noFill/>
                <a:tableStyleId>{A069F133-5441-4E84-8760-2D4338416851}</a:tableStyleId>
              </a:tblPr>
              <a:tblGrid>
                <a:gridCol w="712675"/>
                <a:gridCol w="4170650"/>
                <a:gridCol w="992100"/>
                <a:gridCol w="1269575"/>
                <a:gridCol w="1253800"/>
              </a:tblGrid>
              <a:tr h="332200">
                <a:tc>
                  <a:txBody>
                    <a:bodyPr/>
                    <a:lstStyle/>
                    <a:p>
                      <a:pPr indent="0" lvl="0" marL="0" marR="0" rtl="0" algn="l">
                        <a:lnSpc>
                          <a:spcPct val="100000"/>
                        </a:lnSpc>
                        <a:spcBef>
                          <a:spcPts val="0"/>
                        </a:spcBef>
                        <a:spcAft>
                          <a:spcPts val="0"/>
                        </a:spcAft>
                        <a:buClr>
                          <a:srgbClr val="000000"/>
                        </a:buClr>
                        <a:buSzPts val="700"/>
                        <a:buFont typeface="Arial"/>
                        <a:buNone/>
                      </a:pPr>
                      <a:r>
                        <a:rPr b="1" lang="es" sz="800">
                          <a:solidFill>
                            <a:schemeClr val="lt1"/>
                          </a:solidFill>
                        </a:rPr>
                        <a:t>Modelo</a:t>
                      </a:r>
                      <a:endParaRPr b="1" sz="8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Descripción</a:t>
                      </a:r>
                      <a:endParaRPr b="1" sz="800" u="none" cap="none" strike="noStrike">
                        <a:solidFill>
                          <a:schemeClr val="dk1"/>
                        </a:solidFill>
                        <a:latin typeface="Arial"/>
                        <a:ea typeface="Arial"/>
                        <a:cs typeface="Arial"/>
                        <a:sym typeface="Arial"/>
                      </a:endParaRPr>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s" sz="800">
                          <a:solidFill>
                            <a:schemeClr val="dk1"/>
                          </a:solidFill>
                        </a:rPr>
                        <a:t>Tipo</a:t>
                      </a:r>
                      <a:endParaRPr b="1" sz="800">
                        <a:solidFill>
                          <a:schemeClr val="dk1"/>
                        </a:solidFil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Configuración</a:t>
                      </a:r>
                      <a:endParaRPr b="1"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s" sz="800">
                          <a:solidFill>
                            <a:schemeClr val="dk1"/>
                          </a:solidFill>
                        </a:rPr>
                        <a:t>Fórmula/Fuente</a:t>
                      </a:r>
                      <a:endParaRPr b="1" sz="800" u="none" cap="none" strike="noStrike">
                        <a:solidFill>
                          <a:schemeClr val="dk1"/>
                        </a:solidFill>
                        <a:latin typeface="Arial"/>
                        <a:ea typeface="Arial"/>
                        <a:cs typeface="Arial"/>
                        <a:sym typeface="Arial"/>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750850">
                <a:tc>
                  <a:txBody>
                    <a:bodyPr/>
                    <a:lstStyle/>
                    <a:p>
                      <a:pPr indent="0" lvl="0" marL="0" marR="0" rtl="0" algn="l">
                        <a:lnSpc>
                          <a:spcPct val="100000"/>
                        </a:lnSpc>
                        <a:spcBef>
                          <a:spcPts val="0"/>
                        </a:spcBef>
                        <a:spcAft>
                          <a:spcPts val="0"/>
                        </a:spcAft>
                        <a:buClr>
                          <a:srgbClr val="000000"/>
                        </a:buClr>
                        <a:buSzPts val="700"/>
                        <a:buFont typeface="Arial"/>
                        <a:buNone/>
                      </a:pPr>
                      <a:r>
                        <a:rPr b="1" lang="es" sz="900">
                          <a:solidFill>
                            <a:schemeClr val="lt1"/>
                          </a:solidFill>
                        </a:rPr>
                        <a:t>Long Short-TermMemory (LSTM)</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Tipo de red neuronal recurrente diseñada para capturar dependencias temporales largas mediante celdas con mecanismos de memoria y compuertas (input, forget, output). Muy utilizada en series temporales y NLP.</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Red neuronal</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units</a:t>
                      </a:r>
                      <a:r>
                        <a:rPr lang="es" sz="900">
                          <a:latin typeface="Times New Roman"/>
                          <a:ea typeface="Times New Roman"/>
                          <a:cs typeface="Times New Roman"/>
                          <a:sym typeface="Times New Roman"/>
                        </a:rPr>
                        <a:t>=32,</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learning_rate=0.05</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epochs=200</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batch_size=64</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i="1" lang="es" sz="900"/>
                        <a:t>Hochreiter &amp; Schmidhuber (1997), “Long Short-Term Memory”.</a:t>
                      </a:r>
                      <a:endParaRPr i="1"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E2E6EA"/>
                      </a:solidFill>
                      <a:prstDash val="solid"/>
                      <a:round/>
                      <a:headEnd len="sm" w="sm" type="none"/>
                      <a:tailEnd len="sm" w="sm" type="none"/>
                    </a:lnB>
                  </a:tcPr>
                </a:tc>
              </a:tr>
              <a:tr h="750850">
                <a:tc>
                  <a:txBody>
                    <a:bodyPr/>
                    <a:lstStyle/>
                    <a:p>
                      <a:pPr indent="0" lvl="0" marL="0" marR="0" rtl="0" algn="l">
                        <a:lnSpc>
                          <a:spcPct val="100000"/>
                        </a:lnSpc>
                        <a:spcBef>
                          <a:spcPts val="0"/>
                        </a:spcBef>
                        <a:spcAft>
                          <a:spcPts val="0"/>
                        </a:spcAft>
                        <a:buNone/>
                      </a:pPr>
                      <a:r>
                        <a:rPr b="1" lang="es" sz="900">
                          <a:solidFill>
                            <a:schemeClr val="lt1"/>
                          </a:solidFill>
                        </a:rPr>
                        <a:t>Chronos-2</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Modelo de forecasting basado en Transformers preentrenados para series temporales. Trata el forecasting como un problema de modelado secuencial similar al lenguaje, usando tokenización temporal.</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Red neuronal (Transformer)</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Default</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i="1" lang="es" sz="900">
                          <a:highlight>
                            <a:srgbClr val="FFFFFF"/>
                          </a:highlight>
                        </a:rPr>
                        <a:t>AF Ansari et. al. (2025), “Chronos-2: From Univariate to Universal Forecasting”</a:t>
                      </a:r>
                      <a:endParaRPr i="1"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r h="910175">
                <a:tc>
                  <a:txBody>
                    <a:bodyPr/>
                    <a:lstStyle/>
                    <a:p>
                      <a:pPr indent="0" lvl="0" marL="0" marR="0" rtl="0" algn="l">
                        <a:lnSpc>
                          <a:spcPct val="100000"/>
                        </a:lnSpc>
                        <a:spcBef>
                          <a:spcPts val="0"/>
                        </a:spcBef>
                        <a:spcAft>
                          <a:spcPts val="0"/>
                        </a:spcAft>
                        <a:buNone/>
                      </a:pPr>
                      <a:r>
                        <a:rPr b="1" lang="es" sz="900">
                          <a:solidFill>
                            <a:schemeClr val="lt1"/>
                          </a:solidFill>
                        </a:rPr>
                        <a:t>Bayesian Structural Time Series (BSTS)</a:t>
                      </a:r>
                      <a:endParaRPr b="1" sz="900">
                        <a:solidFill>
                          <a:schemeClr val="lt1"/>
                        </a:solidFill>
                      </a:endParaRPr>
                    </a:p>
                  </a:txBody>
                  <a:tcPr marT="36000" marB="36000" marR="36000" marL="360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1391"/>
                    </a:solidFill>
                  </a:tcPr>
                </a:tc>
                <a:tc>
                  <a:txBody>
                    <a:bodyPr/>
                    <a:lstStyle/>
                    <a:p>
                      <a:pPr indent="0" lvl="0" marL="0" rtl="0" algn="l">
                        <a:spcBef>
                          <a:spcPts val="0"/>
                        </a:spcBef>
                        <a:spcAft>
                          <a:spcPts val="0"/>
                        </a:spcAft>
                        <a:buNone/>
                      </a:pPr>
                      <a:r>
                        <a:rPr lang="es" sz="900"/>
                        <a:t>Modelo bayesiano de series temporales que descompone la serie en componentes estructurales (tendencia, estacionalidad, regresores). Utiliza inferencia bayesiana para estimar incertidumbre y seleccionar variables.</a:t>
                      </a:r>
                      <a:endParaRPr sz="900"/>
                    </a:p>
                  </a:txBody>
                  <a:tcPr marT="36000" marB="36000" marR="36000" marL="180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t>Clásico</a:t>
                      </a:r>
                      <a:endParaRPr sz="900"/>
                    </a:p>
                    <a:p>
                      <a:pPr indent="0" lvl="0" marL="0" rtl="0" algn="l">
                        <a:spcBef>
                          <a:spcPts val="0"/>
                        </a:spcBef>
                        <a:spcAft>
                          <a:spcPts val="0"/>
                        </a:spcAft>
                        <a:buNone/>
                      </a:pPr>
                      <a:r>
                        <a:t/>
                      </a:r>
                      <a:endParaRPr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lang="es" sz="900">
                          <a:latin typeface="Times New Roman"/>
                          <a:ea typeface="Times New Roman"/>
                          <a:cs typeface="Times New Roman"/>
                          <a:sym typeface="Times New Roman"/>
                        </a:rPr>
                        <a:t>level=local level</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trend=local linear trend</a:t>
                      </a:r>
                      <a:endParaRPr sz="900">
                        <a:latin typeface="Times New Roman"/>
                        <a:ea typeface="Times New Roman"/>
                        <a:cs typeface="Times New Roman"/>
                        <a:sym typeface="Times New Roman"/>
                      </a:endParaRPr>
                    </a:p>
                    <a:p>
                      <a:pPr indent="0" lvl="0" marL="0" rtl="0" algn="l">
                        <a:spcBef>
                          <a:spcPts val="0"/>
                        </a:spcBef>
                        <a:spcAft>
                          <a:spcPts val="0"/>
                        </a:spcAft>
                        <a:buNone/>
                      </a:pPr>
                      <a:r>
                        <a:rPr lang="es" sz="900">
                          <a:latin typeface="Times New Roman"/>
                          <a:ea typeface="Times New Roman"/>
                          <a:cs typeface="Times New Roman"/>
                          <a:sym typeface="Times New Roman"/>
                        </a:rPr>
                        <a:t>seasonal=12</a:t>
                      </a:r>
                      <a:endParaRPr sz="900">
                        <a:latin typeface="Times New Roman"/>
                        <a:ea typeface="Times New Roman"/>
                        <a:cs typeface="Times New Roman"/>
                        <a:sym typeface="Times New Roman"/>
                      </a:endParaRPr>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c>
                  <a:txBody>
                    <a:bodyPr/>
                    <a:lstStyle/>
                    <a:p>
                      <a:pPr indent="0" lvl="0" marL="0" rtl="0" algn="l">
                        <a:spcBef>
                          <a:spcPts val="0"/>
                        </a:spcBef>
                        <a:spcAft>
                          <a:spcPts val="0"/>
                        </a:spcAft>
                        <a:buNone/>
                      </a:pPr>
                      <a:r>
                        <a:rPr i="1" lang="es" sz="900"/>
                        <a:t>Scott &amp; Varian (2014), “Predicting the Present with Bayesian Structural Time Series”</a:t>
                      </a:r>
                      <a:endParaRPr i="1" sz="900"/>
                    </a:p>
                  </a:txBody>
                  <a:tcPr marT="36000" marB="36000" marR="36000" marL="360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2E6EA"/>
                      </a:solidFill>
                      <a:prstDash val="solid"/>
                      <a:round/>
                      <a:headEnd len="sm" w="sm" type="none"/>
                      <a:tailEnd len="sm" w="sm" type="none"/>
                    </a:lnT>
                    <a:lnB cap="flat" cmpd="sng" w="9525">
                      <a:solidFill>
                        <a:srgbClr val="E2E6EA"/>
                      </a:solidFill>
                      <a:prstDash val="solid"/>
                      <a:round/>
                      <a:headEnd len="sm" w="sm" type="none"/>
                      <a:tailEnd len="sm" w="sm" type="none"/>
                    </a:lnB>
                  </a:tcPr>
                </a:tc>
              </a:tr>
            </a:tbl>
          </a:graphicData>
        </a:graphic>
      </p:graphicFrame>
      <p:graphicFrame>
        <p:nvGraphicFramePr>
          <p:cNvPr id="488" name="Google Shape;488;p51"/>
          <p:cNvGraphicFramePr/>
          <p:nvPr/>
        </p:nvGraphicFramePr>
        <p:xfrm>
          <a:off x="152400" y="152400"/>
          <a:ext cx="3000000" cy="3000000"/>
        </p:xfrm>
        <a:graphic>
          <a:graphicData uri="http://schemas.openxmlformats.org/drawingml/2006/table">
            <a:tbl>
              <a:tblPr>
                <a:noFill/>
                <a:tableStyleId>{D429C5A6-34CE-4F2D-87BC-80535832215C}</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92" name="Shape 492"/>
        <p:cNvGrpSpPr/>
        <p:nvPr/>
      </p:nvGrpSpPr>
      <p:grpSpPr>
        <a:xfrm>
          <a:off x="0" y="0"/>
          <a:ext cx="0" cy="0"/>
          <a:chOff x="0" y="0"/>
          <a:chExt cx="0" cy="0"/>
        </a:xfrm>
      </p:grpSpPr>
      <p:sp>
        <p:nvSpPr>
          <p:cNvPr id="493" name="Google Shape;493;p52"/>
          <p:cNvSpPr txBox="1"/>
          <p:nvPr/>
        </p:nvSpPr>
        <p:spPr>
          <a:xfrm>
            <a:off x="324000" y="3570800"/>
            <a:ext cx="8222700" cy="22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s" sz="1800">
                <a:solidFill>
                  <a:srgbClr val="001391"/>
                </a:solidFill>
              </a:rPr>
              <a:t>04</a:t>
            </a:r>
            <a:r>
              <a:rPr b="0" i="0" lang="es" sz="1800" u="none" cap="none" strike="noStrike">
                <a:solidFill>
                  <a:srgbClr val="001391"/>
                </a:solidFill>
                <a:latin typeface="Arial"/>
                <a:ea typeface="Arial"/>
                <a:cs typeface="Arial"/>
                <a:sym typeface="Arial"/>
              </a:rPr>
              <a:t>. </a:t>
            </a:r>
            <a:r>
              <a:rPr lang="es" sz="1800">
                <a:solidFill>
                  <a:srgbClr val="001391"/>
                </a:solidFill>
              </a:rPr>
              <a:t>Selección del modelo y el pronóstico a seis meses adelante</a:t>
            </a:r>
            <a:endParaRPr b="0" i="0" sz="1800" u="none" cap="none" strike="noStrike">
              <a:solidFill>
                <a:srgbClr val="001391"/>
              </a:solidFill>
              <a:latin typeface="Arial"/>
              <a:ea typeface="Arial"/>
              <a:cs typeface="Arial"/>
              <a:sym typeface="Arial"/>
            </a:endParaRPr>
          </a:p>
        </p:txBody>
      </p:sp>
      <p:sp>
        <p:nvSpPr>
          <p:cNvPr id="494" name="Google Shape;494;p52"/>
          <p:cNvSpPr txBox="1"/>
          <p:nvPr>
            <p:ph type="title"/>
          </p:nvPr>
        </p:nvSpPr>
        <p:spPr>
          <a:xfrm>
            <a:off x="296724" y="4215247"/>
            <a:ext cx="8740800" cy="7734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SzPts val="5000"/>
              <a:buNone/>
            </a:pPr>
            <a:r>
              <a:rPr lang="es" sz="6700"/>
              <a:t>Los resultados</a:t>
            </a:r>
            <a:endParaRPr sz="6700">
              <a:latin typeface="Georgia"/>
              <a:ea typeface="Georgia"/>
              <a:cs typeface="Georgia"/>
              <a:sym typeface="Georgi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3"/>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pic>
        <p:nvPicPr>
          <p:cNvPr id="500" name="Google Shape;500;p53"/>
          <p:cNvPicPr preferRelativeResize="0"/>
          <p:nvPr/>
        </p:nvPicPr>
        <p:blipFill>
          <a:blip r:embed="rId3">
            <a:alphaModFix/>
          </a:blip>
          <a:stretch>
            <a:fillRect/>
          </a:stretch>
        </p:blipFill>
        <p:spPr>
          <a:xfrm>
            <a:off x="431950" y="1689650"/>
            <a:ext cx="3960000" cy="1940400"/>
          </a:xfrm>
          <a:prstGeom prst="rect">
            <a:avLst/>
          </a:prstGeom>
          <a:noFill/>
          <a:ln>
            <a:noFill/>
          </a:ln>
        </p:spPr>
      </p:pic>
      <p:sp>
        <p:nvSpPr>
          <p:cNvPr id="501" name="Google Shape;501;p53"/>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80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Entre los modelos evaluados, el </a:t>
            </a:r>
            <a:r>
              <a:rPr b="1" lang="es" sz="1200">
                <a:solidFill>
                  <a:schemeClr val="lt2"/>
                </a:solidFill>
                <a:highlight>
                  <a:schemeClr val="accent6"/>
                </a:highlight>
                <a:latin typeface="Georgia"/>
                <a:ea typeface="Georgia"/>
                <a:cs typeface="Georgia"/>
                <a:sym typeface="Georgia"/>
              </a:rPr>
              <a:t>Ensemble </a:t>
            </a:r>
            <a:r>
              <a:rPr b="1" lang="es" sz="1200">
                <a:solidFill>
                  <a:schemeClr val="lt2"/>
                </a:solidFill>
                <a:highlight>
                  <a:schemeClr val="accent6"/>
                </a:highlight>
                <a:latin typeface="Georgia"/>
                <a:ea typeface="Georgia"/>
                <a:cs typeface="Georgia"/>
                <a:sym typeface="Georgia"/>
              </a:rPr>
              <a:t>Ridge</a:t>
            </a:r>
            <a:r>
              <a:rPr b="1" lang="es" sz="1200">
                <a:solidFill>
                  <a:schemeClr val="dk1"/>
                </a:solidFill>
                <a:latin typeface="Georgia"/>
                <a:ea typeface="Georgia"/>
                <a:cs typeface="Georgia"/>
                <a:sym typeface="Georgia"/>
              </a:rPr>
              <a:t> muestra el mejor desempeño fuera de muestra, por lo que se adopta como modelo principal para la proyección de NPL a seis meses</a:t>
            </a:r>
            <a:endParaRPr b="1" i="0" sz="1200" u="none" cap="none" strike="noStrike">
              <a:solidFill>
                <a:schemeClr val="dk1"/>
              </a:solidFill>
              <a:latin typeface="Georgia"/>
              <a:ea typeface="Georgia"/>
              <a:cs typeface="Georgia"/>
              <a:sym typeface="Georgia"/>
            </a:endParaRPr>
          </a:p>
        </p:txBody>
      </p:sp>
      <p:sp>
        <p:nvSpPr>
          <p:cNvPr id="502" name="Google Shape;502;p53"/>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Cartera comercial</a:t>
            </a:r>
            <a:endParaRPr/>
          </a:p>
        </p:txBody>
      </p:sp>
      <p:sp>
        <p:nvSpPr>
          <p:cNvPr id="503" name="Google Shape;503;p53"/>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04" name="Google Shape;504;p53"/>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RMSE*</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PUNTOS PORCENTUALES</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05" name="Google Shape;505;p53"/>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506" name="Google Shape;506;p53"/>
          <p:cNvSpPr txBox="1"/>
          <p:nvPr/>
        </p:nvSpPr>
        <p:spPr>
          <a:xfrm>
            <a:off x="4931700" y="1087325"/>
            <a:ext cx="3225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PROYECCIONES FUERA DE MUESTRA SEIS MESES ADELANTE </a:t>
            </a:r>
            <a:r>
              <a:rPr b="0" i="0" lang="es" sz="1000" u="none" cap="none" strike="noStrike">
                <a:solidFill>
                  <a:schemeClr val="dk1"/>
                </a:solidFill>
                <a:latin typeface="Arial"/>
                <a:ea typeface="Arial"/>
                <a:cs typeface="Arial"/>
                <a:sym typeface="Arial"/>
              </a:rPr>
              <a:t>(</a:t>
            </a:r>
            <a:r>
              <a:rPr lang="es" sz="1000">
                <a:solidFill>
                  <a:schemeClr val="dk1"/>
                </a:solidFill>
              </a:rPr>
              <a:t>NPL</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07" name="Google Shape;507;p53"/>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508" name="Google Shape;508;p53"/>
          <p:cNvSpPr txBox="1"/>
          <p:nvPr/>
        </p:nvSpPr>
        <p:spPr>
          <a:xfrm>
            <a:off x="344875" y="3854400"/>
            <a:ext cx="7973100" cy="1725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RMSE utilizado para la elección del modelo corresponde al promedio del RMSE obtenido a partir de ejercicios de rolling forecast de 6 pasos adelante, calculado sobre 12 ventanas de evaluación.</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ensemble combina estimaciones del modelo entrenadas en distintos periodos muestrales para aprovechar variables con distinta disponibilidad temporal.</a:t>
            </a:r>
            <a:endParaRPr b="0" i="0" sz="700" u="none" cap="none" strike="noStrike">
              <a:solidFill>
                <a:srgbClr val="46536D"/>
              </a:solidFill>
              <a:latin typeface="Arial"/>
              <a:ea typeface="Arial"/>
              <a:cs typeface="Arial"/>
              <a:sym typeface="Arial"/>
            </a:endParaRPr>
          </a:p>
        </p:txBody>
      </p:sp>
      <p:sp>
        <p:nvSpPr>
          <p:cNvPr id="509" name="Google Shape;509;p53"/>
          <p:cNvSpPr/>
          <p:nvPr/>
        </p:nvSpPr>
        <p:spPr>
          <a:xfrm>
            <a:off x="876950" y="3458000"/>
            <a:ext cx="1767300" cy="190500"/>
          </a:xfrm>
          <a:prstGeom prst="rect">
            <a:avLst/>
          </a:prstGeom>
          <a:noFill/>
          <a:ln cap="flat" cmpd="sng" w="285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0" name="Google Shape;510;p53"/>
          <p:cNvPicPr preferRelativeResize="0"/>
          <p:nvPr/>
        </p:nvPicPr>
        <p:blipFill>
          <a:blip r:embed="rId4">
            <a:alphaModFix/>
          </a:blip>
          <a:stretch>
            <a:fillRect/>
          </a:stretch>
        </p:blipFill>
        <p:spPr>
          <a:xfrm>
            <a:off x="4770975" y="1603972"/>
            <a:ext cx="3960000" cy="2019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4"/>
          <p:cNvSpPr/>
          <p:nvPr/>
        </p:nvSpPr>
        <p:spPr>
          <a:xfrm>
            <a:off x="342000" y="900125"/>
            <a:ext cx="7983000" cy="38940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16" name="Google Shape;516;p54"/>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(PORCENTAJE)</a:t>
            </a:r>
            <a:endParaRPr b="0" i="0" sz="1200" u="none" cap="none" strike="noStrike">
              <a:solidFill>
                <a:schemeClr val="dk1"/>
              </a:solidFill>
              <a:latin typeface="Arial"/>
              <a:ea typeface="Arial"/>
              <a:cs typeface="Arial"/>
              <a:sym typeface="Arial"/>
            </a:endParaRPr>
          </a:p>
        </p:txBody>
      </p:sp>
      <p:cxnSp>
        <p:nvCxnSpPr>
          <p:cNvPr id="517" name="Google Shape;517;p54"/>
          <p:cNvCxnSpPr/>
          <p:nvPr/>
        </p:nvCxnSpPr>
        <p:spPr>
          <a:xfrm>
            <a:off x="582107" y="1549363"/>
            <a:ext cx="7503000" cy="0"/>
          </a:xfrm>
          <a:prstGeom prst="straightConnector1">
            <a:avLst/>
          </a:prstGeom>
          <a:noFill/>
          <a:ln cap="flat" cmpd="sng" w="9525">
            <a:solidFill>
              <a:schemeClr val="dk1"/>
            </a:solidFill>
            <a:prstDash val="solid"/>
            <a:round/>
            <a:headEnd len="sm" w="sm" type="none"/>
            <a:tailEnd len="sm" w="sm" type="none"/>
          </a:ln>
        </p:spPr>
      </p:cxnSp>
      <p:sp>
        <p:nvSpPr>
          <p:cNvPr id="518" name="Google Shape;518;p54"/>
          <p:cNvSpPr txBox="1"/>
          <p:nvPr/>
        </p:nvSpPr>
        <p:spPr>
          <a:xfrm>
            <a:off x="344875" y="4857700"/>
            <a:ext cx="7973100" cy="861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Nota: Los </a:t>
            </a:r>
            <a:r>
              <a:rPr lang="es" sz="700">
                <a:solidFill>
                  <a:srgbClr val="46536D"/>
                </a:solidFill>
              </a:rPr>
              <a:t>pronósticos</a:t>
            </a:r>
            <a:r>
              <a:rPr lang="es" sz="700">
                <a:solidFill>
                  <a:srgbClr val="46536D"/>
                </a:solidFill>
              </a:rPr>
              <a:t> móviles corresponden a pronósticos seis (6) meses adelante realizados en 12 ventanas.</a:t>
            </a:r>
            <a:endParaRPr b="0" i="0" sz="700" u="none" cap="none" strike="noStrike">
              <a:solidFill>
                <a:srgbClr val="46536D"/>
              </a:solidFill>
              <a:latin typeface="Arial"/>
              <a:ea typeface="Arial"/>
              <a:cs typeface="Arial"/>
              <a:sym typeface="Arial"/>
            </a:endParaRPr>
          </a:p>
        </p:txBody>
      </p:sp>
      <p:sp>
        <p:nvSpPr>
          <p:cNvPr id="519" name="Google Shape;519;p54"/>
          <p:cNvSpPr txBox="1"/>
          <p:nvPr>
            <p:ph type="title"/>
          </p:nvPr>
        </p:nvSpPr>
        <p:spPr>
          <a:xfrm>
            <a:off x="342000" y="259827"/>
            <a:ext cx="8466900" cy="576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Cartera comercial: Pronósticos móviles</a:t>
            </a:r>
            <a:endParaRPr/>
          </a:p>
          <a:p>
            <a:pPr indent="0" lvl="0" marL="0" rtl="0" algn="l">
              <a:lnSpc>
                <a:spcPct val="85000"/>
              </a:lnSpc>
              <a:spcBef>
                <a:spcPts val="0"/>
              </a:spcBef>
              <a:spcAft>
                <a:spcPts val="0"/>
              </a:spcAft>
              <a:buSzPts val="3000"/>
              <a:buNone/>
            </a:pPr>
            <a:r>
              <a:rPr lang="es">
                <a:solidFill>
                  <a:schemeClr val="lt1"/>
                </a:solidFill>
                <a:highlight>
                  <a:schemeClr val="accent6"/>
                </a:highlight>
              </a:rPr>
              <a:t>Ensemble ridge</a:t>
            </a:r>
            <a:endParaRPr>
              <a:solidFill>
                <a:schemeClr val="lt1"/>
              </a:solidFill>
              <a:highlight>
                <a:schemeClr val="accent6"/>
              </a:highlight>
            </a:endParaRPr>
          </a:p>
        </p:txBody>
      </p:sp>
      <p:pic>
        <p:nvPicPr>
          <p:cNvPr id="520" name="Google Shape;520;p54"/>
          <p:cNvPicPr preferRelativeResize="0"/>
          <p:nvPr/>
        </p:nvPicPr>
        <p:blipFill>
          <a:blip r:embed="rId3">
            <a:alphaModFix/>
          </a:blip>
          <a:stretch>
            <a:fillRect/>
          </a:stretch>
        </p:blipFill>
        <p:spPr>
          <a:xfrm>
            <a:off x="425425" y="1630737"/>
            <a:ext cx="7811998" cy="30615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5"/>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pic>
        <p:nvPicPr>
          <p:cNvPr id="526" name="Google Shape;526;p55"/>
          <p:cNvPicPr preferRelativeResize="0"/>
          <p:nvPr/>
        </p:nvPicPr>
        <p:blipFill>
          <a:blip r:embed="rId3">
            <a:alphaModFix/>
          </a:blip>
          <a:stretch>
            <a:fillRect/>
          </a:stretch>
        </p:blipFill>
        <p:spPr>
          <a:xfrm>
            <a:off x="431938" y="1689650"/>
            <a:ext cx="3960000" cy="1940400"/>
          </a:xfrm>
          <a:prstGeom prst="rect">
            <a:avLst/>
          </a:prstGeom>
          <a:noFill/>
          <a:ln>
            <a:noFill/>
          </a:ln>
        </p:spPr>
      </p:pic>
      <p:sp>
        <p:nvSpPr>
          <p:cNvPr id="527" name="Google Shape;527;p55"/>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80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Entre los modelos evaluados, el </a:t>
            </a:r>
            <a:r>
              <a:rPr b="1" lang="es" sz="1200">
                <a:solidFill>
                  <a:schemeClr val="lt1"/>
                </a:solidFill>
                <a:highlight>
                  <a:schemeClr val="accent6"/>
                </a:highlight>
                <a:latin typeface="Georgia"/>
                <a:ea typeface="Georgia"/>
                <a:cs typeface="Georgia"/>
                <a:sym typeface="Georgia"/>
              </a:rPr>
              <a:t>Ensemble Ridge</a:t>
            </a:r>
            <a:r>
              <a:rPr b="1" lang="es" sz="1200">
                <a:solidFill>
                  <a:schemeClr val="dk1"/>
                </a:solidFill>
                <a:latin typeface="Georgia"/>
                <a:ea typeface="Georgia"/>
                <a:cs typeface="Georgia"/>
                <a:sym typeface="Georgia"/>
              </a:rPr>
              <a:t> muestra el mejor desempeño fuera de muestra, por lo que se adopta como modelo principal para la proyección de NPL a seis meses</a:t>
            </a:r>
            <a:endParaRPr b="1" i="0" sz="1200" u="none" cap="none" strike="noStrike">
              <a:solidFill>
                <a:schemeClr val="dk1"/>
              </a:solidFill>
              <a:latin typeface="Georgia"/>
              <a:ea typeface="Georgia"/>
              <a:cs typeface="Georgia"/>
              <a:sym typeface="Georgia"/>
            </a:endParaRPr>
          </a:p>
        </p:txBody>
      </p:sp>
      <p:sp>
        <p:nvSpPr>
          <p:cNvPr id="528" name="Google Shape;528;p55"/>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Cartera consumo</a:t>
            </a:r>
            <a:endParaRPr/>
          </a:p>
        </p:txBody>
      </p:sp>
      <p:sp>
        <p:nvSpPr>
          <p:cNvPr id="529" name="Google Shape;529;p55"/>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30" name="Google Shape;530;p55"/>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RMSE*</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PUNTOS PORCENTUALES</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31" name="Google Shape;531;p55"/>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532" name="Google Shape;532;p55"/>
          <p:cNvSpPr txBox="1"/>
          <p:nvPr/>
        </p:nvSpPr>
        <p:spPr>
          <a:xfrm>
            <a:off x="4931700" y="1087325"/>
            <a:ext cx="3225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PROYECCIONES FUERA DE MUESTRA SEIS MESES ADELANTE </a:t>
            </a:r>
            <a:r>
              <a:rPr b="0" i="0" lang="es" sz="1000" u="none" cap="none" strike="noStrike">
                <a:solidFill>
                  <a:schemeClr val="dk1"/>
                </a:solidFill>
                <a:latin typeface="Arial"/>
                <a:ea typeface="Arial"/>
                <a:cs typeface="Arial"/>
                <a:sym typeface="Arial"/>
              </a:rPr>
              <a:t>(</a:t>
            </a:r>
            <a:r>
              <a:rPr lang="es" sz="1000">
                <a:solidFill>
                  <a:schemeClr val="dk1"/>
                </a:solidFill>
              </a:rPr>
              <a:t>NPL</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33" name="Google Shape;533;p55"/>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534" name="Google Shape;534;p55"/>
          <p:cNvSpPr txBox="1"/>
          <p:nvPr/>
        </p:nvSpPr>
        <p:spPr>
          <a:xfrm>
            <a:off x="344875" y="3854400"/>
            <a:ext cx="7973100" cy="1725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RMSE utilizado para la elección del modelo corresponde al promedio del RMSE obtenido a partir de ejercicios de rolling forecast de 6 pasos adelante, calculado sobre 12 ventanas de evaluación.</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ensemble combina estimaciones del modelo entrenadas en distintos periodos muestrales para aprovechar variables con distinta disponibilidad temporal.</a:t>
            </a:r>
            <a:endParaRPr b="0" i="0" sz="700" u="none" cap="none" strike="noStrike">
              <a:solidFill>
                <a:srgbClr val="46536D"/>
              </a:solidFill>
              <a:latin typeface="Arial"/>
              <a:ea typeface="Arial"/>
              <a:cs typeface="Arial"/>
              <a:sym typeface="Arial"/>
            </a:endParaRPr>
          </a:p>
        </p:txBody>
      </p:sp>
      <p:sp>
        <p:nvSpPr>
          <p:cNvPr id="535" name="Google Shape;535;p55"/>
          <p:cNvSpPr/>
          <p:nvPr/>
        </p:nvSpPr>
        <p:spPr>
          <a:xfrm>
            <a:off x="1002554" y="3433934"/>
            <a:ext cx="1767300" cy="190500"/>
          </a:xfrm>
          <a:prstGeom prst="rect">
            <a:avLst/>
          </a:prstGeom>
          <a:noFill/>
          <a:ln cap="flat" cmpd="sng" w="285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6" name="Google Shape;536;p55"/>
          <p:cNvPicPr preferRelativeResize="0"/>
          <p:nvPr/>
        </p:nvPicPr>
        <p:blipFill>
          <a:blip r:embed="rId4">
            <a:alphaModFix/>
          </a:blip>
          <a:stretch>
            <a:fillRect/>
          </a:stretch>
        </p:blipFill>
        <p:spPr>
          <a:xfrm>
            <a:off x="4816500" y="1633425"/>
            <a:ext cx="3960000" cy="1980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6"/>
          <p:cNvSpPr/>
          <p:nvPr/>
        </p:nvSpPr>
        <p:spPr>
          <a:xfrm>
            <a:off x="342000" y="900125"/>
            <a:ext cx="7983000" cy="38940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42" name="Google Shape;542;p56"/>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(PORCENTAJE)</a:t>
            </a:r>
            <a:endParaRPr b="0" i="0" sz="1200" u="none" cap="none" strike="noStrike">
              <a:solidFill>
                <a:schemeClr val="dk1"/>
              </a:solidFill>
              <a:latin typeface="Arial"/>
              <a:ea typeface="Arial"/>
              <a:cs typeface="Arial"/>
              <a:sym typeface="Arial"/>
            </a:endParaRPr>
          </a:p>
        </p:txBody>
      </p:sp>
      <p:cxnSp>
        <p:nvCxnSpPr>
          <p:cNvPr id="543" name="Google Shape;543;p56"/>
          <p:cNvCxnSpPr/>
          <p:nvPr/>
        </p:nvCxnSpPr>
        <p:spPr>
          <a:xfrm>
            <a:off x="582107" y="1549363"/>
            <a:ext cx="7503000" cy="0"/>
          </a:xfrm>
          <a:prstGeom prst="straightConnector1">
            <a:avLst/>
          </a:prstGeom>
          <a:noFill/>
          <a:ln cap="flat" cmpd="sng" w="9525">
            <a:solidFill>
              <a:schemeClr val="dk1"/>
            </a:solidFill>
            <a:prstDash val="solid"/>
            <a:round/>
            <a:headEnd len="sm" w="sm" type="none"/>
            <a:tailEnd len="sm" w="sm" type="none"/>
          </a:ln>
        </p:spPr>
      </p:cxnSp>
      <p:sp>
        <p:nvSpPr>
          <p:cNvPr id="544" name="Google Shape;544;p56"/>
          <p:cNvSpPr txBox="1"/>
          <p:nvPr/>
        </p:nvSpPr>
        <p:spPr>
          <a:xfrm>
            <a:off x="344875" y="4857700"/>
            <a:ext cx="7973100" cy="861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Nota: Los pronósticos móviles corresponden a pronósticos seis (6) meses adelante realizados en 12 ventanas.</a:t>
            </a:r>
            <a:endParaRPr b="0" i="0" sz="700" u="none" cap="none" strike="noStrike">
              <a:solidFill>
                <a:srgbClr val="46536D"/>
              </a:solidFill>
              <a:latin typeface="Arial"/>
              <a:ea typeface="Arial"/>
              <a:cs typeface="Arial"/>
              <a:sym typeface="Arial"/>
            </a:endParaRPr>
          </a:p>
        </p:txBody>
      </p:sp>
      <p:sp>
        <p:nvSpPr>
          <p:cNvPr id="545" name="Google Shape;545;p56"/>
          <p:cNvSpPr txBox="1"/>
          <p:nvPr>
            <p:ph type="title"/>
          </p:nvPr>
        </p:nvSpPr>
        <p:spPr>
          <a:xfrm>
            <a:off x="342000" y="259827"/>
            <a:ext cx="8466900" cy="576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Cartera consumo: Pronósticos móviles</a:t>
            </a:r>
            <a:endParaRPr/>
          </a:p>
          <a:p>
            <a:pPr indent="0" lvl="0" marL="0" rtl="0" algn="l">
              <a:lnSpc>
                <a:spcPct val="85000"/>
              </a:lnSpc>
              <a:spcBef>
                <a:spcPts val="0"/>
              </a:spcBef>
              <a:spcAft>
                <a:spcPts val="0"/>
              </a:spcAft>
              <a:buSzPts val="3000"/>
              <a:buNone/>
            </a:pPr>
            <a:r>
              <a:rPr lang="es">
                <a:solidFill>
                  <a:schemeClr val="lt1"/>
                </a:solidFill>
                <a:highlight>
                  <a:schemeClr val="accent6"/>
                </a:highlight>
              </a:rPr>
              <a:t>Ridge Ensemble</a:t>
            </a:r>
            <a:endParaRPr>
              <a:solidFill>
                <a:schemeClr val="lt1"/>
              </a:solidFill>
              <a:highlight>
                <a:schemeClr val="accent6"/>
              </a:highlight>
            </a:endParaRPr>
          </a:p>
        </p:txBody>
      </p:sp>
      <p:pic>
        <p:nvPicPr>
          <p:cNvPr id="546" name="Google Shape;546;p56"/>
          <p:cNvPicPr preferRelativeResize="0"/>
          <p:nvPr/>
        </p:nvPicPr>
        <p:blipFill>
          <a:blip r:embed="rId3">
            <a:alphaModFix/>
          </a:blip>
          <a:stretch>
            <a:fillRect/>
          </a:stretch>
        </p:blipFill>
        <p:spPr>
          <a:xfrm>
            <a:off x="427600" y="1628875"/>
            <a:ext cx="7811998" cy="306527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7"/>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pic>
        <p:nvPicPr>
          <p:cNvPr id="552" name="Google Shape;552;p57"/>
          <p:cNvPicPr preferRelativeResize="0"/>
          <p:nvPr/>
        </p:nvPicPr>
        <p:blipFill>
          <a:blip r:embed="rId3">
            <a:alphaModFix/>
          </a:blip>
          <a:stretch>
            <a:fillRect/>
          </a:stretch>
        </p:blipFill>
        <p:spPr>
          <a:xfrm>
            <a:off x="421483" y="1647782"/>
            <a:ext cx="3960000" cy="1940400"/>
          </a:xfrm>
          <a:prstGeom prst="rect">
            <a:avLst/>
          </a:prstGeom>
          <a:noFill/>
          <a:ln>
            <a:noFill/>
          </a:ln>
        </p:spPr>
      </p:pic>
      <p:sp>
        <p:nvSpPr>
          <p:cNvPr id="553" name="Google Shape;553;p57"/>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80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Entre los modelos evaluados, el </a:t>
            </a:r>
            <a:r>
              <a:rPr b="1" lang="es" sz="1200">
                <a:solidFill>
                  <a:schemeClr val="lt1"/>
                </a:solidFill>
                <a:highlight>
                  <a:schemeClr val="accent6"/>
                </a:highlight>
                <a:latin typeface="Georgia"/>
                <a:ea typeface="Georgia"/>
                <a:cs typeface="Georgia"/>
                <a:sym typeface="Georgia"/>
              </a:rPr>
              <a:t>Ensemble Ridge</a:t>
            </a:r>
            <a:r>
              <a:rPr b="1" lang="es" sz="1200">
                <a:solidFill>
                  <a:schemeClr val="dk1"/>
                </a:solidFill>
                <a:latin typeface="Georgia"/>
                <a:ea typeface="Georgia"/>
                <a:cs typeface="Georgia"/>
                <a:sym typeface="Georgia"/>
              </a:rPr>
              <a:t> muestra el mejor desempeño fuera de muestra, por lo que se adopta como modelo principal para la proyección de NPL a seis meses</a:t>
            </a:r>
            <a:endParaRPr b="1" i="0" sz="1200" u="none" cap="none" strike="noStrike">
              <a:solidFill>
                <a:schemeClr val="dk1"/>
              </a:solidFill>
              <a:latin typeface="Georgia"/>
              <a:ea typeface="Georgia"/>
              <a:cs typeface="Georgia"/>
              <a:sym typeface="Georgia"/>
            </a:endParaRPr>
          </a:p>
        </p:txBody>
      </p:sp>
      <p:sp>
        <p:nvSpPr>
          <p:cNvPr id="554" name="Google Shape;554;p57"/>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Cartera hipotecaria</a:t>
            </a:r>
            <a:endParaRPr/>
          </a:p>
        </p:txBody>
      </p:sp>
      <p:sp>
        <p:nvSpPr>
          <p:cNvPr id="555" name="Google Shape;555;p57"/>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56" name="Google Shape;556;p57"/>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RMSE*</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PUNTOS PORCENTUALES</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57" name="Google Shape;557;p57"/>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558" name="Google Shape;558;p57"/>
          <p:cNvSpPr txBox="1"/>
          <p:nvPr/>
        </p:nvSpPr>
        <p:spPr>
          <a:xfrm>
            <a:off x="4931700" y="1087325"/>
            <a:ext cx="3225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PROYECCIONES FUERA DE MUESTRA SEIS MESES ADELANTE </a:t>
            </a:r>
            <a:r>
              <a:rPr b="0" i="0" lang="es" sz="1000" u="none" cap="none" strike="noStrike">
                <a:solidFill>
                  <a:schemeClr val="dk1"/>
                </a:solidFill>
                <a:latin typeface="Arial"/>
                <a:ea typeface="Arial"/>
                <a:cs typeface="Arial"/>
                <a:sym typeface="Arial"/>
              </a:rPr>
              <a:t>(</a:t>
            </a:r>
            <a:r>
              <a:rPr lang="es" sz="1000">
                <a:solidFill>
                  <a:schemeClr val="dk1"/>
                </a:solidFill>
              </a:rPr>
              <a:t>NPL</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59" name="Google Shape;559;p57"/>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560" name="Google Shape;560;p57"/>
          <p:cNvSpPr txBox="1"/>
          <p:nvPr/>
        </p:nvSpPr>
        <p:spPr>
          <a:xfrm>
            <a:off x="344875" y="3854400"/>
            <a:ext cx="7973100" cy="1725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RMSE utilizado para la elección del modelo corresponde al promedio del RMSE obtenido a partir de ejercicios de rolling forecast de 6 pasos adelante, calculado sobre 12 ventanas de evaluación.</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ensemble combina estimaciones del modelo entrenadas en distintos periodos muestrales para aprovechar variables con distinta disponibilidad temporal.</a:t>
            </a:r>
            <a:endParaRPr b="0" i="0" sz="700" u="none" cap="none" strike="noStrike">
              <a:solidFill>
                <a:srgbClr val="46536D"/>
              </a:solidFill>
              <a:latin typeface="Arial"/>
              <a:ea typeface="Arial"/>
              <a:cs typeface="Arial"/>
              <a:sym typeface="Arial"/>
            </a:endParaRPr>
          </a:p>
        </p:txBody>
      </p:sp>
      <p:sp>
        <p:nvSpPr>
          <p:cNvPr id="561" name="Google Shape;561;p57"/>
          <p:cNvSpPr/>
          <p:nvPr/>
        </p:nvSpPr>
        <p:spPr>
          <a:xfrm>
            <a:off x="881650" y="3424275"/>
            <a:ext cx="1880700" cy="172500"/>
          </a:xfrm>
          <a:prstGeom prst="rect">
            <a:avLst/>
          </a:prstGeom>
          <a:noFill/>
          <a:ln cap="flat" cmpd="sng" w="285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2" name="Google Shape;562;p57"/>
          <p:cNvPicPr preferRelativeResize="0"/>
          <p:nvPr/>
        </p:nvPicPr>
        <p:blipFill>
          <a:blip r:embed="rId4">
            <a:alphaModFix/>
          </a:blip>
          <a:stretch>
            <a:fillRect/>
          </a:stretch>
        </p:blipFill>
        <p:spPr>
          <a:xfrm>
            <a:off x="4770975" y="1613821"/>
            <a:ext cx="3960000" cy="1980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8"/>
          <p:cNvSpPr/>
          <p:nvPr/>
        </p:nvSpPr>
        <p:spPr>
          <a:xfrm>
            <a:off x="342000" y="900125"/>
            <a:ext cx="7983000" cy="38940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68" name="Google Shape;568;p58"/>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(PORCENTAJE)</a:t>
            </a:r>
            <a:endParaRPr b="0" i="0" sz="1200" u="none" cap="none" strike="noStrike">
              <a:solidFill>
                <a:schemeClr val="dk1"/>
              </a:solidFill>
              <a:latin typeface="Arial"/>
              <a:ea typeface="Arial"/>
              <a:cs typeface="Arial"/>
              <a:sym typeface="Arial"/>
            </a:endParaRPr>
          </a:p>
        </p:txBody>
      </p:sp>
      <p:cxnSp>
        <p:nvCxnSpPr>
          <p:cNvPr id="569" name="Google Shape;569;p58"/>
          <p:cNvCxnSpPr/>
          <p:nvPr/>
        </p:nvCxnSpPr>
        <p:spPr>
          <a:xfrm>
            <a:off x="582107" y="1549363"/>
            <a:ext cx="7503000" cy="0"/>
          </a:xfrm>
          <a:prstGeom prst="straightConnector1">
            <a:avLst/>
          </a:prstGeom>
          <a:noFill/>
          <a:ln cap="flat" cmpd="sng" w="9525">
            <a:solidFill>
              <a:schemeClr val="dk1"/>
            </a:solidFill>
            <a:prstDash val="solid"/>
            <a:round/>
            <a:headEnd len="sm" w="sm" type="none"/>
            <a:tailEnd len="sm" w="sm" type="none"/>
          </a:ln>
        </p:spPr>
      </p:cxnSp>
      <p:sp>
        <p:nvSpPr>
          <p:cNvPr id="570" name="Google Shape;570;p58"/>
          <p:cNvSpPr txBox="1"/>
          <p:nvPr/>
        </p:nvSpPr>
        <p:spPr>
          <a:xfrm>
            <a:off x="344875" y="4857700"/>
            <a:ext cx="7973100" cy="86100"/>
          </a:xfrm>
          <a:prstGeom prst="rect">
            <a:avLst/>
          </a:prstGeom>
          <a:noFill/>
          <a:ln>
            <a:noFill/>
          </a:ln>
        </p:spPr>
        <p:txBody>
          <a:bodyPr anchorCtr="0" anchor="b" bIns="0" lIns="0" spcFirstLastPara="1" rIns="0" wrap="square" tIns="0">
            <a:spAutoFit/>
          </a:bodyPr>
          <a:lstStyle/>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Nota: Los pronósticos móviles corresponden a pronósticos seis (6) meses adelante realizados en 12 ventanas.</a:t>
            </a:r>
            <a:endParaRPr b="0" i="0" sz="700" u="none" cap="none" strike="noStrike">
              <a:solidFill>
                <a:srgbClr val="46536D"/>
              </a:solidFill>
              <a:latin typeface="Arial"/>
              <a:ea typeface="Arial"/>
              <a:cs typeface="Arial"/>
              <a:sym typeface="Arial"/>
            </a:endParaRPr>
          </a:p>
        </p:txBody>
      </p:sp>
      <p:sp>
        <p:nvSpPr>
          <p:cNvPr id="571" name="Google Shape;571;p58"/>
          <p:cNvSpPr txBox="1"/>
          <p:nvPr>
            <p:ph type="title"/>
          </p:nvPr>
        </p:nvSpPr>
        <p:spPr>
          <a:xfrm>
            <a:off x="342000" y="259827"/>
            <a:ext cx="8466900" cy="576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Cartera hipotecaria: Pronósticos móviles</a:t>
            </a:r>
            <a:endParaRPr/>
          </a:p>
          <a:p>
            <a:pPr indent="0" lvl="0" marL="0" rtl="0" algn="l">
              <a:lnSpc>
                <a:spcPct val="85000"/>
              </a:lnSpc>
              <a:spcBef>
                <a:spcPts val="0"/>
              </a:spcBef>
              <a:spcAft>
                <a:spcPts val="0"/>
              </a:spcAft>
              <a:buSzPts val="3000"/>
              <a:buNone/>
            </a:pPr>
            <a:r>
              <a:rPr lang="es">
                <a:solidFill>
                  <a:schemeClr val="lt1"/>
                </a:solidFill>
                <a:highlight>
                  <a:schemeClr val="accent6"/>
                </a:highlight>
              </a:rPr>
              <a:t>Ridge Ensemble</a:t>
            </a:r>
            <a:endParaRPr>
              <a:solidFill>
                <a:schemeClr val="lt1"/>
              </a:solidFill>
              <a:highlight>
                <a:schemeClr val="accent6"/>
              </a:highlight>
            </a:endParaRPr>
          </a:p>
        </p:txBody>
      </p:sp>
      <p:pic>
        <p:nvPicPr>
          <p:cNvPr id="572" name="Google Shape;572;p58"/>
          <p:cNvPicPr preferRelativeResize="0"/>
          <p:nvPr/>
        </p:nvPicPr>
        <p:blipFill>
          <a:blip r:embed="rId3">
            <a:alphaModFix/>
          </a:blip>
          <a:stretch>
            <a:fillRect/>
          </a:stretch>
        </p:blipFill>
        <p:spPr>
          <a:xfrm>
            <a:off x="425425" y="1628875"/>
            <a:ext cx="7811998" cy="306527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9"/>
          <p:cNvSpPr/>
          <p:nvPr/>
        </p:nvSpPr>
        <p:spPr>
          <a:xfrm>
            <a:off x="342000" y="900125"/>
            <a:ext cx="41091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pic>
        <p:nvPicPr>
          <p:cNvPr id="578" name="Google Shape;578;p59"/>
          <p:cNvPicPr preferRelativeResize="0"/>
          <p:nvPr/>
        </p:nvPicPr>
        <p:blipFill>
          <a:blip r:embed="rId3">
            <a:alphaModFix/>
          </a:blip>
          <a:stretch>
            <a:fillRect/>
          </a:stretch>
        </p:blipFill>
        <p:spPr>
          <a:xfrm>
            <a:off x="431950" y="1633413"/>
            <a:ext cx="3960000" cy="1940400"/>
          </a:xfrm>
          <a:prstGeom prst="rect">
            <a:avLst/>
          </a:prstGeom>
          <a:noFill/>
          <a:ln>
            <a:noFill/>
          </a:ln>
        </p:spPr>
      </p:pic>
      <p:sp>
        <p:nvSpPr>
          <p:cNvPr id="579" name="Google Shape;579;p59"/>
          <p:cNvSpPr/>
          <p:nvPr/>
        </p:nvSpPr>
        <p:spPr>
          <a:xfrm>
            <a:off x="352300" y="4248150"/>
            <a:ext cx="8454300" cy="548100"/>
          </a:xfrm>
          <a:prstGeom prst="roundRect">
            <a:avLst>
              <a:gd fmla="val 12218" name="adj"/>
            </a:avLst>
          </a:prstGeom>
          <a:solidFill>
            <a:schemeClr val="accent1"/>
          </a:solidFill>
          <a:ln>
            <a:noFill/>
          </a:ln>
        </p:spPr>
        <p:txBody>
          <a:bodyPr anchorCtr="0" anchor="ctr" bIns="180000" lIns="180000" spcFirstLastPara="1" rIns="180000" wrap="square" tIns="180000">
            <a:noAutofit/>
          </a:bodyPr>
          <a:lstStyle/>
          <a:p>
            <a:pPr indent="0" lvl="0" marL="0" marR="0" rtl="0" algn="l">
              <a:lnSpc>
                <a:spcPct val="115000"/>
              </a:lnSpc>
              <a:spcBef>
                <a:spcPts val="0"/>
              </a:spcBef>
              <a:spcAft>
                <a:spcPts val="0"/>
              </a:spcAft>
              <a:buClr>
                <a:srgbClr val="000000"/>
              </a:buClr>
              <a:buSzPts val="1200"/>
              <a:buFont typeface="Arial"/>
              <a:buNone/>
            </a:pPr>
            <a:r>
              <a:rPr b="1" lang="es" sz="1200">
                <a:solidFill>
                  <a:schemeClr val="dk1"/>
                </a:solidFill>
                <a:latin typeface="Georgia"/>
                <a:ea typeface="Georgia"/>
                <a:cs typeface="Georgia"/>
                <a:sym typeface="Georgia"/>
              </a:rPr>
              <a:t>Entre los modelos evaluados, el </a:t>
            </a:r>
            <a:r>
              <a:rPr b="1" lang="es" sz="1200">
                <a:solidFill>
                  <a:schemeClr val="lt1"/>
                </a:solidFill>
                <a:highlight>
                  <a:schemeClr val="accent6"/>
                </a:highlight>
                <a:latin typeface="Georgia"/>
                <a:ea typeface="Georgia"/>
                <a:cs typeface="Georgia"/>
                <a:sym typeface="Georgia"/>
              </a:rPr>
              <a:t>Ensemble Ridge</a:t>
            </a:r>
            <a:r>
              <a:rPr b="1" lang="es" sz="1200">
                <a:solidFill>
                  <a:schemeClr val="dk1"/>
                </a:solidFill>
                <a:latin typeface="Georgia"/>
                <a:ea typeface="Georgia"/>
                <a:cs typeface="Georgia"/>
                <a:sym typeface="Georgia"/>
              </a:rPr>
              <a:t> muestra el mejor desempeño fuera de muestra, por lo que se adopta como modelo principal para la proyección de NPL a seis meses</a:t>
            </a:r>
            <a:endParaRPr b="1" i="0" sz="1200" u="none" cap="none" strike="noStrike">
              <a:solidFill>
                <a:schemeClr val="dk1"/>
              </a:solidFill>
              <a:latin typeface="Georgia"/>
              <a:ea typeface="Georgia"/>
              <a:cs typeface="Georgia"/>
              <a:sym typeface="Georgia"/>
            </a:endParaRPr>
          </a:p>
        </p:txBody>
      </p:sp>
      <p:sp>
        <p:nvSpPr>
          <p:cNvPr id="580" name="Google Shape;580;p59"/>
          <p:cNvSpPr txBox="1"/>
          <p:nvPr>
            <p:ph type="title"/>
          </p:nvPr>
        </p:nvSpPr>
        <p:spPr>
          <a:xfrm>
            <a:off x="341999" y="259820"/>
            <a:ext cx="8466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Cartera total</a:t>
            </a:r>
            <a:r>
              <a:rPr baseline="30000" lang="es"/>
              <a:t>(+)</a:t>
            </a:r>
            <a:endParaRPr baseline="30000"/>
          </a:p>
        </p:txBody>
      </p:sp>
      <p:sp>
        <p:nvSpPr>
          <p:cNvPr id="581" name="Google Shape;581;p59"/>
          <p:cNvSpPr/>
          <p:nvPr/>
        </p:nvSpPr>
        <p:spPr>
          <a:xfrm>
            <a:off x="4692824" y="900125"/>
            <a:ext cx="4116300" cy="27828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82" name="Google Shape;582;p59"/>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RMSE*</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a:t>
            </a:r>
            <a:r>
              <a:rPr lang="es" sz="1000">
                <a:solidFill>
                  <a:schemeClr val="dk1"/>
                </a:solidFill>
              </a:rPr>
              <a:t>PUNTOS PORCENTUALES</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83" name="Google Shape;583;p59"/>
          <p:cNvCxnSpPr/>
          <p:nvPr/>
        </p:nvCxnSpPr>
        <p:spPr>
          <a:xfrm>
            <a:off x="582107" y="1549363"/>
            <a:ext cx="3659700" cy="0"/>
          </a:xfrm>
          <a:prstGeom prst="straightConnector1">
            <a:avLst/>
          </a:prstGeom>
          <a:noFill/>
          <a:ln cap="flat" cmpd="sng" w="9525">
            <a:solidFill>
              <a:schemeClr val="dk1"/>
            </a:solidFill>
            <a:prstDash val="solid"/>
            <a:round/>
            <a:headEnd len="sm" w="sm" type="none"/>
            <a:tailEnd len="sm" w="sm" type="none"/>
          </a:ln>
        </p:spPr>
      </p:cxnSp>
      <p:sp>
        <p:nvSpPr>
          <p:cNvPr id="584" name="Google Shape;584;p59"/>
          <p:cNvSpPr txBox="1"/>
          <p:nvPr/>
        </p:nvSpPr>
        <p:spPr>
          <a:xfrm>
            <a:off x="4931700" y="1087325"/>
            <a:ext cx="32256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PROYECCIONES FUERA DE MUESTRA SEIS MESES ADELANTE </a:t>
            </a:r>
            <a:r>
              <a:rPr b="0" i="0" lang="es" sz="1000" u="none" cap="none" strike="noStrike">
                <a:solidFill>
                  <a:schemeClr val="dk1"/>
                </a:solidFill>
                <a:latin typeface="Arial"/>
                <a:ea typeface="Arial"/>
                <a:cs typeface="Arial"/>
                <a:sym typeface="Arial"/>
              </a:rPr>
              <a:t>(</a:t>
            </a:r>
            <a:r>
              <a:rPr lang="es" sz="1000">
                <a:solidFill>
                  <a:schemeClr val="dk1"/>
                </a:solidFill>
              </a:rPr>
              <a:t>NPL</a:t>
            </a:r>
            <a:r>
              <a:rPr b="0" i="0" lang="es" sz="10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cxnSp>
        <p:nvCxnSpPr>
          <p:cNvPr id="585" name="Google Shape;585;p59"/>
          <p:cNvCxnSpPr/>
          <p:nvPr/>
        </p:nvCxnSpPr>
        <p:spPr>
          <a:xfrm>
            <a:off x="4931707" y="1549363"/>
            <a:ext cx="3729600" cy="0"/>
          </a:xfrm>
          <a:prstGeom prst="straightConnector1">
            <a:avLst/>
          </a:prstGeom>
          <a:noFill/>
          <a:ln cap="flat" cmpd="sng" w="9525">
            <a:solidFill>
              <a:schemeClr val="dk1"/>
            </a:solidFill>
            <a:prstDash val="solid"/>
            <a:round/>
            <a:headEnd len="sm" w="sm" type="none"/>
            <a:tailEnd len="sm" w="sm" type="none"/>
          </a:ln>
        </p:spPr>
      </p:cxnSp>
      <p:sp>
        <p:nvSpPr>
          <p:cNvPr id="586" name="Google Shape;586;p59"/>
          <p:cNvSpPr txBox="1"/>
          <p:nvPr/>
        </p:nvSpPr>
        <p:spPr>
          <a:xfrm>
            <a:off x="344875" y="3854400"/>
            <a:ext cx="7973100" cy="2586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No incluye microcrédito.</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RMSE utilizado para la elección del modelo corresponde al promedio del RMSE obtenido a partir de ejercicios de rolling forecast de 6 pasos adelante, calculado sobre 12 ventanas de evaluación.</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 El ensemble combina estimaciones del modelo entrenadas en distintos periodos muestrales para aprovechar variables con distinta disponibilidad temporal.</a:t>
            </a:r>
            <a:endParaRPr b="0" i="0" sz="700" u="none" cap="none" strike="noStrike">
              <a:solidFill>
                <a:srgbClr val="46536D"/>
              </a:solidFill>
              <a:latin typeface="Arial"/>
              <a:ea typeface="Arial"/>
              <a:cs typeface="Arial"/>
              <a:sym typeface="Arial"/>
            </a:endParaRPr>
          </a:p>
        </p:txBody>
      </p:sp>
      <p:sp>
        <p:nvSpPr>
          <p:cNvPr id="587" name="Google Shape;587;p59"/>
          <p:cNvSpPr/>
          <p:nvPr/>
        </p:nvSpPr>
        <p:spPr>
          <a:xfrm>
            <a:off x="884450" y="3426250"/>
            <a:ext cx="1767300" cy="190500"/>
          </a:xfrm>
          <a:prstGeom prst="rect">
            <a:avLst/>
          </a:prstGeom>
          <a:noFill/>
          <a:ln cap="flat" cmpd="sng" w="28575">
            <a:solidFill>
              <a:srgbClr val="FF525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8" name="Google Shape;588;p59"/>
          <p:cNvPicPr preferRelativeResize="0"/>
          <p:nvPr/>
        </p:nvPicPr>
        <p:blipFill>
          <a:blip r:embed="rId4">
            <a:alphaModFix/>
          </a:blip>
          <a:stretch>
            <a:fillRect/>
          </a:stretch>
        </p:blipFill>
        <p:spPr>
          <a:xfrm>
            <a:off x="4770975" y="1633425"/>
            <a:ext cx="3960000" cy="1980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0"/>
          <p:cNvSpPr/>
          <p:nvPr/>
        </p:nvSpPr>
        <p:spPr>
          <a:xfrm>
            <a:off x="342000" y="900125"/>
            <a:ext cx="7983000" cy="3894000"/>
          </a:xfrm>
          <a:prstGeom prst="roundRect">
            <a:avLst>
              <a:gd fmla="val 3551" name="adj"/>
            </a:avLst>
          </a:prstGeom>
          <a:solidFill>
            <a:schemeClr val="lt1"/>
          </a:solid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594" name="Google Shape;594;p60"/>
          <p:cNvSpPr txBox="1"/>
          <p:nvPr/>
        </p:nvSpPr>
        <p:spPr>
          <a:xfrm>
            <a:off x="582099" y="1087325"/>
            <a:ext cx="2893800" cy="37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s" sz="1200">
                <a:solidFill>
                  <a:schemeClr val="dk1"/>
                </a:solidFill>
              </a:rPr>
              <a:t>NPL</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chemeClr val="dk1"/>
                </a:solidFill>
                <a:latin typeface="Arial"/>
                <a:ea typeface="Arial"/>
                <a:cs typeface="Arial"/>
                <a:sym typeface="Arial"/>
              </a:rPr>
              <a:t>(PORCENTAJE)</a:t>
            </a:r>
            <a:endParaRPr b="0" i="0" sz="1200" u="none" cap="none" strike="noStrike">
              <a:solidFill>
                <a:schemeClr val="dk1"/>
              </a:solidFill>
              <a:latin typeface="Arial"/>
              <a:ea typeface="Arial"/>
              <a:cs typeface="Arial"/>
              <a:sym typeface="Arial"/>
            </a:endParaRPr>
          </a:p>
        </p:txBody>
      </p:sp>
      <p:cxnSp>
        <p:nvCxnSpPr>
          <p:cNvPr id="595" name="Google Shape;595;p60"/>
          <p:cNvCxnSpPr/>
          <p:nvPr/>
        </p:nvCxnSpPr>
        <p:spPr>
          <a:xfrm>
            <a:off x="582107" y="1549363"/>
            <a:ext cx="7503000" cy="0"/>
          </a:xfrm>
          <a:prstGeom prst="straightConnector1">
            <a:avLst/>
          </a:prstGeom>
          <a:noFill/>
          <a:ln cap="flat" cmpd="sng" w="9525">
            <a:solidFill>
              <a:schemeClr val="dk1"/>
            </a:solidFill>
            <a:prstDash val="solid"/>
            <a:round/>
            <a:headEnd len="sm" w="sm" type="none"/>
            <a:tailEnd len="sm" w="sm" type="none"/>
          </a:ln>
        </p:spPr>
      </p:cxnSp>
      <p:sp>
        <p:nvSpPr>
          <p:cNvPr id="596" name="Google Shape;596;p60"/>
          <p:cNvSpPr txBox="1"/>
          <p:nvPr/>
        </p:nvSpPr>
        <p:spPr>
          <a:xfrm>
            <a:off x="344875" y="4857700"/>
            <a:ext cx="7973100" cy="1725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Clr>
                <a:srgbClr val="000000"/>
              </a:buClr>
              <a:buSzPts val="700"/>
              <a:buFont typeface="Arial"/>
              <a:buNone/>
            </a:pPr>
            <a:r>
              <a:rPr lang="es" sz="700">
                <a:solidFill>
                  <a:srgbClr val="46536D"/>
                </a:solidFill>
              </a:rPr>
              <a:t>(*): No incluye microcrédito.</a:t>
            </a:r>
            <a:endParaRPr sz="700">
              <a:solidFill>
                <a:srgbClr val="46536D"/>
              </a:solidFill>
            </a:endParaRPr>
          </a:p>
          <a:p>
            <a:pPr indent="0" lvl="0" marL="0" marR="0" rtl="0" algn="l">
              <a:lnSpc>
                <a:spcPct val="80000"/>
              </a:lnSpc>
              <a:spcBef>
                <a:spcPts val="0"/>
              </a:spcBef>
              <a:spcAft>
                <a:spcPts val="0"/>
              </a:spcAft>
              <a:buClr>
                <a:srgbClr val="000000"/>
              </a:buClr>
              <a:buSzPts val="700"/>
              <a:buFont typeface="Arial"/>
              <a:buNone/>
            </a:pPr>
            <a:r>
              <a:rPr lang="es" sz="700">
                <a:solidFill>
                  <a:srgbClr val="46536D"/>
                </a:solidFill>
              </a:rPr>
              <a:t>Nota: Los pronósticos móviles corresponden a pronósticos seis (6) meses adelante realizados en 12 ventanas.</a:t>
            </a:r>
            <a:endParaRPr b="0" i="0" sz="700" u="none" cap="none" strike="noStrike">
              <a:solidFill>
                <a:srgbClr val="46536D"/>
              </a:solidFill>
              <a:latin typeface="Arial"/>
              <a:ea typeface="Arial"/>
              <a:cs typeface="Arial"/>
              <a:sym typeface="Arial"/>
            </a:endParaRPr>
          </a:p>
        </p:txBody>
      </p:sp>
      <p:sp>
        <p:nvSpPr>
          <p:cNvPr id="597" name="Google Shape;597;p60"/>
          <p:cNvSpPr txBox="1"/>
          <p:nvPr>
            <p:ph type="title"/>
          </p:nvPr>
        </p:nvSpPr>
        <p:spPr>
          <a:xfrm>
            <a:off x="342000" y="259827"/>
            <a:ext cx="8466900" cy="576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Cartera total</a:t>
            </a:r>
            <a:r>
              <a:rPr baseline="30000" lang="es"/>
              <a:t>(*)</a:t>
            </a:r>
            <a:r>
              <a:rPr lang="es"/>
              <a:t>: Pronósticos móviles</a:t>
            </a:r>
            <a:endParaRPr/>
          </a:p>
          <a:p>
            <a:pPr indent="0" lvl="0" marL="0" rtl="0" algn="l">
              <a:lnSpc>
                <a:spcPct val="85000"/>
              </a:lnSpc>
              <a:spcBef>
                <a:spcPts val="0"/>
              </a:spcBef>
              <a:spcAft>
                <a:spcPts val="0"/>
              </a:spcAft>
              <a:buSzPts val="3000"/>
              <a:buNone/>
            </a:pPr>
            <a:r>
              <a:rPr lang="es">
                <a:solidFill>
                  <a:schemeClr val="lt1"/>
                </a:solidFill>
                <a:highlight>
                  <a:schemeClr val="accent6"/>
                </a:highlight>
              </a:rPr>
              <a:t>Ridge Ensemble</a:t>
            </a:r>
            <a:endParaRPr>
              <a:solidFill>
                <a:schemeClr val="lt1"/>
              </a:solidFill>
              <a:highlight>
                <a:schemeClr val="accent6"/>
              </a:highlight>
            </a:endParaRPr>
          </a:p>
        </p:txBody>
      </p:sp>
      <p:pic>
        <p:nvPicPr>
          <p:cNvPr id="598" name="Google Shape;598;p60"/>
          <p:cNvPicPr preferRelativeResize="0"/>
          <p:nvPr/>
        </p:nvPicPr>
        <p:blipFill>
          <a:blip r:embed="rId3">
            <a:alphaModFix/>
          </a:blip>
          <a:stretch>
            <a:fillRect/>
          </a:stretch>
        </p:blipFill>
        <p:spPr>
          <a:xfrm>
            <a:off x="425425" y="1638173"/>
            <a:ext cx="7812001" cy="304668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1"/>
          <p:cNvSpPr txBox="1"/>
          <p:nvPr>
            <p:ph type="title"/>
          </p:nvPr>
        </p:nvSpPr>
        <p:spPr>
          <a:xfrm>
            <a:off x="344500" y="344500"/>
            <a:ext cx="7548900" cy="3477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SzPts val="3000"/>
              <a:buFont typeface="Arial"/>
              <a:buNone/>
            </a:pPr>
            <a:r>
              <a:rPr lang="es">
                <a:solidFill>
                  <a:schemeClr val="accent1"/>
                </a:solidFill>
              </a:rPr>
              <a:t>El </a:t>
            </a:r>
            <a:r>
              <a:rPr lang="es">
                <a:solidFill>
                  <a:schemeClr val="accent1"/>
                </a:solidFill>
              </a:rPr>
              <a:t>modelo</a:t>
            </a:r>
            <a:r>
              <a:rPr lang="es">
                <a:solidFill>
                  <a:schemeClr val="accent1"/>
                </a:solidFill>
              </a:rPr>
              <a:t> escogido: </a:t>
            </a:r>
            <a:r>
              <a:rPr lang="es"/>
              <a:t>Ensemble Ridge Recursivo</a:t>
            </a:r>
            <a:endParaRPr/>
          </a:p>
          <a:p>
            <a:pPr indent="0" lvl="0" marL="0" rtl="0" algn="l">
              <a:spcBef>
                <a:spcPts val="0"/>
              </a:spcBef>
              <a:spcAft>
                <a:spcPts val="0"/>
              </a:spcAft>
              <a:buNone/>
            </a:pPr>
            <a:r>
              <a:t/>
            </a:r>
            <a:endParaRPr/>
          </a:p>
        </p:txBody>
      </p:sp>
      <p:sp>
        <p:nvSpPr>
          <p:cNvPr id="604" name="Google Shape;604;p61"/>
          <p:cNvSpPr/>
          <p:nvPr/>
        </p:nvSpPr>
        <p:spPr>
          <a:xfrm>
            <a:off x="344500" y="1575050"/>
            <a:ext cx="8386800" cy="20061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61"/>
          <p:cNvSpPr txBox="1"/>
          <p:nvPr/>
        </p:nvSpPr>
        <p:spPr>
          <a:xfrm>
            <a:off x="266925" y="762450"/>
            <a:ext cx="8616900" cy="7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dk1"/>
                </a:solidFill>
              </a:rPr>
              <a:t>El modelo escogido consiste en un</a:t>
            </a:r>
            <a:r>
              <a:rPr b="1" lang="es" sz="1300">
                <a:solidFill>
                  <a:schemeClr val="dk1"/>
                </a:solidFill>
              </a:rPr>
              <a:t> Ensemble de Regresores Ridge de predicción recursiva</a:t>
            </a:r>
            <a:r>
              <a:rPr lang="es" sz="1300">
                <a:solidFill>
                  <a:schemeClr val="dk1"/>
                </a:solidFill>
              </a:rPr>
              <a:t>, que aborda el desafío de la disponibilidad asíncrona de las covariables y optimiza la precisión mediante una combinación de modelos ponderada por el error cuadrático medio (RMSE).</a:t>
            </a:r>
            <a:endParaRPr sz="1300">
              <a:solidFill>
                <a:schemeClr val="dk1"/>
              </a:solidFill>
            </a:endParaRPr>
          </a:p>
        </p:txBody>
      </p:sp>
      <p:sp>
        <p:nvSpPr>
          <p:cNvPr id="606" name="Google Shape;606;p61"/>
          <p:cNvSpPr txBox="1"/>
          <p:nvPr/>
        </p:nvSpPr>
        <p:spPr>
          <a:xfrm>
            <a:off x="382625" y="1656850"/>
            <a:ext cx="8299800" cy="17223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AutoNum type="arabicPeriod"/>
            </a:pPr>
            <a:r>
              <a:rPr lang="es" sz="1100">
                <a:solidFill>
                  <a:schemeClr val="dk2"/>
                </a:solidFill>
              </a:rPr>
              <a:t>Para cada submodelo dentro del ensemble, se aplica una </a:t>
            </a:r>
            <a:r>
              <a:rPr b="1" lang="es" sz="1100">
                <a:solidFill>
                  <a:schemeClr val="dk2"/>
                </a:solidFill>
              </a:rPr>
              <a:t>estandarización de variables</a:t>
            </a:r>
            <a:r>
              <a:rPr lang="es" sz="1100">
                <a:solidFill>
                  <a:schemeClr val="dk2"/>
                </a:solidFill>
              </a:rPr>
              <a:t> (z-score) tanto a la matriz de características </a:t>
            </a:r>
            <a:r>
              <a:rPr i="1" lang="es" sz="1100">
                <a:solidFill>
                  <a:schemeClr val="dk2"/>
                </a:solidFill>
              </a:rPr>
              <a:t>X </a:t>
            </a:r>
            <a:r>
              <a:rPr lang="es" sz="1100">
                <a:solidFill>
                  <a:schemeClr val="dk2"/>
                </a:solidFill>
              </a:rPr>
              <a:t>(incluyendo 12 lags) como a la variable objetivo </a:t>
            </a:r>
            <a:r>
              <a:rPr i="1" lang="es" sz="1100">
                <a:solidFill>
                  <a:schemeClr val="dk2"/>
                </a:solidFill>
              </a:rPr>
              <a:t>y</a:t>
            </a:r>
            <a:r>
              <a:rPr lang="es" sz="1100">
                <a:solidFill>
                  <a:schemeClr val="dk2"/>
                </a:solidFill>
              </a:rPr>
              <a:t>. El aprendizaje se realiza mediante una </a:t>
            </a:r>
            <a:r>
              <a:rPr b="1" lang="es" sz="1100">
                <a:solidFill>
                  <a:schemeClr val="dk2"/>
                </a:solidFill>
              </a:rPr>
              <a:t>Regresión Ridge</a:t>
            </a:r>
            <a:r>
              <a:rPr lang="es" sz="1100">
                <a:solidFill>
                  <a:schemeClr val="dk2"/>
                </a:solidFill>
              </a:rPr>
              <a:t>, la cual minimiza la suma de los residuos al cuadrado penalizada por la norma </a:t>
            </a:r>
            <a:r>
              <a:rPr i="1" lang="es" sz="1100">
                <a:solidFill>
                  <a:schemeClr val="dk2"/>
                </a:solidFill>
              </a:rPr>
              <a:t>L2 </a:t>
            </a:r>
            <a:r>
              <a:rPr lang="es" sz="1100">
                <a:solidFill>
                  <a:schemeClr val="dk2"/>
                </a:solidFill>
              </a:rPr>
              <a:t>de los coeficientes.</a:t>
            </a:r>
            <a:endParaRPr sz="1100">
              <a:solidFill>
                <a:schemeClr val="dk2"/>
              </a:solidFill>
            </a:endParaRPr>
          </a:p>
          <a:p>
            <a:pPr indent="0" lvl="0" marL="457200" rtl="0" algn="l">
              <a:spcBef>
                <a:spcPts val="0"/>
              </a:spcBef>
              <a:spcAft>
                <a:spcPts val="0"/>
              </a:spcAft>
              <a:buNone/>
            </a:pPr>
            <a:r>
              <a:t/>
            </a:r>
            <a:endParaRPr sz="1100">
              <a:solidFill>
                <a:schemeClr val="dk2"/>
              </a:solidFill>
            </a:endParaRPr>
          </a:p>
          <a:p>
            <a:pPr indent="-298450" lvl="0" marL="457200" rtl="0" algn="l">
              <a:spcBef>
                <a:spcPts val="0"/>
              </a:spcBef>
              <a:spcAft>
                <a:spcPts val="0"/>
              </a:spcAft>
              <a:buClr>
                <a:schemeClr val="dk2"/>
              </a:buClr>
              <a:buSzPts val="1100"/>
              <a:buAutoNum type="arabicPeriod"/>
            </a:pPr>
            <a:r>
              <a:rPr lang="es" sz="1100">
                <a:solidFill>
                  <a:schemeClr val="dk2"/>
                </a:solidFill>
              </a:rPr>
              <a:t>Dada la naturaleza temporal, se implementa un esquema de </a:t>
            </a:r>
            <a:r>
              <a:rPr b="1" lang="es" sz="1100">
                <a:solidFill>
                  <a:schemeClr val="dk2"/>
                </a:solidFill>
              </a:rPr>
              <a:t>predicción recursivo</a:t>
            </a:r>
            <a:r>
              <a:rPr lang="es" sz="1100">
                <a:solidFill>
                  <a:schemeClr val="dk2"/>
                </a:solidFill>
              </a:rPr>
              <a:t>. Para un horizonte de predicción </a:t>
            </a:r>
            <a:r>
              <a:rPr i="1" lang="es" sz="1100">
                <a:solidFill>
                  <a:schemeClr val="dk2"/>
                </a:solidFill>
              </a:rPr>
              <a:t>H</a:t>
            </a:r>
            <a:r>
              <a:rPr lang="es" sz="1100">
                <a:solidFill>
                  <a:schemeClr val="dk2"/>
                </a:solidFill>
              </a:rPr>
              <a:t>, el modelo estima el valor para </a:t>
            </a:r>
            <a:r>
              <a:rPr i="1" lang="es" sz="1100">
                <a:solidFill>
                  <a:schemeClr val="dk2"/>
                </a:solidFill>
              </a:rPr>
              <a:t>t+1</a:t>
            </a:r>
            <a:r>
              <a:rPr lang="es" sz="1100">
                <a:solidFill>
                  <a:schemeClr val="dk2"/>
                </a:solidFill>
              </a:rPr>
              <a:t> y utiliza dicha predicción como lag para la estimación de</a:t>
            </a:r>
            <a:r>
              <a:rPr i="1" lang="es" sz="1100">
                <a:solidFill>
                  <a:schemeClr val="dk2"/>
                </a:solidFill>
              </a:rPr>
              <a:t> t+2</a:t>
            </a:r>
            <a:r>
              <a:rPr lang="es" sz="1100">
                <a:solidFill>
                  <a:schemeClr val="dk2"/>
                </a:solidFill>
              </a:rPr>
              <a:t>.</a:t>
            </a:r>
            <a:endParaRPr sz="1100">
              <a:solidFill>
                <a:schemeClr val="dk2"/>
              </a:solidFill>
            </a:endParaRPr>
          </a:p>
          <a:p>
            <a:pPr indent="0" lvl="0" marL="457200" rtl="0" algn="l">
              <a:spcBef>
                <a:spcPts val="0"/>
              </a:spcBef>
              <a:spcAft>
                <a:spcPts val="0"/>
              </a:spcAft>
              <a:buNone/>
            </a:pPr>
            <a:r>
              <a:t/>
            </a:r>
            <a:endParaRPr sz="1100">
              <a:solidFill>
                <a:schemeClr val="dk2"/>
              </a:solidFill>
            </a:endParaRPr>
          </a:p>
          <a:p>
            <a:pPr indent="-298450" lvl="0" marL="457200" rtl="0" algn="l">
              <a:spcBef>
                <a:spcPts val="0"/>
              </a:spcBef>
              <a:spcAft>
                <a:spcPts val="0"/>
              </a:spcAft>
              <a:buClr>
                <a:schemeClr val="dk2"/>
              </a:buClr>
              <a:buSzPts val="1100"/>
              <a:buAutoNum type="arabicPeriod"/>
            </a:pPr>
            <a:r>
              <a:rPr lang="es" sz="1100">
                <a:solidFill>
                  <a:schemeClr val="dk2"/>
                </a:solidFill>
              </a:rPr>
              <a:t>El modelo final es un </a:t>
            </a:r>
            <a:r>
              <a:rPr b="1" lang="es" sz="1100">
                <a:solidFill>
                  <a:schemeClr val="dk2"/>
                </a:solidFill>
              </a:rPr>
              <a:t>ensemble dinámico</a:t>
            </a:r>
            <a:r>
              <a:rPr lang="es" sz="1100">
                <a:solidFill>
                  <a:schemeClr val="dk2"/>
                </a:solidFill>
              </a:rPr>
              <a:t> de </a:t>
            </a:r>
            <a:r>
              <a:rPr i="1" lang="es" sz="1100">
                <a:solidFill>
                  <a:schemeClr val="dk2"/>
                </a:solidFill>
              </a:rPr>
              <a:t>M </a:t>
            </a:r>
            <a:r>
              <a:rPr lang="es" sz="1100">
                <a:solidFill>
                  <a:schemeClr val="dk2"/>
                </a:solidFill>
              </a:rPr>
              <a:t>submodelos individuales, combinados mediante una </a:t>
            </a:r>
            <a:r>
              <a:rPr b="1" lang="es" sz="1100">
                <a:solidFill>
                  <a:schemeClr val="dk2"/>
                </a:solidFill>
              </a:rPr>
              <a:t>ponderación por el inverso del error </a:t>
            </a:r>
            <a:r>
              <a:rPr lang="es" sz="1100">
                <a:solidFill>
                  <a:schemeClr val="dk2"/>
                </a:solidFill>
              </a:rPr>
              <a:t>(Inverse Error Weighting). El peso asignado a cada modelo es inversamente proporcional a su RMSE fuera de muestra en 6 periodos elevado a una potencia de 2.</a:t>
            </a:r>
            <a:endParaRPr sz="1100">
              <a:solidFill>
                <a:schemeClr val="dk2"/>
              </a:solidFill>
            </a:endParaRPr>
          </a:p>
        </p:txBody>
      </p:sp>
      <p:pic>
        <p:nvPicPr>
          <p:cNvPr id="607" name="Google Shape;607;p61" title="npl_ensemble (1).png"/>
          <p:cNvPicPr preferRelativeResize="0"/>
          <p:nvPr/>
        </p:nvPicPr>
        <p:blipFill>
          <a:blip r:embed="rId3">
            <a:alphaModFix/>
          </a:blip>
          <a:stretch>
            <a:fillRect/>
          </a:stretch>
        </p:blipFill>
        <p:spPr>
          <a:xfrm>
            <a:off x="565875" y="3675850"/>
            <a:ext cx="7519281" cy="12575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2"/>
          <p:cNvSpPr txBox="1"/>
          <p:nvPr/>
        </p:nvSpPr>
        <p:spPr>
          <a:xfrm>
            <a:off x="128200" y="412950"/>
            <a:ext cx="1423200" cy="9648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700">
                <a:solidFill>
                  <a:schemeClr val="lt1"/>
                </a:solidFill>
              </a:rPr>
              <a:t>Ensemble Ridge Recursivo </a:t>
            </a:r>
            <a:endParaRPr b="1" sz="1700">
              <a:solidFill>
                <a:schemeClr val="lt1"/>
              </a:solidFill>
            </a:endParaRPr>
          </a:p>
        </p:txBody>
      </p:sp>
      <p:grpSp>
        <p:nvGrpSpPr>
          <p:cNvPr id="613" name="Google Shape;613;p62"/>
          <p:cNvGrpSpPr/>
          <p:nvPr/>
        </p:nvGrpSpPr>
        <p:grpSpPr>
          <a:xfrm>
            <a:off x="1755850" y="147900"/>
            <a:ext cx="5632302" cy="4927100"/>
            <a:chOff x="2491000" y="224100"/>
            <a:chExt cx="5632302" cy="4927100"/>
          </a:xfrm>
        </p:grpSpPr>
        <p:pic>
          <p:nvPicPr>
            <p:cNvPr id="614" name="Google Shape;614;p62" title="npl_ridge_transparente.png"/>
            <p:cNvPicPr preferRelativeResize="0"/>
            <p:nvPr/>
          </p:nvPicPr>
          <p:blipFill>
            <a:blip r:embed="rId3">
              <a:alphaModFix/>
            </a:blip>
            <a:stretch>
              <a:fillRect/>
            </a:stretch>
          </p:blipFill>
          <p:spPr>
            <a:xfrm>
              <a:off x="2515838" y="224100"/>
              <a:ext cx="5607465" cy="4838699"/>
            </a:xfrm>
            <a:prstGeom prst="rect">
              <a:avLst/>
            </a:prstGeom>
            <a:noFill/>
            <a:ln>
              <a:noFill/>
            </a:ln>
          </p:spPr>
        </p:pic>
        <p:sp>
          <p:nvSpPr>
            <p:cNvPr id="615" name="Google Shape;615;p62"/>
            <p:cNvSpPr/>
            <p:nvPr/>
          </p:nvSpPr>
          <p:spPr>
            <a:xfrm>
              <a:off x="2491000" y="233300"/>
              <a:ext cx="5607600" cy="4917900"/>
            </a:xfrm>
            <a:prstGeom prst="rect">
              <a:avLst/>
            </a:prstGeom>
            <a:no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19" name="Shape 619"/>
        <p:cNvGrpSpPr/>
        <p:nvPr/>
      </p:nvGrpSpPr>
      <p:grpSpPr>
        <a:xfrm>
          <a:off x="0" y="0"/>
          <a:ext cx="0" cy="0"/>
          <a:chOff x="0" y="0"/>
          <a:chExt cx="0" cy="0"/>
        </a:xfrm>
      </p:grpSpPr>
      <p:sp>
        <p:nvSpPr>
          <p:cNvPr id="620" name="Google Shape;620;p63"/>
          <p:cNvSpPr txBox="1"/>
          <p:nvPr>
            <p:ph type="title"/>
          </p:nvPr>
        </p:nvSpPr>
        <p:spPr>
          <a:xfrm>
            <a:off x="296724" y="4215247"/>
            <a:ext cx="8740800" cy="7734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SzPts val="5000"/>
              <a:buNone/>
            </a:pPr>
            <a:r>
              <a:rPr lang="es" sz="6700"/>
              <a:t>Cierre y propuestas</a:t>
            </a:r>
            <a:endParaRPr sz="6700">
              <a:latin typeface="Georgia"/>
              <a:ea typeface="Georgia"/>
              <a:cs typeface="Georgia"/>
              <a:sym typeface="Georgi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4"/>
          <p:cNvSpPr txBox="1"/>
          <p:nvPr/>
        </p:nvSpPr>
        <p:spPr>
          <a:xfrm>
            <a:off x="338100" y="393537"/>
            <a:ext cx="8467800" cy="3843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s" sz="2200">
                <a:solidFill>
                  <a:srgbClr val="001391"/>
                </a:solidFill>
                <a:latin typeface="Georgia"/>
                <a:ea typeface="Georgia"/>
                <a:cs typeface="Georgia"/>
                <a:sym typeface="Georgia"/>
              </a:rPr>
              <a:t>Key Learnings and Conclusions</a:t>
            </a:r>
            <a:endParaRPr b="1" sz="2200">
              <a:solidFill>
                <a:srgbClr val="001391"/>
              </a:solidFill>
              <a:latin typeface="Georgia"/>
              <a:ea typeface="Georgia"/>
              <a:cs typeface="Georgia"/>
              <a:sym typeface="Georgia"/>
            </a:endParaRPr>
          </a:p>
        </p:txBody>
      </p:sp>
      <p:sp>
        <p:nvSpPr>
          <p:cNvPr id="626" name="Google Shape;626;p64"/>
          <p:cNvSpPr/>
          <p:nvPr/>
        </p:nvSpPr>
        <p:spPr>
          <a:xfrm>
            <a:off x="4686400" y="965050"/>
            <a:ext cx="1943100" cy="3736800"/>
          </a:xfrm>
          <a:prstGeom prst="roundRect">
            <a:avLst>
              <a:gd fmla="val 7646" name="adj"/>
            </a:avLst>
          </a:prstGeom>
          <a:solidFill>
            <a:srgbClr val="FFE761"/>
          </a:solidFill>
          <a:ln>
            <a:noFill/>
          </a:ln>
        </p:spPr>
        <p:txBody>
          <a:bodyPr anchorCtr="0" anchor="t" bIns="0" lIns="108000" spcFirstLastPara="1" rIns="54000" wrap="square" tIns="108000">
            <a:noAutofit/>
          </a:bodyPr>
          <a:lstStyle/>
          <a:p>
            <a:pPr indent="0" lvl="0" marL="0" rtl="0" algn="l">
              <a:spcBef>
                <a:spcPts val="0"/>
              </a:spcBef>
              <a:spcAft>
                <a:spcPts val="0"/>
              </a:spcAft>
              <a:buNone/>
            </a:pPr>
            <a:r>
              <a:rPr lang="es" sz="1300">
                <a:solidFill>
                  <a:srgbClr val="001391"/>
                </a:solidFill>
              </a:rPr>
              <a:t>The model selected, which is trained with Big Data indicators and is built on an innovative ML architecture, will substitute existing BBVA Research NPL forecasting models in Colombia. </a:t>
            </a:r>
            <a:endParaRPr sz="1300">
              <a:solidFill>
                <a:srgbClr val="001391"/>
              </a:solidFill>
            </a:endParaRPr>
          </a:p>
          <a:p>
            <a:pPr indent="0" lvl="0" marL="0" rtl="0" algn="l">
              <a:spcBef>
                <a:spcPts val="0"/>
              </a:spcBef>
              <a:spcAft>
                <a:spcPts val="0"/>
              </a:spcAft>
              <a:buNone/>
            </a:pPr>
            <a:r>
              <a:t/>
            </a:r>
            <a:endParaRPr sz="1300">
              <a:solidFill>
                <a:srgbClr val="001391"/>
              </a:solidFill>
            </a:endParaRPr>
          </a:p>
          <a:p>
            <a:pPr indent="0" lvl="0" marL="0" rtl="0" algn="l">
              <a:spcBef>
                <a:spcPts val="0"/>
              </a:spcBef>
              <a:spcAft>
                <a:spcPts val="0"/>
              </a:spcAft>
              <a:buNone/>
            </a:pPr>
            <a:r>
              <a:rPr lang="es" sz="1300">
                <a:solidFill>
                  <a:srgbClr val="001391"/>
                </a:solidFill>
              </a:rPr>
              <a:t>This will </a:t>
            </a:r>
            <a:r>
              <a:rPr b="1" lang="es" sz="1300">
                <a:solidFill>
                  <a:srgbClr val="001391"/>
                </a:solidFill>
              </a:rPr>
              <a:t>improve the accuracy of NPL forecasts reported in all upcoming QRES</a:t>
            </a:r>
            <a:r>
              <a:rPr lang="es" sz="1300">
                <a:solidFill>
                  <a:srgbClr val="001391"/>
                </a:solidFill>
              </a:rPr>
              <a:t>.</a:t>
            </a:r>
            <a:endParaRPr sz="1300">
              <a:solidFill>
                <a:srgbClr val="001391"/>
              </a:solidFill>
            </a:endParaRPr>
          </a:p>
        </p:txBody>
      </p:sp>
      <p:sp>
        <p:nvSpPr>
          <p:cNvPr id="627" name="Google Shape;627;p64"/>
          <p:cNvSpPr/>
          <p:nvPr/>
        </p:nvSpPr>
        <p:spPr>
          <a:xfrm>
            <a:off x="341150" y="965184"/>
            <a:ext cx="1943100" cy="3736800"/>
          </a:xfrm>
          <a:prstGeom prst="roundRect">
            <a:avLst>
              <a:gd fmla="val 7646" name="adj"/>
            </a:avLst>
          </a:prstGeom>
          <a:solidFill>
            <a:srgbClr val="85C8FF"/>
          </a:solidFill>
          <a:ln>
            <a:noFill/>
          </a:ln>
        </p:spPr>
        <p:txBody>
          <a:bodyPr anchorCtr="0" anchor="t" bIns="0" lIns="108000" spcFirstLastPara="1" rIns="54000" wrap="square" tIns="108000">
            <a:noAutofit/>
          </a:bodyPr>
          <a:lstStyle/>
          <a:p>
            <a:pPr indent="0" lvl="0" marL="0" marR="0" rtl="0" algn="l">
              <a:lnSpc>
                <a:spcPct val="100000"/>
              </a:lnSpc>
              <a:spcBef>
                <a:spcPts val="0"/>
              </a:spcBef>
              <a:spcAft>
                <a:spcPts val="0"/>
              </a:spcAft>
              <a:buClr>
                <a:srgbClr val="000000"/>
              </a:buClr>
              <a:buSzPts val="1700"/>
              <a:buFont typeface="Arial"/>
              <a:buNone/>
            </a:pPr>
            <a:r>
              <a:rPr lang="es" sz="1300">
                <a:solidFill>
                  <a:srgbClr val="001391"/>
                </a:solidFill>
              </a:rPr>
              <a:t>The economic literature on NPLs is full of macroeconomic and banking variables.</a:t>
            </a:r>
            <a:r>
              <a:rPr b="1" lang="es" sz="1300">
                <a:solidFill>
                  <a:srgbClr val="001391"/>
                </a:solidFill>
              </a:rPr>
              <a:t> It still lacks research on digital footprints and big data.</a:t>
            </a:r>
            <a:endParaRPr b="1" sz="1300">
              <a:solidFill>
                <a:srgbClr val="001391"/>
              </a:solidFill>
            </a:endParaRPr>
          </a:p>
          <a:p>
            <a:pPr indent="0" lvl="0" marL="0" marR="0" rtl="0" algn="l">
              <a:lnSpc>
                <a:spcPct val="100000"/>
              </a:lnSpc>
              <a:spcBef>
                <a:spcPts val="0"/>
              </a:spcBef>
              <a:spcAft>
                <a:spcPts val="0"/>
              </a:spcAft>
              <a:buClr>
                <a:srgbClr val="000000"/>
              </a:buClr>
              <a:buSzPts val="1700"/>
              <a:buFont typeface="Arial"/>
              <a:buNone/>
            </a:pPr>
            <a:r>
              <a:t/>
            </a:r>
            <a:endParaRPr b="1" sz="1300">
              <a:solidFill>
                <a:srgbClr val="001391"/>
              </a:solidFill>
            </a:endParaRPr>
          </a:p>
          <a:p>
            <a:pPr indent="0" lvl="0" marL="0" marR="0" rtl="0" algn="l">
              <a:lnSpc>
                <a:spcPct val="100000"/>
              </a:lnSpc>
              <a:spcBef>
                <a:spcPts val="0"/>
              </a:spcBef>
              <a:spcAft>
                <a:spcPts val="0"/>
              </a:spcAft>
              <a:buClr>
                <a:srgbClr val="000000"/>
              </a:buClr>
              <a:buSzPts val="1700"/>
              <a:buFont typeface="Arial"/>
              <a:buNone/>
            </a:pPr>
            <a:r>
              <a:rPr lang="es" sz="1300">
                <a:solidFill>
                  <a:srgbClr val="001391"/>
                </a:solidFill>
              </a:rPr>
              <a:t>We introduce </a:t>
            </a:r>
            <a:r>
              <a:rPr b="1" lang="es" sz="1300">
                <a:solidFill>
                  <a:srgbClr val="001391"/>
                </a:solidFill>
              </a:rPr>
              <a:t>proprietary big data variables</a:t>
            </a:r>
            <a:r>
              <a:rPr lang="es" sz="1300">
                <a:solidFill>
                  <a:srgbClr val="001391"/>
                </a:solidFill>
              </a:rPr>
              <a:t> (news, web searches, high-frequency consumption, etc.) as </a:t>
            </a:r>
            <a:r>
              <a:rPr b="1" lang="es" sz="1300">
                <a:solidFill>
                  <a:srgbClr val="001391"/>
                </a:solidFill>
              </a:rPr>
              <a:t>key covariates in our models</a:t>
            </a:r>
            <a:r>
              <a:rPr lang="es" sz="1300">
                <a:solidFill>
                  <a:srgbClr val="001391"/>
                </a:solidFill>
              </a:rPr>
              <a:t>.</a:t>
            </a:r>
            <a:endParaRPr sz="1300">
              <a:solidFill>
                <a:srgbClr val="001391"/>
              </a:solidFill>
            </a:endParaRPr>
          </a:p>
          <a:p>
            <a:pPr indent="0" lvl="0" marL="0" marR="0" rtl="0" algn="l">
              <a:lnSpc>
                <a:spcPct val="100000"/>
              </a:lnSpc>
              <a:spcBef>
                <a:spcPts val="0"/>
              </a:spcBef>
              <a:spcAft>
                <a:spcPts val="0"/>
              </a:spcAft>
              <a:buClr>
                <a:srgbClr val="000000"/>
              </a:buClr>
              <a:buSzPts val="1700"/>
              <a:buFont typeface="Arial"/>
              <a:buNone/>
            </a:pPr>
            <a:r>
              <a:t/>
            </a:r>
            <a:endParaRPr sz="1700">
              <a:solidFill>
                <a:srgbClr val="001391"/>
              </a:solidFill>
            </a:endParaRPr>
          </a:p>
        </p:txBody>
      </p:sp>
      <p:sp>
        <p:nvSpPr>
          <p:cNvPr id="628" name="Google Shape;628;p64"/>
          <p:cNvSpPr/>
          <p:nvPr/>
        </p:nvSpPr>
        <p:spPr>
          <a:xfrm>
            <a:off x="2514525" y="965050"/>
            <a:ext cx="1943100" cy="3736800"/>
          </a:xfrm>
          <a:prstGeom prst="roundRect">
            <a:avLst>
              <a:gd fmla="val 7646" name="adj"/>
            </a:avLst>
          </a:prstGeom>
          <a:solidFill>
            <a:srgbClr val="88E783"/>
          </a:solidFill>
          <a:ln>
            <a:noFill/>
          </a:ln>
        </p:spPr>
        <p:txBody>
          <a:bodyPr anchorCtr="0" anchor="t" bIns="0" lIns="108000" spcFirstLastPara="1" rIns="54000" wrap="square" tIns="108000">
            <a:noAutofit/>
          </a:bodyPr>
          <a:lstStyle/>
          <a:p>
            <a:pPr indent="0" lvl="0" marL="0" rtl="0" algn="l">
              <a:spcBef>
                <a:spcPts val="0"/>
              </a:spcBef>
              <a:spcAft>
                <a:spcPts val="0"/>
              </a:spcAft>
              <a:buNone/>
            </a:pPr>
            <a:r>
              <a:rPr lang="es" sz="1300">
                <a:solidFill>
                  <a:srgbClr val="001391"/>
                </a:solidFill>
              </a:rPr>
              <a:t>We evaluate multiple classical and machine-learning models at the frontier of TS forecasting.</a:t>
            </a:r>
            <a:endParaRPr sz="1300">
              <a:solidFill>
                <a:srgbClr val="001391"/>
              </a:solidFill>
            </a:endParaRPr>
          </a:p>
          <a:p>
            <a:pPr indent="0" lvl="0" marL="0" rtl="0" algn="l">
              <a:spcBef>
                <a:spcPts val="0"/>
              </a:spcBef>
              <a:spcAft>
                <a:spcPts val="0"/>
              </a:spcAft>
              <a:buNone/>
            </a:pPr>
            <a:r>
              <a:t/>
            </a:r>
            <a:endParaRPr b="1" sz="1300">
              <a:solidFill>
                <a:srgbClr val="001391"/>
              </a:solidFill>
            </a:endParaRPr>
          </a:p>
          <a:p>
            <a:pPr indent="0" lvl="0" marL="0" rtl="0" algn="l">
              <a:spcBef>
                <a:spcPts val="0"/>
              </a:spcBef>
              <a:spcAft>
                <a:spcPts val="0"/>
              </a:spcAft>
              <a:buNone/>
            </a:pPr>
            <a:r>
              <a:rPr b="1" lang="es" sz="1300">
                <a:solidFill>
                  <a:srgbClr val="001391"/>
                </a:solidFill>
              </a:rPr>
              <a:t>The best model in all four NPL Ratios was the Recursive Error-Weighted Ridge Ensemble, </a:t>
            </a:r>
            <a:r>
              <a:rPr lang="es" sz="1300">
                <a:solidFill>
                  <a:srgbClr val="001391"/>
                </a:solidFill>
              </a:rPr>
              <a:t>an ML architecture that leverages the informative power of variables with different time availability.</a:t>
            </a:r>
            <a:endParaRPr sz="1300">
              <a:solidFill>
                <a:srgbClr val="001391"/>
              </a:solidFill>
            </a:endParaRPr>
          </a:p>
        </p:txBody>
      </p:sp>
      <p:sp>
        <p:nvSpPr>
          <p:cNvPr id="629" name="Google Shape;629;p64"/>
          <p:cNvSpPr/>
          <p:nvPr/>
        </p:nvSpPr>
        <p:spPr>
          <a:xfrm>
            <a:off x="6858275" y="965184"/>
            <a:ext cx="1943100" cy="3736800"/>
          </a:xfrm>
          <a:prstGeom prst="roundRect">
            <a:avLst>
              <a:gd fmla="val 7646" name="adj"/>
            </a:avLst>
          </a:prstGeom>
          <a:solidFill>
            <a:srgbClr val="FFB56B"/>
          </a:solidFill>
          <a:ln>
            <a:noFill/>
          </a:ln>
        </p:spPr>
        <p:txBody>
          <a:bodyPr anchorCtr="0" anchor="t" bIns="0" lIns="108000" spcFirstLastPara="1" rIns="54000" wrap="square" tIns="108000">
            <a:noAutofit/>
          </a:bodyPr>
          <a:lstStyle/>
          <a:p>
            <a:pPr indent="0" lvl="0" marL="0" rtl="0" algn="l">
              <a:spcBef>
                <a:spcPts val="0"/>
              </a:spcBef>
              <a:spcAft>
                <a:spcPts val="0"/>
              </a:spcAft>
              <a:buNone/>
            </a:pPr>
            <a:r>
              <a:rPr lang="es" sz="1300">
                <a:solidFill>
                  <a:srgbClr val="001391"/>
                </a:solidFill>
              </a:rPr>
              <a:t>The </a:t>
            </a:r>
            <a:r>
              <a:rPr b="1" lang="es" sz="1300">
                <a:solidFill>
                  <a:srgbClr val="001391"/>
                </a:solidFill>
              </a:rPr>
              <a:t>cross-team collaboration between the Colombia and the Big Data units at BBVA Research</a:t>
            </a:r>
            <a:r>
              <a:rPr lang="es" sz="1300">
                <a:solidFill>
                  <a:srgbClr val="001391"/>
                </a:solidFill>
              </a:rPr>
              <a:t> was essential in exchanging specialized knowledge and building cross-country relationships.</a:t>
            </a:r>
            <a:endParaRPr sz="1300">
              <a:solidFill>
                <a:srgbClr val="001391"/>
              </a:solidFill>
            </a:endParaRPr>
          </a:p>
        </p:txBody>
      </p:sp>
      <p:pic>
        <p:nvPicPr>
          <p:cNvPr id="630" name="Google Shape;630;p64" title="team.png"/>
          <p:cNvPicPr preferRelativeResize="0"/>
          <p:nvPr/>
        </p:nvPicPr>
        <p:blipFill rotWithShape="1">
          <a:blip r:embed="rId3">
            <a:alphaModFix/>
          </a:blip>
          <a:srcRect b="0" l="0" r="0" t="0"/>
          <a:stretch/>
        </p:blipFill>
        <p:spPr>
          <a:xfrm>
            <a:off x="6114250" y="4166218"/>
            <a:ext cx="382075" cy="382075"/>
          </a:xfrm>
          <a:prstGeom prst="rect">
            <a:avLst/>
          </a:prstGeom>
          <a:noFill/>
          <a:ln>
            <a:noFill/>
          </a:ln>
        </p:spPr>
      </p:pic>
      <p:pic>
        <p:nvPicPr>
          <p:cNvPr id="631" name="Google Shape;631;p64" title="bulb.png"/>
          <p:cNvPicPr preferRelativeResize="0"/>
          <p:nvPr/>
        </p:nvPicPr>
        <p:blipFill rotWithShape="1">
          <a:blip r:embed="rId4">
            <a:alphaModFix/>
          </a:blip>
          <a:srcRect b="0" l="0" r="0" t="0"/>
          <a:stretch/>
        </p:blipFill>
        <p:spPr>
          <a:xfrm>
            <a:off x="1793863" y="4192186"/>
            <a:ext cx="329400" cy="329400"/>
          </a:xfrm>
          <a:prstGeom prst="rect">
            <a:avLst/>
          </a:prstGeom>
          <a:noFill/>
          <a:ln>
            <a:noFill/>
          </a:ln>
        </p:spPr>
      </p:pic>
      <p:pic>
        <p:nvPicPr>
          <p:cNvPr id="632" name="Google Shape;632;p64" title="searching-location.png"/>
          <p:cNvPicPr preferRelativeResize="0"/>
          <p:nvPr/>
        </p:nvPicPr>
        <p:blipFill rotWithShape="1">
          <a:blip r:embed="rId5">
            <a:alphaModFix/>
          </a:blip>
          <a:srcRect b="0" l="0" r="0" t="0"/>
          <a:stretch/>
        </p:blipFill>
        <p:spPr>
          <a:xfrm>
            <a:off x="3965996" y="4183696"/>
            <a:ext cx="382075" cy="382075"/>
          </a:xfrm>
          <a:prstGeom prst="rect">
            <a:avLst/>
          </a:prstGeom>
          <a:noFill/>
          <a:ln>
            <a:noFill/>
          </a:ln>
        </p:spPr>
      </p:pic>
      <p:pic>
        <p:nvPicPr>
          <p:cNvPr id="633" name="Google Shape;633;p64" title="wellness.png"/>
          <p:cNvPicPr preferRelativeResize="0"/>
          <p:nvPr/>
        </p:nvPicPr>
        <p:blipFill rotWithShape="1">
          <a:blip r:embed="rId6">
            <a:alphaModFix/>
          </a:blip>
          <a:srcRect b="0" l="0" r="0" t="0"/>
          <a:stretch/>
        </p:blipFill>
        <p:spPr>
          <a:xfrm>
            <a:off x="8313975" y="4172741"/>
            <a:ext cx="382075" cy="3820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5"/>
          <p:cNvSpPr txBox="1"/>
          <p:nvPr>
            <p:ph type="title"/>
          </p:nvPr>
        </p:nvSpPr>
        <p:spPr>
          <a:xfrm>
            <a:off x="341150" y="833162"/>
            <a:ext cx="8467800" cy="3843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SzPts val="3000"/>
              <a:buNone/>
            </a:pPr>
            <a:r>
              <a:rPr lang="es"/>
              <a:t>Materiales de apoyo</a:t>
            </a:r>
            <a:endParaRPr/>
          </a:p>
        </p:txBody>
      </p:sp>
      <p:sp>
        <p:nvSpPr>
          <p:cNvPr id="639" name="Google Shape;639;p65"/>
          <p:cNvSpPr/>
          <p:nvPr/>
        </p:nvSpPr>
        <p:spPr>
          <a:xfrm>
            <a:off x="3484500" y="2042075"/>
            <a:ext cx="2175000" cy="855900"/>
          </a:xfrm>
          <a:prstGeom prst="roundRect">
            <a:avLst>
              <a:gd fmla="val 6015" name="adj"/>
            </a:avLst>
          </a:prstGeom>
          <a:solidFill>
            <a:schemeClr val="dk1"/>
          </a:solidFill>
          <a:ln>
            <a:noFill/>
          </a:ln>
        </p:spPr>
        <p:txBody>
          <a:bodyPr anchorCtr="0" anchor="ctr" bIns="180000" lIns="180000" spcFirstLastPara="1" rIns="180000" wrap="square" tIns="180000">
            <a:noAutofit/>
          </a:bodyPr>
          <a:lstStyle/>
          <a:p>
            <a:pPr indent="0" lvl="0" marL="0" marR="0" rtl="0" algn="ctr">
              <a:lnSpc>
                <a:spcPct val="100000"/>
              </a:lnSpc>
              <a:spcBef>
                <a:spcPts val="0"/>
              </a:spcBef>
              <a:spcAft>
                <a:spcPts val="0"/>
              </a:spcAft>
              <a:buClr>
                <a:srgbClr val="000000"/>
              </a:buClr>
              <a:buSzPts val="1800"/>
              <a:buFont typeface="Arial"/>
              <a:buNone/>
            </a:pPr>
            <a:r>
              <a:rPr b="1" lang="es" sz="1800" u="sng">
                <a:solidFill>
                  <a:schemeClr val="lt1"/>
                </a:solidFill>
                <a:hlinkClick r:id="rId3">
                  <a:extLst>
                    <a:ext uri="{A12FA001-AC4F-418D-AE19-62706E023703}">
                      <ahyp:hlinkClr val="tx"/>
                    </a:ext>
                  </a:extLst>
                </a:hlinkClick>
              </a:rPr>
              <a:t>Metadata</a:t>
            </a:r>
            <a:endParaRPr b="1" i="0" sz="1800" u="none" cap="none" strike="noStrike">
              <a:solidFill>
                <a:schemeClr val="lt1"/>
              </a:solidFill>
            </a:endParaRPr>
          </a:p>
        </p:txBody>
      </p:sp>
      <p:sp>
        <p:nvSpPr>
          <p:cNvPr id="640" name="Google Shape;640;p65"/>
          <p:cNvSpPr/>
          <p:nvPr/>
        </p:nvSpPr>
        <p:spPr>
          <a:xfrm>
            <a:off x="949200" y="2042075"/>
            <a:ext cx="2175000" cy="855900"/>
          </a:xfrm>
          <a:prstGeom prst="roundRect">
            <a:avLst>
              <a:gd fmla="val 6015" name="adj"/>
            </a:avLst>
          </a:prstGeom>
          <a:solidFill>
            <a:schemeClr val="dk1"/>
          </a:solidFill>
          <a:ln>
            <a:noFill/>
          </a:ln>
        </p:spPr>
        <p:txBody>
          <a:bodyPr anchorCtr="0" anchor="ctr" bIns="180000" lIns="180000" spcFirstLastPara="1" rIns="180000" wrap="square" tIns="180000">
            <a:noAutofit/>
          </a:bodyPr>
          <a:lstStyle/>
          <a:p>
            <a:pPr indent="0" lvl="0" marL="0" marR="0" rtl="0" algn="ctr">
              <a:lnSpc>
                <a:spcPct val="100000"/>
              </a:lnSpc>
              <a:spcBef>
                <a:spcPts val="0"/>
              </a:spcBef>
              <a:spcAft>
                <a:spcPts val="0"/>
              </a:spcAft>
              <a:buClr>
                <a:srgbClr val="000000"/>
              </a:buClr>
              <a:buSzPts val="1800"/>
              <a:buFont typeface="Arial"/>
              <a:buNone/>
            </a:pPr>
            <a:r>
              <a:rPr b="1" lang="es" sz="1800" u="sng">
                <a:solidFill>
                  <a:schemeClr val="lt1"/>
                </a:solidFill>
                <a:hlinkClick r:id="rId4">
                  <a:extLst>
                    <a:ext uri="{A12FA001-AC4F-418D-AE19-62706E023703}">
                      <ahyp:hlinkClr val="tx"/>
                    </a:ext>
                  </a:extLst>
                </a:hlinkClick>
              </a:rPr>
              <a:t>Carpeta del proyecto</a:t>
            </a:r>
            <a:endParaRPr b="1" i="0" sz="1800" u="none" cap="none" strike="noStrike">
              <a:solidFill>
                <a:schemeClr val="lt1"/>
              </a:solidFill>
            </a:endParaRPr>
          </a:p>
        </p:txBody>
      </p:sp>
      <p:sp>
        <p:nvSpPr>
          <p:cNvPr id="641" name="Google Shape;641;p65"/>
          <p:cNvSpPr/>
          <p:nvPr/>
        </p:nvSpPr>
        <p:spPr>
          <a:xfrm>
            <a:off x="6019800" y="2042075"/>
            <a:ext cx="2175000" cy="855900"/>
          </a:xfrm>
          <a:prstGeom prst="roundRect">
            <a:avLst>
              <a:gd fmla="val 6015" name="adj"/>
            </a:avLst>
          </a:prstGeom>
          <a:solidFill>
            <a:schemeClr val="dk1"/>
          </a:solidFill>
          <a:ln>
            <a:noFill/>
          </a:ln>
        </p:spPr>
        <p:txBody>
          <a:bodyPr anchorCtr="0" anchor="ctr" bIns="180000" lIns="180000" spcFirstLastPara="1" rIns="180000" wrap="square" tIns="180000">
            <a:noAutofit/>
          </a:bodyPr>
          <a:lstStyle/>
          <a:p>
            <a:pPr indent="0" lvl="0" marL="0" marR="0" rtl="0" algn="ctr">
              <a:lnSpc>
                <a:spcPct val="100000"/>
              </a:lnSpc>
              <a:spcBef>
                <a:spcPts val="0"/>
              </a:spcBef>
              <a:spcAft>
                <a:spcPts val="0"/>
              </a:spcAft>
              <a:buClr>
                <a:srgbClr val="000000"/>
              </a:buClr>
              <a:buSzPts val="1800"/>
              <a:buFont typeface="Arial"/>
              <a:buNone/>
            </a:pPr>
            <a:r>
              <a:rPr b="1" lang="es" sz="1800" u="sng">
                <a:solidFill>
                  <a:schemeClr val="lt1"/>
                </a:solidFill>
                <a:hlinkClick r:id="rId5">
                  <a:extLst>
                    <a:ext uri="{A12FA001-AC4F-418D-AE19-62706E023703}">
                      <ahyp:hlinkClr val="tx"/>
                    </a:ext>
                  </a:extLst>
                </a:hlinkClick>
              </a:rPr>
              <a:t>Códigos</a:t>
            </a:r>
            <a:endParaRPr b="1" i="0" sz="1800" u="none" cap="none" strike="noStrike">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6"/>
          <p:cNvSpPr txBox="1"/>
          <p:nvPr>
            <p:ph type="title"/>
          </p:nvPr>
        </p:nvSpPr>
        <p:spPr>
          <a:xfrm>
            <a:off x="341150" y="833162"/>
            <a:ext cx="8467800" cy="3843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3000"/>
              <a:buFont typeface="Source Serif 4"/>
              <a:buNone/>
            </a:pPr>
            <a:r>
              <a:rPr lang="es"/>
              <a:t>Aviso legal</a:t>
            </a:r>
            <a:endParaRPr/>
          </a:p>
        </p:txBody>
      </p:sp>
      <p:sp>
        <p:nvSpPr>
          <p:cNvPr id="647" name="Google Shape;647;p66"/>
          <p:cNvSpPr txBox="1"/>
          <p:nvPr/>
        </p:nvSpPr>
        <p:spPr>
          <a:xfrm>
            <a:off x="346150" y="1681007"/>
            <a:ext cx="8450400" cy="30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
              <a:buFont typeface="Arial"/>
              <a:buNone/>
            </a:pPr>
            <a:r>
              <a:rPr b="0" i="0" lang="es" sz="800" u="none" cap="none" strike="noStrike">
                <a:solidFill>
                  <a:srgbClr val="46536D"/>
                </a:solidFill>
                <a:latin typeface="Arial"/>
                <a:ea typeface="Arial"/>
                <a:cs typeface="Arial"/>
                <a:sym typeface="Arial"/>
              </a:rPr>
              <a:t>El presente documento, elaborado por el Departamento de BBVA Research, tiene carácter divulgativo y contiene datos, opiniones o estimaciones referidas a la fecha del mismo, de elaboración propia o procedentes o basadas en fuentes que consideramos fiables, sin que hayan sido objeto de verificación independiente por BBVA. BBVA, por tanto, no ofrece garantía, expresa o implícita, en cuanto a su precisión, integridad o corrección.</a:t>
            </a:r>
            <a:endParaRPr/>
          </a:p>
          <a:p>
            <a:pPr indent="0" lvl="0" marL="0" marR="0" rtl="0" algn="l">
              <a:lnSpc>
                <a:spcPct val="115000"/>
              </a:lnSpc>
              <a:spcBef>
                <a:spcPts val="600"/>
              </a:spcBef>
              <a:spcAft>
                <a:spcPts val="0"/>
              </a:spcAft>
              <a:buClr>
                <a:srgbClr val="000000"/>
              </a:buClr>
              <a:buSzPts val="800"/>
              <a:buFont typeface="Arial"/>
              <a:buNone/>
            </a:pPr>
            <a:r>
              <a:rPr b="0" i="0" lang="es" sz="800" u="none" cap="none" strike="noStrike">
                <a:solidFill>
                  <a:srgbClr val="46536D"/>
                </a:solidFill>
                <a:latin typeface="Arial"/>
                <a:ea typeface="Arial"/>
                <a:cs typeface="Arial"/>
                <a:sym typeface="Arial"/>
              </a:rPr>
              <a:t>Las estimaciones que este documento puede contener han sido realizadas conforme a metodologías generalmente aceptadas y deben tomarse como tales, es decir, como previsiones o proyecciones. La evolución histórica de las variables económicas (positiva o negativa) no garantiza una evolución equivalente en el futuro.</a:t>
            </a:r>
            <a:endParaRPr/>
          </a:p>
          <a:p>
            <a:pPr indent="0" lvl="0" marL="0" marR="0" rtl="0" algn="l">
              <a:lnSpc>
                <a:spcPct val="115000"/>
              </a:lnSpc>
              <a:spcBef>
                <a:spcPts val="600"/>
              </a:spcBef>
              <a:spcAft>
                <a:spcPts val="0"/>
              </a:spcAft>
              <a:buClr>
                <a:srgbClr val="000000"/>
              </a:buClr>
              <a:buSzPts val="800"/>
              <a:buFont typeface="Arial"/>
              <a:buNone/>
            </a:pPr>
            <a:r>
              <a:rPr b="0" i="0" lang="es" sz="800" u="none" cap="none" strike="noStrike">
                <a:solidFill>
                  <a:srgbClr val="46536D"/>
                </a:solidFill>
                <a:latin typeface="Arial"/>
                <a:ea typeface="Arial"/>
                <a:cs typeface="Arial"/>
                <a:sym typeface="Arial"/>
              </a:rPr>
              <a:t>El contenido de este documento está sujeto a cambios sin previo aviso en función, por ejemplo, del contexto económico o las fluctuaciones del mercado. BBVA no asume compromiso alguno de actualizar dicho contenido o comunicar esos cambios.</a:t>
            </a:r>
            <a:endParaRPr/>
          </a:p>
          <a:p>
            <a:pPr indent="0" lvl="0" marL="0" marR="0" rtl="0" algn="l">
              <a:lnSpc>
                <a:spcPct val="115000"/>
              </a:lnSpc>
              <a:spcBef>
                <a:spcPts val="600"/>
              </a:spcBef>
              <a:spcAft>
                <a:spcPts val="0"/>
              </a:spcAft>
              <a:buClr>
                <a:srgbClr val="000000"/>
              </a:buClr>
              <a:buSzPts val="800"/>
              <a:buFont typeface="Arial"/>
              <a:buNone/>
            </a:pPr>
            <a:r>
              <a:rPr b="0" i="0" lang="es" sz="800" u="none" cap="none" strike="noStrike">
                <a:solidFill>
                  <a:srgbClr val="46536D"/>
                </a:solidFill>
                <a:latin typeface="Arial"/>
                <a:ea typeface="Arial"/>
                <a:cs typeface="Arial"/>
                <a:sym typeface="Arial"/>
              </a:rPr>
              <a:t>BBVA no asume responsabilidad alguna por cualquier pérdida, directa o indirecta, que pudiera resultar del uso de este documento o de su contenido.</a:t>
            </a:r>
            <a:endParaRPr/>
          </a:p>
          <a:p>
            <a:pPr indent="0" lvl="0" marL="0" marR="0" rtl="0" algn="l">
              <a:lnSpc>
                <a:spcPct val="115000"/>
              </a:lnSpc>
              <a:spcBef>
                <a:spcPts val="600"/>
              </a:spcBef>
              <a:spcAft>
                <a:spcPts val="0"/>
              </a:spcAft>
              <a:buClr>
                <a:srgbClr val="000000"/>
              </a:buClr>
              <a:buSzPts val="800"/>
              <a:buFont typeface="Arial"/>
              <a:buNone/>
            </a:pPr>
            <a:r>
              <a:rPr b="0" i="0" lang="es" sz="800" u="none" cap="none" strike="noStrike">
                <a:solidFill>
                  <a:srgbClr val="46536D"/>
                </a:solidFill>
                <a:latin typeface="Arial"/>
                <a:ea typeface="Arial"/>
                <a:cs typeface="Arial"/>
                <a:sym typeface="Arial"/>
              </a:rPr>
              <a:t>Ni el presente documento, ni su contenido, constituyen una oferta, invitación o solicitud para adquirir, desinvertir u obtener interés alguno en activos o instrumentos financieros, ni pueden servir de base para ningún contrato, compromiso o decisión de ningún tipo.</a:t>
            </a:r>
            <a:endParaRPr/>
          </a:p>
          <a:p>
            <a:pPr indent="0" lvl="0" marL="0" marR="0" rtl="0" algn="l">
              <a:lnSpc>
                <a:spcPct val="115000"/>
              </a:lnSpc>
              <a:spcBef>
                <a:spcPts val="600"/>
              </a:spcBef>
              <a:spcAft>
                <a:spcPts val="0"/>
              </a:spcAft>
              <a:buClr>
                <a:srgbClr val="000000"/>
              </a:buClr>
              <a:buSzPts val="800"/>
              <a:buFont typeface="Arial"/>
              <a:buNone/>
            </a:pPr>
            <a:r>
              <a:rPr b="0" i="0" lang="es" sz="800" u="none" cap="none" strike="noStrike">
                <a:solidFill>
                  <a:srgbClr val="46536D"/>
                </a:solidFill>
                <a:latin typeface="Arial"/>
                <a:ea typeface="Arial"/>
                <a:cs typeface="Arial"/>
                <a:sym typeface="Arial"/>
              </a:rPr>
              <a:t>El contenido de la presente comunicación o mensaje no constituye una recomendación profesional para realizar inversiones en los términos del artículo 2.40.1.1.2 del Decreto 2555 de 2010 o las normas que lo modifiquen, sustituyan o complementen.</a:t>
            </a:r>
            <a:endParaRPr/>
          </a:p>
          <a:p>
            <a:pPr indent="0" lvl="0" marL="0" marR="0" rtl="0" algn="l">
              <a:lnSpc>
                <a:spcPct val="115000"/>
              </a:lnSpc>
              <a:spcBef>
                <a:spcPts val="600"/>
              </a:spcBef>
              <a:spcAft>
                <a:spcPts val="0"/>
              </a:spcAft>
              <a:buClr>
                <a:srgbClr val="000000"/>
              </a:buClr>
              <a:buSzPts val="800"/>
              <a:buFont typeface="Arial"/>
              <a:buNone/>
            </a:pPr>
            <a:r>
              <a:rPr b="0" i="0" lang="es" sz="800" u="none" cap="none" strike="noStrike">
                <a:solidFill>
                  <a:srgbClr val="46536D"/>
                </a:solidFill>
                <a:latin typeface="Arial"/>
                <a:ea typeface="Arial"/>
                <a:cs typeface="Arial"/>
                <a:sym typeface="Arial"/>
              </a:rPr>
              <a:t>Especialmente en lo que se refiere a la inversión en activos financieros que pudieran estar relacionados con las variables económicas que este documento puede desarrollar, los lectores deben ser conscientes de que en ningún caso deben tomar este documento como base para tomar sus decisiones de inversión y que las personas o entidades que potencialmente les puedan ofrecer productos de inversión serán las obligadas legalmente a proporcionarles toda la información que necesiten para esta toma de decisión.</a:t>
            </a:r>
            <a:endParaRPr/>
          </a:p>
          <a:p>
            <a:pPr indent="0" lvl="0" marL="0" marR="0" rtl="0" algn="l">
              <a:lnSpc>
                <a:spcPct val="115000"/>
              </a:lnSpc>
              <a:spcBef>
                <a:spcPts val="600"/>
              </a:spcBef>
              <a:spcAft>
                <a:spcPts val="600"/>
              </a:spcAft>
              <a:buClr>
                <a:srgbClr val="000000"/>
              </a:buClr>
              <a:buSzPts val="800"/>
              <a:buFont typeface="Arial"/>
              <a:buNone/>
            </a:pPr>
            <a:r>
              <a:rPr b="0" i="0" lang="es" sz="800" u="none" cap="none" strike="noStrike">
                <a:solidFill>
                  <a:srgbClr val="46536D"/>
                </a:solidFill>
                <a:latin typeface="Arial"/>
                <a:ea typeface="Arial"/>
                <a:cs typeface="Arial"/>
                <a:sym typeface="Arial"/>
              </a:rPr>
              <a:t>El contenido del presente documento está protegido por la legislación de propiedad intelectual. Queda expresamente prohibida su reproducción, transformación, distribución, comunicación pública, puesta a disposición, extracción, reutilización, reenvío o la utilización de cualquier naturaleza, por cualquier medio o procedimiento, salvo en los casos en que esté legalmente permitido o sea autorizado expresamente por BBVA en su sitio web </a:t>
            </a:r>
            <a:r>
              <a:rPr b="0" i="0" lang="es" sz="800" u="sng" cap="none" strike="noStrike">
                <a:solidFill>
                  <a:schemeClr val="dk1"/>
                </a:solidFill>
                <a:latin typeface="Arial"/>
                <a:ea typeface="Arial"/>
                <a:cs typeface="Arial"/>
                <a:sym typeface="Arial"/>
              </a:rPr>
              <a:t>www.bbvaresearch.com</a:t>
            </a:r>
            <a:r>
              <a:rPr b="0" i="0" lang="es" sz="800" u="none" cap="none" strike="noStrike">
                <a:solidFill>
                  <a:srgbClr val="46536D"/>
                </a:solidFill>
                <a:latin typeface="Arial"/>
                <a:ea typeface="Arial"/>
                <a:cs typeface="Arial"/>
                <a:sym typeface="Arial"/>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1" name="Shape 651"/>
        <p:cNvGrpSpPr/>
        <p:nvPr/>
      </p:nvGrpSpPr>
      <p:grpSpPr>
        <a:xfrm>
          <a:off x="0" y="0"/>
          <a:ext cx="0" cy="0"/>
          <a:chOff x="0" y="0"/>
          <a:chExt cx="0" cy="0"/>
        </a:xfrm>
      </p:grpSpPr>
      <p:pic>
        <p:nvPicPr>
          <p:cNvPr id="652" name="Google Shape;652;p67" title="Research_RGB_white.png"/>
          <p:cNvPicPr preferRelativeResize="0"/>
          <p:nvPr/>
        </p:nvPicPr>
        <p:blipFill rotWithShape="1">
          <a:blip r:embed="rId3">
            <a:alphaModFix/>
          </a:blip>
          <a:srcRect b="0" l="0" r="0" t="0"/>
          <a:stretch/>
        </p:blipFill>
        <p:spPr>
          <a:xfrm>
            <a:off x="3923995" y="2379113"/>
            <a:ext cx="1561708" cy="6527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BVA - Research">
  <a:themeElements>
    <a:clrScheme name="Personalizado 18">
      <a:dk1>
        <a:srgbClr val="001391"/>
      </a:dk1>
      <a:lt1>
        <a:srgbClr val="FFFFFF"/>
      </a:lt1>
      <a:dk2>
        <a:srgbClr val="070E46"/>
      </a:dk2>
      <a:lt2>
        <a:srgbClr val="F7F8F8"/>
      </a:lt2>
      <a:accent1>
        <a:srgbClr val="85C8FF"/>
      </a:accent1>
      <a:accent2>
        <a:srgbClr val="000519"/>
      </a:accent2>
      <a:accent3>
        <a:srgbClr val="FFB56B"/>
      </a:accent3>
      <a:accent4>
        <a:srgbClr val="FFE761"/>
      </a:accent4>
      <a:accent5>
        <a:srgbClr val="88E783"/>
      </a:accent5>
      <a:accent6>
        <a:srgbClr val="9694FF"/>
      </a:accent6>
      <a:hlink>
        <a:srgbClr val="001391"/>
      </a:hlink>
      <a:folHlink>
        <a:srgbClr val="001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BVA - Research">
  <a:themeElements>
    <a:clrScheme name="Personalizado 18">
      <a:dk1>
        <a:srgbClr val="001391"/>
      </a:dk1>
      <a:lt1>
        <a:srgbClr val="FFFFFF"/>
      </a:lt1>
      <a:dk2>
        <a:srgbClr val="070E46"/>
      </a:dk2>
      <a:lt2>
        <a:srgbClr val="F7F8F8"/>
      </a:lt2>
      <a:accent1>
        <a:srgbClr val="85C8FF"/>
      </a:accent1>
      <a:accent2>
        <a:srgbClr val="000519"/>
      </a:accent2>
      <a:accent3>
        <a:srgbClr val="FFB56B"/>
      </a:accent3>
      <a:accent4>
        <a:srgbClr val="FFE761"/>
      </a:accent4>
      <a:accent5>
        <a:srgbClr val="88E783"/>
      </a:accent5>
      <a:accent6>
        <a:srgbClr val="9694FF"/>
      </a:accent6>
      <a:hlink>
        <a:srgbClr val="001391"/>
      </a:hlink>
      <a:folHlink>
        <a:srgbClr val="001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Spherica">
      <a:dk1>
        <a:srgbClr val="001391"/>
      </a:dk1>
      <a:lt1>
        <a:srgbClr val="FFFFFF"/>
      </a:lt1>
      <a:dk2>
        <a:srgbClr val="060E46"/>
      </a:dk2>
      <a:lt2>
        <a:srgbClr val="F7F8F8"/>
      </a:lt2>
      <a:accent1>
        <a:srgbClr val="85C8FF"/>
      </a:accent1>
      <a:accent2>
        <a:srgbClr val="212121"/>
      </a:accent2>
      <a:accent3>
        <a:srgbClr val="FFB56B"/>
      </a:accent3>
      <a:accent4>
        <a:srgbClr val="FFE761"/>
      </a:accent4>
      <a:accent5>
        <a:srgbClr val="88E783"/>
      </a:accent5>
      <a:accent6>
        <a:srgbClr val="9694FF"/>
      </a:accent6>
      <a:hlink>
        <a:srgbClr val="001391"/>
      </a:hlink>
      <a:folHlink>
        <a:srgbClr val="001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